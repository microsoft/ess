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81" r:id="rId5"/>
    <p:sldId id="260" r:id="rId6"/>
    <p:sldId id="261" r:id="rId7"/>
    <p:sldId id="262" r:id="rId8"/>
    <p:sldId id="280" r:id="rId9"/>
    <p:sldId id="263" r:id="rId10"/>
    <p:sldId id="264" r:id="rId11"/>
    <p:sldId id="266" r:id="rId12"/>
    <p:sldId id="267" r:id="rId13"/>
    <p:sldId id="279" r:id="rId14"/>
    <p:sldId id="268" r:id="rId15"/>
    <p:sldId id="269" r:id="rId16"/>
    <p:sldId id="278" r:id="rId17"/>
    <p:sldId id="273" r:id="rId18"/>
    <p:sldId id="274" r:id="rId19"/>
    <p:sldId id="275" r:id="rId20"/>
    <p:sldId id="276" r:id="rId21"/>
    <p:sldId id="277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>
                <a:latin typeface="Segoe Sans Display"/>
              </a:rPr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>
                <a:latin typeface="Segoe Sans Display"/>
              </a:rPr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Segoe Sans Display"/>
              </a:rP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>
                <a:latin typeface="Segoe Sans Display"/>
              </a:rPr>
              <a:t>Click to edit Master text styles</a:t>
            </a:r>
          </a:p>
          <a:p>
            <a:pPr lvl="1"/>
            <a:r>
              <a:rPr lang="en-US">
                <a:latin typeface="Segoe Sans Display"/>
              </a:rPr>
              <a:t>Second level</a:t>
            </a:r>
          </a:p>
          <a:p>
            <a:pPr lvl="2"/>
            <a:r>
              <a:rPr lang="en-US">
                <a:latin typeface="Segoe Sans Display"/>
              </a:rPr>
              <a:t>Third level</a:t>
            </a:r>
          </a:p>
          <a:p>
            <a:pPr lvl="3"/>
            <a:r>
              <a:rPr lang="en-US">
                <a:latin typeface="Segoe Sans Display"/>
              </a:rPr>
              <a:t>Fourth level</a:t>
            </a:r>
          </a:p>
          <a:p>
            <a:pPr lvl="4"/>
            <a:r>
              <a:rPr lang="en-US">
                <a:latin typeface="Segoe Sans Display"/>
              </a:rP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>
                <a:latin typeface="Segoe Sans Display"/>
              </a:rP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>
                <a:latin typeface="Segoe Sans Display"/>
              </a:rP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Segoe Sans Display"/>
              </a:rP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>
                <a:latin typeface="Segoe Sans Display"/>
              </a:rPr>
              <a:t>Click to edit Master text styles</a:t>
            </a:r>
          </a:p>
          <a:p>
            <a:pPr lvl="1"/>
            <a:r>
              <a:rPr lang="en-US">
                <a:latin typeface="Segoe Sans Display"/>
              </a:rPr>
              <a:t>Second level</a:t>
            </a:r>
          </a:p>
          <a:p>
            <a:pPr lvl="2"/>
            <a:r>
              <a:rPr lang="en-US">
                <a:latin typeface="Segoe Sans Display"/>
              </a:rPr>
              <a:t>Third level</a:t>
            </a:r>
          </a:p>
          <a:p>
            <a:pPr lvl="3"/>
            <a:r>
              <a:rPr lang="en-US">
                <a:latin typeface="Segoe Sans Display"/>
              </a:rPr>
              <a:t>Fourth level</a:t>
            </a:r>
          </a:p>
          <a:p>
            <a:pPr lvl="4"/>
            <a:r>
              <a:rPr lang="en-US">
                <a:latin typeface="Segoe Sans Display"/>
              </a:rPr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>
                <a:latin typeface="Segoe Sans Display"/>
              </a:rPr>
              <a:t>Click to edit Master text styles</a:t>
            </a:r>
          </a:p>
          <a:p>
            <a:pPr lvl="1"/>
            <a:r>
              <a:rPr lang="en-US">
                <a:latin typeface="Segoe Sans Display"/>
              </a:rPr>
              <a:t>Second level</a:t>
            </a:r>
          </a:p>
          <a:p>
            <a:pPr lvl="2"/>
            <a:r>
              <a:rPr lang="en-US">
                <a:latin typeface="Segoe Sans Display"/>
              </a:rPr>
              <a:t>Third level</a:t>
            </a:r>
          </a:p>
          <a:p>
            <a:pPr lvl="3"/>
            <a:r>
              <a:rPr lang="en-US">
                <a:latin typeface="Segoe Sans Display"/>
              </a:rPr>
              <a:t>Fourth level</a:t>
            </a:r>
          </a:p>
          <a:p>
            <a:pPr lvl="4"/>
            <a:r>
              <a:rPr lang="en-US">
                <a:latin typeface="Segoe Sans Display"/>
              </a:rPr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>
                <a:latin typeface="Segoe Sans Display"/>
              </a:rP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>
                <a:latin typeface="Segoe Sans Display"/>
              </a:rP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>
                <a:latin typeface="Segoe Sans Display"/>
              </a:rPr>
              <a:t>Click to edit Master text styles</a:t>
            </a:r>
          </a:p>
          <a:p>
            <a:pPr lvl="1"/>
            <a:r>
              <a:rPr lang="en-US">
                <a:latin typeface="Segoe Sans Display"/>
              </a:rPr>
              <a:t>Second level</a:t>
            </a:r>
          </a:p>
          <a:p>
            <a:pPr lvl="2"/>
            <a:r>
              <a:rPr lang="en-US">
                <a:latin typeface="Segoe Sans Display"/>
              </a:rPr>
              <a:t>Third level</a:t>
            </a:r>
          </a:p>
          <a:p>
            <a:pPr lvl="3"/>
            <a:r>
              <a:rPr lang="en-US">
                <a:latin typeface="Segoe Sans Display"/>
              </a:rPr>
              <a:t>Fourth level</a:t>
            </a:r>
          </a:p>
          <a:p>
            <a:pPr lvl="4"/>
            <a:r>
              <a:rPr lang="en-US">
                <a:latin typeface="Segoe Sans Display"/>
              </a:rPr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>
                <a:latin typeface="Segoe Sans Display"/>
              </a:rP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>
                <a:latin typeface="Segoe Sans Display"/>
              </a:rPr>
              <a:t>Click to edit Master text styles</a:t>
            </a:r>
          </a:p>
          <a:p>
            <a:pPr lvl="1"/>
            <a:r>
              <a:rPr lang="en-US">
                <a:latin typeface="Segoe Sans Display"/>
              </a:rPr>
              <a:t>Second level</a:t>
            </a:r>
          </a:p>
          <a:p>
            <a:pPr lvl="2"/>
            <a:r>
              <a:rPr lang="en-US">
                <a:latin typeface="Segoe Sans Display"/>
              </a:rPr>
              <a:t>Third level</a:t>
            </a:r>
          </a:p>
          <a:p>
            <a:pPr lvl="3"/>
            <a:r>
              <a:rPr lang="en-US">
                <a:latin typeface="Segoe Sans Display"/>
              </a:rPr>
              <a:t>Fourth level</a:t>
            </a:r>
          </a:p>
          <a:p>
            <a:pPr lvl="4"/>
            <a:r>
              <a:rPr lang="en-US">
                <a:latin typeface="Segoe Sans Display"/>
              </a:rPr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Segoe Sans Display"/>
              </a:rPr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>
                <a:latin typeface="Segoe Sans Display"/>
              </a:rP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>
                <a:latin typeface="Segoe Sans Display"/>
              </a:rPr>
              <a:t>Click to edit Master text styles</a:t>
            </a:r>
          </a:p>
          <a:p>
            <a:pPr lvl="1"/>
            <a:r>
              <a:rPr lang="en-US">
                <a:latin typeface="Segoe Sans Display"/>
              </a:rPr>
              <a:t>Second level</a:t>
            </a:r>
          </a:p>
          <a:p>
            <a:pPr lvl="2"/>
            <a:r>
              <a:rPr lang="en-US">
                <a:latin typeface="Segoe Sans Display"/>
              </a:rPr>
              <a:t>Third level</a:t>
            </a:r>
          </a:p>
          <a:p>
            <a:pPr lvl="3"/>
            <a:r>
              <a:rPr lang="en-US">
                <a:latin typeface="Segoe Sans Display"/>
              </a:rPr>
              <a:t>Fourth level</a:t>
            </a:r>
          </a:p>
          <a:p>
            <a:pPr lvl="4"/>
            <a:r>
              <a:rPr lang="en-US">
                <a:latin typeface="Segoe Sans Display"/>
              </a:rPr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>
                <a:latin typeface="Segoe Sans Display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>
                <a:latin typeface="Segoe Sans Display"/>
              </a:rPr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>
                <a:latin typeface="Segoe Sans Display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Segoe Sans Display"/>
              </a:rP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>
                <a:latin typeface="Segoe Sans Display"/>
              </a:rPr>
              <a:t>Click to edit Master text styles</a:t>
            </a:r>
          </a:p>
          <a:p>
            <a:pPr lvl="1"/>
            <a:r>
              <a:rPr lang="en-US">
                <a:latin typeface="Segoe Sans Display"/>
              </a:rPr>
              <a:t>Second level</a:t>
            </a:r>
          </a:p>
          <a:p>
            <a:pPr lvl="2"/>
            <a:r>
              <a:rPr lang="en-US">
                <a:latin typeface="Segoe Sans Display"/>
              </a:rPr>
              <a:t>Third level</a:t>
            </a:r>
          </a:p>
          <a:p>
            <a:pPr lvl="3"/>
            <a:r>
              <a:rPr lang="en-US">
                <a:latin typeface="Segoe Sans Display"/>
              </a:rPr>
              <a:t>Fourth level</a:t>
            </a:r>
          </a:p>
          <a:p>
            <a:pPr lvl="4"/>
            <a:r>
              <a:rPr lang="en-US">
                <a:latin typeface="Segoe Sans Display"/>
              </a:rP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>
                <a:latin typeface="Segoe Sans Display"/>
              </a:rP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>
                <a:latin typeface="Segoe Sans Display"/>
              </a:rPr>
              <a:t>Click to edit Master text styles</a:t>
            </a:r>
          </a:p>
          <a:p>
            <a:pPr lvl="1"/>
            <a:r>
              <a:rPr lang="en-US">
                <a:latin typeface="Segoe Sans Display"/>
              </a:rPr>
              <a:t>Second level</a:t>
            </a:r>
          </a:p>
          <a:p>
            <a:pPr lvl="2"/>
            <a:r>
              <a:rPr lang="en-US">
                <a:latin typeface="Segoe Sans Display"/>
              </a:rPr>
              <a:t>Third level</a:t>
            </a:r>
          </a:p>
          <a:p>
            <a:pPr lvl="3"/>
            <a:r>
              <a:rPr lang="en-US">
                <a:latin typeface="Segoe Sans Display"/>
              </a:rPr>
              <a:t>Fourth level</a:t>
            </a:r>
          </a:p>
          <a:p>
            <a:pPr lvl="4"/>
            <a:r>
              <a:rPr lang="en-US">
                <a:latin typeface="Segoe Sans Display"/>
              </a:rP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latin typeface="Segoe Sans Display"/>
              </a:rP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>
                <a:latin typeface="Segoe Sans Display"/>
              </a:rPr>
              <a:t>Click to edit Master text styles</a:t>
            </a:r>
          </a:p>
          <a:p>
            <a:pPr lvl="1"/>
            <a:r>
              <a:rPr lang="en-US">
                <a:latin typeface="Segoe Sans Display"/>
              </a:rPr>
              <a:t>Second level</a:t>
            </a:r>
          </a:p>
          <a:p>
            <a:pPr lvl="2"/>
            <a:r>
              <a:rPr lang="en-US">
                <a:latin typeface="Segoe Sans Display"/>
              </a:rPr>
              <a:t>Third level</a:t>
            </a:r>
          </a:p>
          <a:p>
            <a:pPr lvl="3"/>
            <a:r>
              <a:rPr lang="en-US">
                <a:latin typeface="Segoe Sans Display"/>
              </a:rPr>
              <a:t>Fourth level</a:t>
            </a:r>
          </a:p>
          <a:p>
            <a:pPr lvl="4"/>
            <a:r>
              <a:rPr lang="en-US">
                <a:latin typeface="Segoe Sans Display"/>
              </a:rP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262A"/>
          </a:solidFill>
        </p:spPr>
        <p:txBody>
          <a:bodyPr/>
          <a:lstStyle/>
          <a:p>
            <a:endParaRPr/>
          </a:p>
        </p:txBody>
      </p:sp>
      <p:sp>
        <p:nvSpPr>
          <p:cNvPr id="4" name="TextBox"/>
          <p:cNvSpPr txBox="1"/>
          <p:nvPr/>
        </p:nvSpPr>
        <p:spPr>
          <a:xfrm>
            <a:off x="914400" y="1950000"/>
            <a:ext cx="8000000" cy="400000"/>
          </a:xfrm>
          <a:prstGeom prst="rect">
            <a:avLst/>
          </a:prstGeom>
        </p:spPr>
        <p:txBody>
          <a:bodyPr wrap="none"/>
          <a:lstStyle/>
          <a:p>
            <a:r>
              <a:rPr lang="en-US" sz="1400" b="1">
                <a:solidFill>
                  <a:srgbClr val="E08A4A"/>
                </a:solidFill>
                <a:latin typeface="Segoe Sans Display"/>
              </a:rPr>
              <a:t>ESS AGENT  —  BUSINESS IMPACT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914400" y="2480000"/>
            <a:ext cx="8600000" cy="1500000"/>
          </a:xfrm>
          <a:prstGeom prst="rect">
            <a:avLst/>
          </a:prstGeom>
        </p:spPr>
        <p:txBody>
          <a:bodyPr/>
          <a:lstStyle/>
          <a:p>
            <a:r>
              <a:rPr lang="en-US" sz="4000" b="1">
                <a:solidFill>
                  <a:srgbClr val="FFFFFF"/>
                </a:solidFill>
                <a:latin typeface="Segoe Sans Display"/>
              </a:rPr>
              <a:t>Getting realized time-savings values</a:t>
            </a:r>
          </a:p>
        </p:txBody>
      </p:sp>
      <p:sp>
        <p:nvSpPr>
          <p:cNvPr id="6" name="TextBox"/>
          <p:cNvSpPr txBox="1"/>
          <p:nvPr/>
        </p:nvSpPr>
        <p:spPr>
          <a:xfrm>
            <a:off x="914400" y="4300000"/>
            <a:ext cx="7600000" cy="1000000"/>
          </a:xfrm>
          <a:prstGeom prst="rect">
            <a:avLst/>
          </a:prstGeom>
        </p:spPr>
        <p:txBody>
          <a:bodyPr/>
          <a:lstStyle/>
          <a:p>
            <a:r>
              <a:rPr lang="en-US" sz="2000">
                <a:solidFill>
                  <a:srgbClr val="A9B8B6"/>
                </a:solidFill>
                <a:latin typeface="Segoe Sans Display"/>
              </a:rPr>
              <a:t>Guide to source, classify and define “real” time savings for topics resolved by Agents</a:t>
            </a:r>
            <a:endParaRPr sz="2000">
              <a:solidFill>
                <a:srgbClr val="A9B8B6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"/>
          <p:cNvSpPr txBox="1"/>
          <p:nvPr/>
        </p:nvSpPr>
        <p:spPr>
          <a:xfrm>
            <a:off x="685800" y="400000"/>
            <a:ext cx="10820400" cy="1000000"/>
          </a:xfrm>
          <a:prstGeom prst="rect">
            <a:avLst/>
          </a:prstGeom>
        </p:spPr>
        <p:txBody>
          <a:bodyPr/>
          <a:lstStyle/>
          <a:p>
            <a:r>
              <a:rPr lang="en-US" sz="2800" b="1">
                <a:solidFill>
                  <a:srgbClr val="12262A"/>
                </a:solidFill>
                <a:latin typeface="Segoe Sans Display"/>
              </a:rPr>
              <a:t>ESS Business Value Report estimates realized savings based on the time to resolve each topic</a:t>
            </a:r>
            <a:endParaRPr sz="2800" b="1">
              <a:solidFill>
                <a:srgbClr val="12262A"/>
              </a:solidFill>
              <a:latin typeface="Trebuchet MS"/>
            </a:endParaRPr>
          </a:p>
        </p:txBody>
      </p:sp>
      <p:sp>
        <p:nvSpPr>
          <p:cNvPr id="4" name="TextBox"/>
          <p:cNvSpPr txBox="1"/>
          <p:nvPr/>
        </p:nvSpPr>
        <p:spPr>
          <a:xfrm>
            <a:off x="685800" y="6100000"/>
            <a:ext cx="10820400" cy="400000"/>
          </a:xfrm>
          <a:prstGeom prst="rect">
            <a:avLst/>
          </a:prstGeom>
        </p:spPr>
        <p:txBody>
          <a:bodyPr/>
          <a:lstStyle/>
          <a:p>
            <a:r>
              <a:rPr lang="en-US" sz="1400" i="1">
                <a:solidFill>
                  <a:srgbClr val="5C6B6E"/>
                </a:solidFill>
                <a:latin typeface="Segoe Sans Display"/>
              </a:rPr>
              <a:t>An example view. Whatever topics a tenant has, each one needs a minutes value, and Hours Saved and Value $ are derived from it.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E0FF77F-AF9B-F2E6-0907-9BB1078416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2431" y="1500000"/>
            <a:ext cx="7887137" cy="4500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"/>
          <p:cNvSpPr txBox="1"/>
          <p:nvPr/>
        </p:nvSpPr>
        <p:spPr>
          <a:xfrm>
            <a:off x="685800" y="548640"/>
            <a:ext cx="10820400" cy="1000000"/>
          </a:xfrm>
          <a:prstGeom prst="rect">
            <a:avLst/>
          </a:prstGeom>
        </p:spPr>
        <p:txBody>
          <a:bodyPr/>
          <a:lstStyle/>
          <a:p>
            <a:r>
              <a:rPr lang="en-US" sz="2800" b="1">
                <a:solidFill>
                  <a:srgbClr val="12262A"/>
                </a:solidFill>
                <a:latin typeface="Segoe Sans Display"/>
              </a:rPr>
              <a:t>Four steps turn a resolved topic into a minutes value</a:t>
            </a:r>
          </a:p>
        </p:txBody>
      </p:sp>
      <p:sp>
        <p:nvSpPr>
          <p:cNvPr id="3" name="Shape"/>
          <p:cNvSpPr/>
          <p:nvPr/>
        </p:nvSpPr>
        <p:spPr>
          <a:xfrm>
            <a:off x="685800" y="2602029"/>
            <a:ext cx="2499360" cy="2950000"/>
          </a:xfrm>
          <a:prstGeom prst="rect">
            <a:avLst/>
          </a:prstGeom>
          <a:solidFill>
            <a:srgbClr val="F1F5F4"/>
          </a:solidFill>
        </p:spPr>
        <p:txBody>
          <a:bodyPr/>
          <a:lstStyle/>
          <a:p>
            <a:endParaRPr/>
          </a:p>
        </p:txBody>
      </p:sp>
      <p:sp>
        <p:nvSpPr>
          <p:cNvPr id="4" name="Shape"/>
          <p:cNvSpPr/>
          <p:nvPr/>
        </p:nvSpPr>
        <p:spPr>
          <a:xfrm>
            <a:off x="3459480" y="2602029"/>
            <a:ext cx="2499360" cy="2950000"/>
          </a:xfrm>
          <a:prstGeom prst="rect">
            <a:avLst/>
          </a:prstGeom>
          <a:solidFill>
            <a:srgbClr val="F1F5F4"/>
          </a:solidFill>
        </p:spPr>
        <p:txBody>
          <a:bodyPr/>
          <a:lstStyle/>
          <a:p>
            <a:endParaRPr/>
          </a:p>
        </p:txBody>
      </p:sp>
      <p:sp>
        <p:nvSpPr>
          <p:cNvPr id="5" name="Shape"/>
          <p:cNvSpPr/>
          <p:nvPr/>
        </p:nvSpPr>
        <p:spPr>
          <a:xfrm>
            <a:off x="6233160" y="2602029"/>
            <a:ext cx="2499360" cy="2950000"/>
          </a:xfrm>
          <a:prstGeom prst="rect">
            <a:avLst/>
          </a:prstGeom>
          <a:solidFill>
            <a:srgbClr val="F1F5F4"/>
          </a:solidFill>
        </p:spPr>
        <p:txBody>
          <a:bodyPr/>
          <a:lstStyle/>
          <a:p>
            <a:endParaRPr/>
          </a:p>
        </p:txBody>
      </p:sp>
      <p:sp>
        <p:nvSpPr>
          <p:cNvPr id="6" name="Shape"/>
          <p:cNvSpPr/>
          <p:nvPr/>
        </p:nvSpPr>
        <p:spPr>
          <a:xfrm>
            <a:off x="9006840" y="2602029"/>
            <a:ext cx="2499360" cy="2950000"/>
          </a:xfrm>
          <a:prstGeom prst="rect">
            <a:avLst/>
          </a:prstGeom>
          <a:solidFill>
            <a:srgbClr val="F1F5F4"/>
          </a:solidFill>
        </p:spPr>
        <p:txBody>
          <a:bodyPr/>
          <a:lstStyle/>
          <a:p>
            <a:endParaRPr/>
          </a:p>
        </p:txBody>
      </p:sp>
      <p:sp>
        <p:nvSpPr>
          <p:cNvPr id="7" name="Shape"/>
          <p:cNvSpPr/>
          <p:nvPr/>
        </p:nvSpPr>
        <p:spPr>
          <a:xfrm>
            <a:off x="960120" y="2872029"/>
            <a:ext cx="640080" cy="640080"/>
          </a:xfrm>
          <a:prstGeom prst="ellipse">
            <a:avLst/>
          </a:prstGeom>
          <a:solidFill>
            <a:srgbClr val="0F5257"/>
          </a:solidFill>
        </p:spPr>
        <p:txBody>
          <a:bodyPr anchor="ctr"/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Segoe Sans Display"/>
              </a:rPr>
              <a:t>1</a:t>
            </a:r>
          </a:p>
        </p:txBody>
      </p:sp>
      <p:sp>
        <p:nvSpPr>
          <p:cNvPr id="8" name="Shape"/>
          <p:cNvSpPr/>
          <p:nvPr/>
        </p:nvSpPr>
        <p:spPr>
          <a:xfrm>
            <a:off x="3733800" y="2872029"/>
            <a:ext cx="640080" cy="640080"/>
          </a:xfrm>
          <a:prstGeom prst="ellipse">
            <a:avLst/>
          </a:prstGeom>
          <a:solidFill>
            <a:srgbClr val="0F5257"/>
          </a:solidFill>
        </p:spPr>
        <p:txBody>
          <a:bodyPr anchor="ctr"/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Segoe Sans Display"/>
              </a:rPr>
              <a:t>2</a:t>
            </a:r>
          </a:p>
        </p:txBody>
      </p:sp>
      <p:sp>
        <p:nvSpPr>
          <p:cNvPr id="9" name="Shape"/>
          <p:cNvSpPr/>
          <p:nvPr/>
        </p:nvSpPr>
        <p:spPr>
          <a:xfrm>
            <a:off x="6507480" y="2872029"/>
            <a:ext cx="640080" cy="640080"/>
          </a:xfrm>
          <a:prstGeom prst="ellipse">
            <a:avLst/>
          </a:prstGeom>
          <a:solidFill>
            <a:srgbClr val="0F5257"/>
          </a:solidFill>
        </p:spPr>
        <p:txBody>
          <a:bodyPr anchor="ctr"/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Segoe Sans Display"/>
              </a:rPr>
              <a:t>3</a:t>
            </a:r>
          </a:p>
        </p:txBody>
      </p:sp>
      <p:sp>
        <p:nvSpPr>
          <p:cNvPr id="10" name="Shape"/>
          <p:cNvSpPr/>
          <p:nvPr/>
        </p:nvSpPr>
        <p:spPr>
          <a:xfrm>
            <a:off x="9281160" y="2872029"/>
            <a:ext cx="640080" cy="640080"/>
          </a:xfrm>
          <a:prstGeom prst="ellipse">
            <a:avLst/>
          </a:prstGeom>
          <a:solidFill>
            <a:srgbClr val="C2571A"/>
          </a:solidFill>
        </p:spPr>
        <p:txBody>
          <a:bodyPr anchor="ctr"/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Segoe Sans Display"/>
              </a:rPr>
              <a:t>4</a:t>
            </a:r>
          </a:p>
        </p:txBody>
      </p:sp>
      <p:sp>
        <p:nvSpPr>
          <p:cNvPr id="11" name="TextBox"/>
          <p:cNvSpPr txBox="1"/>
          <p:nvPr/>
        </p:nvSpPr>
        <p:spPr>
          <a:xfrm>
            <a:off x="960120" y="3702029"/>
            <a:ext cx="1950720" cy="1700000"/>
          </a:xfrm>
          <a:prstGeom prst="rect">
            <a:avLst/>
          </a:prstGeom>
        </p:spPr>
        <p:txBody>
          <a:bodyPr/>
          <a:lstStyle/>
          <a:p>
            <a:pPr>
              <a:spcAft>
                <a:spcPts val="800"/>
              </a:spcAft>
            </a:pPr>
            <a:r>
              <a:rPr lang="en-US" sz="1800" b="1">
                <a:solidFill>
                  <a:srgbClr val="0F5257"/>
                </a:solidFill>
                <a:latin typeface="Segoe Sans Display"/>
              </a:rPr>
              <a:t>Take the topics</a:t>
            </a:r>
          </a:p>
          <a:p>
            <a:r>
              <a:rPr lang="en-US" sz="1400">
                <a:solidFill>
                  <a:srgbClr val="5C6B6E"/>
                </a:solidFill>
                <a:latin typeface="Segoe Sans Display"/>
              </a:rPr>
              <a:t>Take the resolved topic list and volumes from agent analytics</a:t>
            </a:r>
          </a:p>
        </p:txBody>
      </p:sp>
      <p:sp>
        <p:nvSpPr>
          <p:cNvPr id="12" name="TextBox"/>
          <p:cNvSpPr txBox="1"/>
          <p:nvPr/>
        </p:nvSpPr>
        <p:spPr>
          <a:xfrm>
            <a:off x="3733800" y="3702029"/>
            <a:ext cx="1950720" cy="1700000"/>
          </a:xfrm>
          <a:prstGeom prst="rect">
            <a:avLst/>
          </a:prstGeom>
        </p:spPr>
        <p:txBody>
          <a:bodyPr/>
          <a:lstStyle/>
          <a:p>
            <a:pPr>
              <a:spcAft>
                <a:spcPts val="800"/>
              </a:spcAft>
            </a:pPr>
            <a:r>
              <a:rPr lang="en-US" sz="1800" b="1">
                <a:solidFill>
                  <a:srgbClr val="0F5257"/>
                </a:solidFill>
                <a:latin typeface="Segoe Sans Display"/>
              </a:rPr>
              <a:t>Source the records</a:t>
            </a:r>
          </a:p>
          <a:p>
            <a:r>
              <a:rPr lang="en-US" sz="1400">
                <a:solidFill>
                  <a:srgbClr val="5C6B6E"/>
                </a:solidFill>
                <a:latin typeface="Segoe Sans Display"/>
              </a:rPr>
              <a:t>Get last 2-3 months resolved tickets and closed cases from ITSM and HRSD owners</a:t>
            </a:r>
          </a:p>
        </p:txBody>
      </p:sp>
      <p:sp>
        <p:nvSpPr>
          <p:cNvPr id="13" name="TextBox"/>
          <p:cNvSpPr txBox="1"/>
          <p:nvPr/>
        </p:nvSpPr>
        <p:spPr>
          <a:xfrm>
            <a:off x="6507480" y="3702029"/>
            <a:ext cx="1950720" cy="1700000"/>
          </a:xfrm>
          <a:prstGeom prst="rect">
            <a:avLst/>
          </a:prstGeom>
        </p:spPr>
        <p:txBody>
          <a:bodyPr/>
          <a:lstStyle/>
          <a:p>
            <a:pPr>
              <a:spcAft>
                <a:spcPts val="800"/>
              </a:spcAft>
            </a:pPr>
            <a:r>
              <a:rPr lang="en-US" sz="1800" b="1">
                <a:solidFill>
                  <a:srgbClr val="0F5257"/>
                </a:solidFill>
                <a:latin typeface="Segoe Sans Display"/>
              </a:rPr>
              <a:t>Classify</a:t>
            </a:r>
          </a:p>
          <a:p>
            <a:r>
              <a:rPr lang="en-US" sz="1400">
                <a:solidFill>
                  <a:srgbClr val="5C6B6E"/>
                </a:solidFill>
                <a:latin typeface="Segoe Sans Display"/>
              </a:rPr>
              <a:t>Map each topic to the real categories that handled it, and validate</a:t>
            </a:r>
          </a:p>
        </p:txBody>
      </p:sp>
      <p:sp>
        <p:nvSpPr>
          <p:cNvPr id="14" name="TextBox"/>
          <p:cNvSpPr txBox="1"/>
          <p:nvPr/>
        </p:nvSpPr>
        <p:spPr>
          <a:xfrm>
            <a:off x="9281160" y="3702029"/>
            <a:ext cx="1950720" cy="1700000"/>
          </a:xfrm>
          <a:prstGeom prst="rect">
            <a:avLst/>
          </a:prstGeom>
        </p:spPr>
        <p:txBody>
          <a:bodyPr/>
          <a:lstStyle/>
          <a:p>
            <a:pPr>
              <a:spcAft>
                <a:spcPts val="800"/>
              </a:spcAft>
            </a:pPr>
            <a:r>
              <a:rPr lang="en-US" sz="1800" b="1">
                <a:solidFill>
                  <a:srgbClr val="C2571A"/>
                </a:solidFill>
                <a:latin typeface="Segoe Sans Display"/>
              </a:rPr>
              <a:t>Average and enter</a:t>
            </a:r>
          </a:p>
          <a:p>
            <a:r>
              <a:rPr lang="en-US" sz="1400">
                <a:solidFill>
                  <a:srgbClr val="5C6B6E"/>
                </a:solidFill>
                <a:latin typeface="Segoe Sans Display"/>
              </a:rPr>
              <a:t>Divide total work minutes by matched records, then enter the result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53E6F8F-55F0-02B4-3401-2374FC924F65}"/>
              </a:ext>
            </a:extLst>
          </p:cNvPr>
          <p:cNvSpPr txBox="1"/>
          <p:nvPr/>
        </p:nvSpPr>
        <p:spPr>
          <a:xfrm>
            <a:off x="644674" y="1614143"/>
            <a:ext cx="1090265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>
                <a:solidFill>
                  <a:srgbClr val="12262A"/>
                </a:solidFill>
                <a:latin typeface="Segoe Sans Display"/>
              </a:rPr>
              <a:t>Core principle: Every topic that is resolved by the agent is a case avoided and thus human effort avoided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"/>
          <p:cNvSpPr txBox="1"/>
          <p:nvPr/>
        </p:nvSpPr>
        <p:spPr>
          <a:xfrm>
            <a:off x="685800" y="548640"/>
            <a:ext cx="10820400" cy="1000000"/>
          </a:xfrm>
          <a:prstGeom prst="rect">
            <a:avLst/>
          </a:prstGeom>
        </p:spPr>
        <p:txBody>
          <a:bodyPr/>
          <a:lstStyle/>
          <a:p>
            <a:r>
              <a:rPr lang="en-US" sz="2800" b="1">
                <a:solidFill>
                  <a:srgbClr val="12262A"/>
                </a:solidFill>
                <a:latin typeface="Segoe Sans Display"/>
              </a:rPr>
              <a:t>Not every topic has a ticket behind it, and that is expected</a:t>
            </a:r>
          </a:p>
        </p:txBody>
      </p:sp>
      <p:sp>
        <p:nvSpPr>
          <p:cNvPr id="3" name="Shape"/>
          <p:cNvSpPr/>
          <p:nvPr/>
        </p:nvSpPr>
        <p:spPr>
          <a:xfrm>
            <a:off x="685800" y="1820000"/>
            <a:ext cx="560000" cy="560000"/>
          </a:xfrm>
          <a:prstGeom prst="ellipse">
            <a:avLst/>
          </a:prstGeom>
          <a:solidFill>
            <a:srgbClr val="0F5257"/>
          </a:solidFill>
        </p:spPr>
        <p:txBody>
          <a:bodyPr anchor="ctr"/>
          <a:lstStyle/>
          <a:p>
            <a:pPr algn="ctr"/>
            <a:r>
              <a:rPr lang="en-US" sz="1800" b="1">
                <a:solidFill>
                  <a:srgbClr val="FFFFFF"/>
                </a:solidFill>
                <a:latin typeface="Segoe Sans Display"/>
              </a:rPr>
              <a:t>1</a:t>
            </a:r>
          </a:p>
        </p:txBody>
      </p:sp>
      <p:sp>
        <p:nvSpPr>
          <p:cNvPr id="4" name="Shape"/>
          <p:cNvSpPr/>
          <p:nvPr/>
        </p:nvSpPr>
        <p:spPr>
          <a:xfrm>
            <a:off x="685800" y="2870000"/>
            <a:ext cx="560000" cy="560000"/>
          </a:xfrm>
          <a:prstGeom prst="ellipse">
            <a:avLst/>
          </a:prstGeom>
          <a:solidFill>
            <a:srgbClr val="0F5257"/>
          </a:solidFill>
        </p:spPr>
        <p:txBody>
          <a:bodyPr anchor="ctr"/>
          <a:lstStyle/>
          <a:p>
            <a:pPr algn="ctr"/>
            <a:r>
              <a:rPr lang="en-US" sz="1800" b="1">
                <a:solidFill>
                  <a:srgbClr val="FFFFFF"/>
                </a:solidFill>
                <a:latin typeface="Segoe Sans Display"/>
              </a:rPr>
              <a:t>2</a:t>
            </a:r>
          </a:p>
        </p:txBody>
      </p:sp>
      <p:sp>
        <p:nvSpPr>
          <p:cNvPr id="5" name="Shape"/>
          <p:cNvSpPr/>
          <p:nvPr/>
        </p:nvSpPr>
        <p:spPr>
          <a:xfrm>
            <a:off x="685800" y="3920000"/>
            <a:ext cx="560000" cy="560000"/>
          </a:xfrm>
          <a:prstGeom prst="ellipse">
            <a:avLst/>
          </a:prstGeom>
          <a:solidFill>
            <a:srgbClr val="0F5257"/>
          </a:solidFill>
        </p:spPr>
        <p:txBody>
          <a:bodyPr anchor="ctr"/>
          <a:lstStyle/>
          <a:p>
            <a:pPr algn="ctr"/>
            <a:r>
              <a:rPr lang="en-US" sz="1800" b="1">
                <a:solidFill>
                  <a:srgbClr val="FFFFFF"/>
                </a:solidFill>
                <a:latin typeface="Segoe Sans Display"/>
              </a:rPr>
              <a:t>3</a:t>
            </a:r>
          </a:p>
        </p:txBody>
      </p:sp>
      <p:sp>
        <p:nvSpPr>
          <p:cNvPr id="6" name="Shape"/>
          <p:cNvSpPr/>
          <p:nvPr/>
        </p:nvSpPr>
        <p:spPr>
          <a:xfrm>
            <a:off x="685800" y="4970000"/>
            <a:ext cx="560000" cy="560000"/>
          </a:xfrm>
          <a:prstGeom prst="ellipse">
            <a:avLst/>
          </a:prstGeom>
          <a:solidFill>
            <a:srgbClr val="C2571A"/>
          </a:solidFill>
        </p:spPr>
        <p:txBody>
          <a:bodyPr anchor="ctr"/>
          <a:lstStyle/>
          <a:p>
            <a:pPr algn="ctr"/>
            <a:r>
              <a:rPr lang="en-US" sz="1800" b="1">
                <a:solidFill>
                  <a:srgbClr val="FFFFFF"/>
                </a:solidFill>
                <a:latin typeface="Segoe Sans Display"/>
              </a:rPr>
              <a:t>4</a:t>
            </a:r>
          </a:p>
        </p:txBody>
      </p:sp>
      <p:sp>
        <p:nvSpPr>
          <p:cNvPr id="7" name="TextBox"/>
          <p:cNvSpPr txBox="1"/>
          <p:nvPr/>
        </p:nvSpPr>
        <p:spPr>
          <a:xfrm>
            <a:off x="1480000" y="1780000"/>
            <a:ext cx="9800000" cy="950000"/>
          </a:xfrm>
          <a:prstGeom prst="rect">
            <a:avLst/>
          </a:prstGeo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sz="1800" b="1">
                <a:solidFill>
                  <a:srgbClr val="0F5257"/>
                </a:solidFill>
                <a:latin typeface="Segoe Sans Display"/>
              </a:rPr>
              <a:t>Topics that replaced a ticket
Password reset, benefits enrollment, payroll discrepancy. A record exists — source the work time and average it.</a:t>
            </a:r>
            <a:endParaRPr lang="en-US" sz="1500">
              <a:solidFill>
                <a:srgbClr val="5C6B6E"/>
              </a:solidFill>
              <a:latin typeface="Segoe Sans Display"/>
            </a:endParaRPr>
          </a:p>
        </p:txBody>
      </p:sp>
      <p:sp>
        <p:nvSpPr>
          <p:cNvPr id="8" name="TextBox"/>
          <p:cNvSpPr txBox="1"/>
          <p:nvPr/>
        </p:nvSpPr>
        <p:spPr>
          <a:xfrm>
            <a:off x="1480000" y="2830000"/>
            <a:ext cx="9800000" cy="950000"/>
          </a:xfrm>
          <a:prstGeom prst="rect">
            <a:avLst/>
          </a:prstGeo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sz="1800" b="1">
                <a:solidFill>
                  <a:srgbClr val="0F5257"/>
                </a:solidFill>
                <a:latin typeface="Segoe Sans Display"/>
              </a:rPr>
              <a:t>Topics that replaced a search
Policy lookups, office locations, org chart, acronym questions. No ticket was ever raised — the employee would have searched, asked a colleague, or given up.</a:t>
            </a:r>
            <a:endParaRPr sz="1500">
              <a:solidFill>
                <a:srgbClr val="5C6B6E"/>
              </a:solidFill>
              <a:latin typeface="Calibri"/>
            </a:endParaRPr>
          </a:p>
        </p:txBody>
      </p:sp>
      <p:sp>
        <p:nvSpPr>
          <p:cNvPr id="9" name="TextBox"/>
          <p:cNvSpPr txBox="1"/>
          <p:nvPr/>
        </p:nvSpPr>
        <p:spPr>
          <a:xfrm>
            <a:off x="1480000" y="3880000"/>
            <a:ext cx="9800000" cy="950000"/>
          </a:xfrm>
          <a:prstGeom prst="rect">
            <a:avLst/>
          </a:prstGeo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sz="1800" b="1">
                <a:solidFill>
                  <a:srgbClr val="0F5257"/>
                </a:solidFill>
                <a:latin typeface="Segoe Sans Display"/>
              </a:rPr>
              <a:t>Topics that replaced nothing
Greetings, “what can you do”, smalltalk. Enter zero. No human effort was ever going to be spent.</a:t>
            </a:r>
            <a:endParaRPr lang="en-US" sz="1500">
              <a:solidFill>
                <a:srgbClr val="5C6B6E"/>
              </a:solidFill>
              <a:latin typeface="Segoe Sans Display"/>
            </a:endParaRPr>
          </a:p>
        </p:txBody>
      </p:sp>
      <p:sp>
        <p:nvSpPr>
          <p:cNvPr id="10" name="TextBox"/>
          <p:cNvSpPr txBox="1"/>
          <p:nvPr/>
        </p:nvSpPr>
        <p:spPr>
          <a:xfrm>
            <a:off x="1480000" y="4930000"/>
            <a:ext cx="9800000" cy="950000"/>
          </a:xfrm>
          <a:prstGeom prst="rect">
            <a:avLst/>
          </a:prstGeo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sz="1800" b="1">
                <a:solidFill>
                  <a:srgbClr val="C2571A"/>
                </a:solidFill>
                <a:latin typeface="Segoe Sans Display"/>
              </a:rPr>
              <a:t>Pick one convention and hold it
Either enter a low informational value for search-replacement topics, or enter zero and treat the saving as unvalued upside. Both are defensible. Mixing them silently is not.</a:t>
            </a:r>
            <a:endParaRPr lang="en-US" sz="1500">
              <a:solidFill>
                <a:srgbClr val="5C6B6E"/>
              </a:solidFill>
              <a:latin typeface="Segoe Sans Display"/>
            </a:endParaRPr>
          </a:p>
        </p:txBody>
      </p:sp>
    </p:spTree>
    <p:extLst>
      <p:ext uri="{BB962C8B-B14F-4D97-AF65-F5344CB8AC3E}">
        <p14:creationId xmlns:p14="http://schemas.microsoft.com/office/powerpoint/2010/main" val="774124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"/>
          <p:cNvSpPr txBox="1"/>
          <p:nvPr/>
        </p:nvSpPr>
        <p:spPr>
          <a:xfrm>
            <a:off x="685800" y="548640"/>
            <a:ext cx="10820400" cy="1000000"/>
          </a:xfrm>
          <a:prstGeom prst="rect">
            <a:avLst/>
          </a:prstGeom>
        </p:spPr>
        <p:txBody>
          <a:bodyPr/>
          <a:lstStyle/>
          <a:p>
            <a:r>
              <a:rPr lang="en-US" sz="2800" b="1">
                <a:solidFill>
                  <a:srgbClr val="12262A"/>
                </a:solidFill>
                <a:latin typeface="Segoe Sans Display"/>
              </a:rPr>
              <a:t>Key data sources and typical owners</a:t>
            </a:r>
            <a:endParaRPr sz="2800" b="1">
              <a:solidFill>
                <a:srgbClr val="12262A"/>
              </a:solidFill>
              <a:latin typeface="Trebuchet MS"/>
            </a:endParaRPr>
          </a:p>
        </p:txBody>
      </p:sp>
      <p:graphicFrame>
        <p:nvGraphicFramePr>
          <p:cNvPr id="3" name="Table"/>
          <p:cNvGraphicFramePr/>
          <p:nvPr>
            <p:extLst>
              <p:ext uri="{D42A27DB-BD31-4B8C-83A1-F6EECF244321}">
                <p14:modId xmlns:p14="http://schemas.microsoft.com/office/powerpoint/2010/main" val="611860885"/>
              </p:ext>
            </p:extLst>
          </p:nvPr>
        </p:nvGraphicFramePr>
        <p:xfrm>
          <a:off x="685800" y="1750000"/>
          <a:ext cx="10820400" cy="3200000"/>
        </p:xfrm>
        <a:graphic>
          <a:graphicData uri="http://schemas.openxmlformats.org/drawingml/2006/table">
            <a:tbl>
              <a:tblPr/>
              <a:tblGrid>
                <a:gridCol w="2705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5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5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5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0000">
                <a:tc>
                  <a:txBody>
                    <a:bodyPr/>
                    <a:lstStyle/>
                    <a:p>
                      <a:r>
                        <a:rPr lang="en-US" sz="1500" b="1">
                          <a:solidFill>
                            <a:srgbClr val="FFFFFF"/>
                          </a:solidFill>
                          <a:latin typeface="Segoe Sans Display"/>
                        </a:rPr>
                        <a:t>Owner</a:t>
                      </a:r>
                    </a:p>
                  </a:txBody>
                  <a:tcPr>
                    <a:solidFill>
                      <a:srgbClr val="0F52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>
                          <a:solidFill>
                            <a:srgbClr val="FFFFFF"/>
                          </a:solidFill>
                          <a:latin typeface="Segoe Sans Display"/>
                        </a:rPr>
                        <a:t>What they hold</a:t>
                      </a:r>
                    </a:p>
                  </a:txBody>
                  <a:tcPr>
                    <a:solidFill>
                      <a:srgbClr val="0F52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>
                          <a:solidFill>
                            <a:srgbClr val="FFFFFF"/>
                          </a:solidFill>
                          <a:latin typeface="Segoe Sans Display"/>
                        </a:rPr>
                        <a:t>Ask them for</a:t>
                      </a:r>
                    </a:p>
                  </a:txBody>
                  <a:tcPr>
                    <a:solidFill>
                      <a:srgbClr val="0F52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>
                          <a:solidFill>
                            <a:srgbClr val="FFFFFF"/>
                          </a:solidFill>
                          <a:latin typeface="Segoe Sans Display"/>
                        </a:rPr>
                        <a:t>Typical platform</a:t>
                      </a:r>
                    </a:p>
                  </a:txBody>
                  <a:tcPr>
                    <a:solidFill>
                      <a:srgbClr val="0F52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00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0F5257"/>
                          </a:solidFill>
                          <a:latin typeface="Segoe Sans Display"/>
                        </a:rPr>
                        <a:t>IT Service Desk Ops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2262A"/>
                          </a:solidFill>
                          <a:latin typeface="Segoe Sans Display"/>
                        </a:rPr>
                        <a:t>Incident and request queues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2262A"/>
                          </a:solidFill>
                          <a:latin typeface="Segoe Sans Display"/>
                        </a:rPr>
                        <a:t>Category list, resolved tickets, logged work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2262A"/>
                          </a:solidFill>
                          <a:latin typeface="Segoe Sans Display"/>
                        </a:rPr>
                        <a:t>ServiceNow, Jira SM, Zendesk, Freshservice</a:t>
                      </a:r>
                      <a:endParaRPr lang="en-US" sz="1400">
                        <a:solidFill>
                          <a:srgbClr val="12262A"/>
                        </a:solidFill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00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0F5257"/>
                          </a:solidFill>
                          <a:latin typeface="Segoe Sans Display"/>
                        </a:rPr>
                        <a:t>HR Shared Services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2262A"/>
                          </a:solidFill>
                          <a:latin typeface="Segoe Sans Display"/>
                        </a:rPr>
                        <a:t>Employee case types and service catalog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2262A"/>
                          </a:solidFill>
                          <a:latin typeface="Segoe Sans Display"/>
                        </a:rPr>
                        <a:t>Topic list, closed cases, case touch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2262A"/>
                          </a:solidFill>
                          <a:latin typeface="Segoe Sans Display"/>
                        </a:rPr>
                        <a:t>ServiceNow HRSD, Workday Help, Dayforce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00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0F5257"/>
                          </a:solidFill>
                          <a:latin typeface="Segoe Sans Display"/>
                        </a:rPr>
                        <a:t>HRIT or platform admin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2262A"/>
                          </a:solidFill>
                          <a:latin typeface="Segoe Sans Display"/>
                        </a:rPr>
                        <a:t>Field configuration and export rights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2262A"/>
                          </a:solidFill>
                          <a:latin typeface="Segoe Sans Display"/>
                        </a:rPr>
                        <a:t>Whether work time is captured at all, plus export access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2262A"/>
                          </a:solidFill>
                          <a:latin typeface="Segoe Sans Display"/>
                        </a:rPr>
                        <a:t>Same platforms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00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0F5257"/>
                          </a:solidFill>
                          <a:latin typeface="Segoe Sans Display"/>
                        </a:rPr>
                        <a:t>Reporting or analytics lead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2262A"/>
                          </a:solidFill>
                          <a:latin typeface="Segoe Sans Display"/>
                        </a:rPr>
                        <a:t>Report builder and scheduled exports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2262A"/>
                          </a:solidFill>
                          <a:latin typeface="Segoe Sans Display"/>
                        </a:rPr>
                        <a:t>The extract itself, refreshed each quarter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2262A"/>
                          </a:solidFill>
                          <a:latin typeface="Segoe Sans Display"/>
                        </a:rPr>
                        <a:t>Reporting layer of each platform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Box"/>
          <p:cNvSpPr txBox="1"/>
          <p:nvPr/>
        </p:nvSpPr>
        <p:spPr>
          <a:xfrm>
            <a:off x="685800" y="5330000"/>
            <a:ext cx="10820400" cy="400000"/>
          </a:xfrm>
          <a:prstGeom prst="rect">
            <a:avLst/>
          </a:prstGeom>
        </p:spPr>
        <p:txBody>
          <a:bodyPr/>
          <a:lstStyle/>
          <a:p>
            <a:r>
              <a:rPr lang="en-US" sz="1400" i="1">
                <a:solidFill>
                  <a:srgbClr val="5C6B6E"/>
                </a:solidFill>
                <a:latin typeface="Segoe Sans Display"/>
              </a:rPr>
              <a:t>Ask for aggregated or de-identified rows. No employee-submitted content is needed at any point.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"/>
          <p:cNvSpPr txBox="1"/>
          <p:nvPr/>
        </p:nvSpPr>
        <p:spPr>
          <a:xfrm>
            <a:off x="685800" y="500000"/>
            <a:ext cx="10820400" cy="1000000"/>
          </a:xfrm>
          <a:prstGeom prst="rect">
            <a:avLst/>
          </a:prstGeom>
        </p:spPr>
        <p:txBody>
          <a:bodyPr/>
          <a:lstStyle/>
          <a:p>
            <a:r>
              <a:rPr lang="en-US" sz="2800" b="1">
                <a:solidFill>
                  <a:srgbClr val="12262A"/>
                </a:solidFill>
                <a:latin typeface="Segoe Sans Display"/>
              </a:rPr>
              <a:t>Every platform stores handle time in a different field</a:t>
            </a:r>
          </a:p>
        </p:txBody>
      </p:sp>
      <p:graphicFrame>
        <p:nvGraphicFramePr>
          <p:cNvPr id="3" name="Table"/>
          <p:cNvGraphicFramePr/>
          <p:nvPr>
            <p:extLst>
              <p:ext uri="{D42A27DB-BD31-4B8C-83A1-F6EECF244321}">
                <p14:modId xmlns:p14="http://schemas.microsoft.com/office/powerpoint/2010/main" val="64362367"/>
              </p:ext>
            </p:extLst>
          </p:nvPr>
        </p:nvGraphicFramePr>
        <p:xfrm>
          <a:off x="685800" y="1640000"/>
          <a:ext cx="10820400" cy="3900000"/>
        </p:xfrm>
        <a:graphic>
          <a:graphicData uri="http://schemas.openxmlformats.org/drawingml/2006/table">
            <a:tbl>
              <a:tblPr/>
              <a:tblGrid>
                <a:gridCol w="2705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5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5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5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7500">
                <a:tc>
                  <a:txBody>
                    <a:bodyPr/>
                    <a:lstStyle/>
                    <a:p>
                      <a:r>
                        <a:rPr lang="en-US" sz="1500" b="1">
                          <a:solidFill>
                            <a:srgbClr val="FFFFFF"/>
                          </a:solidFill>
                          <a:latin typeface="Segoe Sans Display"/>
                        </a:rPr>
                        <a:t>Platform</a:t>
                      </a:r>
                    </a:p>
                  </a:txBody>
                  <a:tcPr>
                    <a:solidFill>
                      <a:srgbClr val="0F52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>
                          <a:solidFill>
                            <a:srgbClr val="FFFFFF"/>
                          </a:solidFill>
                          <a:latin typeface="Segoe Sans Display"/>
                        </a:rPr>
                        <a:t>Records to pull</a:t>
                      </a:r>
                    </a:p>
                  </a:txBody>
                  <a:tcPr>
                    <a:solidFill>
                      <a:srgbClr val="0F52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>
                          <a:solidFill>
                            <a:srgbClr val="FFFFFF"/>
                          </a:solidFill>
                          <a:latin typeface="Segoe Sans Display"/>
                        </a:rPr>
                        <a:t>Category fields</a:t>
                      </a:r>
                    </a:p>
                  </a:txBody>
                  <a:tcPr>
                    <a:solidFill>
                      <a:srgbClr val="0F52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>
                          <a:solidFill>
                            <a:srgbClr val="FFFFFF"/>
                          </a:solidFill>
                          <a:latin typeface="Segoe Sans Display"/>
                        </a:rPr>
                        <a:t>Work-time field</a:t>
                      </a:r>
                    </a:p>
                  </a:txBody>
                  <a:tcPr>
                    <a:solidFill>
                      <a:srgbClr val="0F52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500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0F5257"/>
                          </a:solidFill>
                          <a:latin typeface="Segoe Sans Display"/>
                        </a:rPr>
                        <a:t>ServiceNow ITSM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2262A"/>
                          </a:solidFill>
                          <a:latin typeface="Segoe Sans Display"/>
                        </a:rPr>
                        <a:t>incident, sc_req_item</a:t>
                      </a:r>
                      <a:endParaRPr lang="en-US" sz="1400">
                        <a:solidFill>
                          <a:srgbClr val="12262A"/>
                        </a:solidFill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2262A"/>
                          </a:solidFill>
                          <a:latin typeface="Segoe Sans Display"/>
                        </a:rPr>
                        <a:t>category, subcategory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2262A"/>
                          </a:solidFill>
                          <a:latin typeface="Segoe Sans Display"/>
                        </a:rPr>
                        <a:t>time_worked, time_card</a:t>
                      </a:r>
                      <a:endParaRPr lang="en-US" sz="1400">
                        <a:solidFill>
                          <a:srgbClr val="12262A"/>
                        </a:solidFill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500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0F5257"/>
                          </a:solidFill>
                          <a:latin typeface="Segoe Sans Display"/>
                        </a:rPr>
                        <a:t>ServiceNow HRSD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2262A"/>
                          </a:solidFill>
                          <a:latin typeface="Segoe Sans Display"/>
                        </a:rPr>
                        <a:t>HR cases, HR tasks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2262A"/>
                          </a:solidFill>
                          <a:latin typeface="Segoe Sans Display"/>
                        </a:rPr>
                        <a:t>HR service, case 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2262A"/>
                          </a:solidFill>
                          <a:latin typeface="Segoe Sans Display"/>
                        </a:rPr>
                        <a:t>case touch 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500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0F5257"/>
                          </a:solidFill>
                          <a:latin typeface="Segoe Sans Display"/>
                        </a:rPr>
                        <a:t>Workday Help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2262A"/>
                          </a:solidFill>
                          <a:latin typeface="Segoe Sans Display"/>
                        </a:rPr>
                        <a:t>Help cases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2262A"/>
                          </a:solidFill>
                          <a:latin typeface="Segoe Sans Display"/>
                        </a:rPr>
                        <a:t>case type, service 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2262A"/>
                          </a:solidFill>
                          <a:latin typeface="Segoe Sans Display"/>
                        </a:rPr>
                        <a:t>solver activity 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500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0F5257"/>
                          </a:solidFill>
                          <a:latin typeface="Segoe Sans Display"/>
                        </a:rPr>
                        <a:t>Jira Service Mgmt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2262A"/>
                          </a:solidFill>
                          <a:latin typeface="Segoe Sans Display"/>
                        </a:rPr>
                        <a:t>issues, requests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2262A"/>
                          </a:solidFill>
                          <a:latin typeface="Segoe Sans Display"/>
                        </a:rPr>
                        <a:t>project, request type, label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2262A"/>
                          </a:solidFill>
                          <a:latin typeface="Segoe Sans Display"/>
                        </a:rPr>
                        <a:t>worklogs, time spent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500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0F5257"/>
                          </a:solidFill>
                          <a:latin typeface="Segoe Sans Display"/>
                        </a:rPr>
                        <a:t>Zendesk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2262A"/>
                          </a:solidFill>
                          <a:latin typeface="Segoe Sans Display"/>
                        </a:rPr>
                        <a:t>solved tickets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2262A"/>
                          </a:solidFill>
                          <a:latin typeface="Segoe Sans Display"/>
                        </a:rPr>
                        <a:t>tags, form, type, 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2262A"/>
                          </a:solidFill>
                          <a:latin typeface="Segoe Sans Display"/>
                        </a:rPr>
                        <a:t>time-tracking field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7500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0F5257"/>
                          </a:solidFill>
                          <a:latin typeface="Segoe Sans Display"/>
                        </a:rPr>
                        <a:t>Freshservice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2262A"/>
                          </a:solidFill>
                          <a:latin typeface="Segoe Sans Display"/>
                        </a:rPr>
                        <a:t>tickets, time entries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2262A"/>
                          </a:solidFill>
                          <a:latin typeface="Segoe Sans Display"/>
                        </a:rPr>
                        <a:t>category, subcategory, 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2262A"/>
                          </a:solidFill>
                          <a:latin typeface="Segoe Sans Display"/>
                        </a:rPr>
                        <a:t>time_entries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7500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0F5257"/>
                          </a:solidFill>
                          <a:latin typeface="Segoe Sans Display"/>
                        </a:rPr>
                        <a:t>Dayforce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2262A"/>
                          </a:solidFill>
                          <a:latin typeface="Segoe Sans Display"/>
                        </a:rPr>
                        <a:t>HR cases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2262A"/>
                          </a:solidFill>
                          <a:latin typeface="Segoe Sans Display"/>
                        </a:rPr>
                        <a:t>topic, subtopic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2262A"/>
                          </a:solidFill>
                          <a:latin typeface="Segoe Sans Display"/>
                        </a:rPr>
                        <a:t>none; Hours to Close is elapsed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Box"/>
          <p:cNvSpPr txBox="1"/>
          <p:nvPr/>
        </p:nvSpPr>
        <p:spPr>
          <a:xfrm>
            <a:off x="685800" y="5880000"/>
            <a:ext cx="10820400" cy="400000"/>
          </a:xfrm>
          <a:prstGeom prst="rect">
            <a:avLst/>
          </a:prstGeom>
        </p:spPr>
        <p:txBody>
          <a:bodyPr/>
          <a:lstStyle/>
          <a:p>
            <a:r>
              <a:rPr lang="en-US" sz="1400" i="1">
                <a:solidFill>
                  <a:srgbClr val="5C6B6E"/>
                </a:solidFill>
                <a:latin typeface="Segoe Sans Display"/>
              </a:rPr>
              <a:t>Field names here are from each vendor's published documentation. Internal names might vary.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"/>
          <p:cNvSpPr txBox="1"/>
          <p:nvPr/>
        </p:nvSpPr>
        <p:spPr>
          <a:xfrm>
            <a:off x="685800" y="548640"/>
            <a:ext cx="10820400" cy="1000000"/>
          </a:xfrm>
          <a:prstGeom prst="rect">
            <a:avLst/>
          </a:prstGeom>
        </p:spPr>
        <p:txBody>
          <a:bodyPr/>
          <a:lstStyle/>
          <a:p>
            <a:r>
              <a:rPr lang="en-US" sz="2800" b="1">
                <a:solidFill>
                  <a:srgbClr val="12262A"/>
                </a:solidFill>
                <a:latin typeface="Segoe Sans Display"/>
              </a:rPr>
              <a:t>Key fields to request</a:t>
            </a:r>
            <a:endParaRPr sz="2800" b="1">
              <a:solidFill>
                <a:srgbClr val="12262A"/>
              </a:solidFill>
              <a:latin typeface="Trebuchet MS"/>
            </a:endParaRPr>
          </a:p>
        </p:txBody>
      </p:sp>
      <p:sp>
        <p:nvSpPr>
          <p:cNvPr id="3" name="Shape"/>
          <p:cNvSpPr/>
          <p:nvPr/>
        </p:nvSpPr>
        <p:spPr>
          <a:xfrm>
            <a:off x="685800" y="1700000"/>
            <a:ext cx="5200000" cy="3900000"/>
          </a:xfrm>
          <a:prstGeom prst="rect">
            <a:avLst/>
          </a:prstGeom>
          <a:solidFill>
            <a:srgbClr val="F1F5F4"/>
          </a:solidFill>
        </p:spPr>
        <p:txBody>
          <a:bodyPr/>
          <a:lstStyle/>
          <a:p>
            <a:endParaRPr/>
          </a:p>
        </p:txBody>
      </p:sp>
      <p:sp>
        <p:nvSpPr>
          <p:cNvPr id="4" name="Shape"/>
          <p:cNvSpPr/>
          <p:nvPr/>
        </p:nvSpPr>
        <p:spPr>
          <a:xfrm>
            <a:off x="6300000" y="1700000"/>
            <a:ext cx="5206200" cy="3900000"/>
          </a:xfrm>
          <a:prstGeom prst="rect">
            <a:avLst/>
          </a:prstGeom>
          <a:solidFill>
            <a:srgbClr val="0F5257"/>
          </a:solidFill>
        </p:spPr>
        <p:txBody>
          <a:bodyPr/>
          <a:lstStyle/>
          <a:p>
            <a:endParaRPr/>
          </a:p>
        </p:txBody>
      </p:sp>
      <p:sp>
        <p:nvSpPr>
          <p:cNvPr id="5" name="TextBox"/>
          <p:cNvSpPr txBox="1"/>
          <p:nvPr/>
        </p:nvSpPr>
        <p:spPr>
          <a:xfrm>
            <a:off x="1000000" y="1950000"/>
            <a:ext cx="4600000" cy="400000"/>
          </a:xfrm>
          <a:prstGeom prst="rect">
            <a:avLst/>
          </a:prstGeom>
        </p:spPr>
        <p:txBody>
          <a:bodyPr wrap="none"/>
          <a:lstStyle/>
          <a:p>
            <a:r>
              <a:rPr lang="en-US" sz="1400" b="1">
                <a:solidFill>
                  <a:srgbClr val="C2571A"/>
                </a:solidFill>
                <a:latin typeface="Segoe Sans Display"/>
              </a:rPr>
              <a:t>FIELDS THE EXTRACT MUST CARRY</a:t>
            </a:r>
          </a:p>
        </p:txBody>
      </p:sp>
      <p:sp>
        <p:nvSpPr>
          <p:cNvPr id="6" name="TextBox"/>
          <p:cNvSpPr txBox="1"/>
          <p:nvPr/>
        </p:nvSpPr>
        <p:spPr>
          <a:xfrm>
            <a:off x="1000000" y="2450000"/>
            <a:ext cx="4600000" cy="2900000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05000"/>
              </a:lnSpc>
              <a:spcAft>
                <a:spcPts val="1200"/>
              </a:spcAft>
              <a:buChar char="•"/>
            </a:pPr>
            <a:r>
              <a:rPr lang="en-US" sz="1600">
                <a:solidFill>
                  <a:srgbClr val="12262A"/>
                </a:solidFill>
                <a:latin typeface="Segoe Sans Display"/>
              </a:rPr>
              <a:t>Ticket or case ID</a:t>
            </a:r>
          </a:p>
          <a:p>
            <a:pPr>
              <a:lnSpc>
                <a:spcPct val="105000"/>
              </a:lnSpc>
              <a:spcAft>
                <a:spcPts val="1200"/>
              </a:spcAft>
              <a:buChar char="•"/>
            </a:pPr>
            <a:r>
              <a:rPr lang="en-US" sz="1600">
                <a:solidFill>
                  <a:srgbClr val="12262A"/>
                </a:solidFill>
                <a:latin typeface="Segoe Sans Display"/>
              </a:rPr>
              <a:t>Category, subcategory, item</a:t>
            </a:r>
          </a:p>
          <a:p>
            <a:pPr>
              <a:lnSpc>
                <a:spcPct val="105000"/>
              </a:lnSpc>
              <a:spcAft>
                <a:spcPts val="1200"/>
              </a:spcAft>
              <a:buChar char="•"/>
            </a:pPr>
            <a:r>
              <a:rPr lang="en-US" sz="1600">
                <a:solidFill>
                  <a:srgbClr val="12262A"/>
                </a:solidFill>
                <a:latin typeface="Segoe Sans Display"/>
              </a:rPr>
              <a:t>Created and resolved timestamps</a:t>
            </a:r>
          </a:p>
          <a:p>
            <a:pPr>
              <a:lnSpc>
                <a:spcPct val="105000"/>
              </a:lnSpc>
              <a:spcAft>
                <a:spcPts val="1200"/>
              </a:spcAft>
              <a:buChar char="•"/>
            </a:pPr>
            <a:r>
              <a:rPr lang="en-US" sz="1600">
                <a:solidFill>
                  <a:srgbClr val="12262A"/>
                </a:solidFill>
                <a:latin typeface="Segoe Sans Display"/>
              </a:rPr>
              <a:t>Status or resolution code</a:t>
            </a:r>
          </a:p>
          <a:p>
            <a:pPr>
              <a:lnSpc>
                <a:spcPct val="105000"/>
              </a:lnSpc>
              <a:spcAft>
                <a:spcPts val="1200"/>
              </a:spcAft>
              <a:buChar char="•"/>
            </a:pPr>
            <a:r>
              <a:rPr lang="en-US" sz="1600">
                <a:solidFill>
                  <a:srgbClr val="12262A"/>
                </a:solidFill>
                <a:latin typeface="Segoe Sans Display"/>
              </a:rPr>
              <a:t>Assignment group or service team</a:t>
            </a:r>
          </a:p>
          <a:p>
            <a:pPr>
              <a:lnSpc>
                <a:spcPct val="105000"/>
              </a:lnSpc>
              <a:spcAft>
                <a:spcPts val="1200"/>
              </a:spcAft>
              <a:buChar char="•"/>
            </a:pPr>
            <a:r>
              <a:rPr lang="en-US" sz="1600" b="1">
                <a:solidFill>
                  <a:srgbClr val="C2571A"/>
                </a:solidFill>
                <a:latin typeface="Segoe Sans Display"/>
              </a:rPr>
              <a:t>Logged work time</a:t>
            </a:r>
          </a:p>
          <a:p>
            <a:pPr>
              <a:lnSpc>
                <a:spcPct val="105000"/>
              </a:lnSpc>
              <a:spcAft>
                <a:spcPts val="1200"/>
              </a:spcAft>
              <a:buChar char="•"/>
            </a:pPr>
            <a:r>
              <a:rPr lang="en-US" sz="1600">
                <a:solidFill>
                  <a:srgbClr val="12262A"/>
                </a:solidFill>
                <a:latin typeface="Segoe Sans Display"/>
              </a:rPr>
              <a:t>Channel, where captured</a:t>
            </a:r>
          </a:p>
        </p:txBody>
      </p:sp>
      <p:sp>
        <p:nvSpPr>
          <p:cNvPr id="7" name="TextBox"/>
          <p:cNvSpPr txBox="1"/>
          <p:nvPr/>
        </p:nvSpPr>
        <p:spPr>
          <a:xfrm>
            <a:off x="6620000" y="1950000"/>
            <a:ext cx="4600000" cy="400000"/>
          </a:xfrm>
          <a:prstGeom prst="rect">
            <a:avLst/>
          </a:prstGeom>
        </p:spPr>
        <p:txBody>
          <a:bodyPr wrap="none"/>
          <a:lstStyle/>
          <a:p>
            <a:r>
              <a:rPr lang="en-US" sz="1400" b="1">
                <a:solidFill>
                  <a:srgbClr val="E08A4A"/>
                </a:solidFill>
                <a:latin typeface="Segoe Sans Display"/>
              </a:rPr>
              <a:t>Data owner ask (ITSM or HR Service Delivery or Vendor teams)</a:t>
            </a:r>
            <a:endParaRPr sz="1400" b="1">
              <a:solidFill>
                <a:srgbClr val="E08A4A"/>
              </a:solidFill>
              <a:latin typeface="Calibri"/>
            </a:endParaRPr>
          </a:p>
        </p:txBody>
      </p:sp>
      <p:sp>
        <p:nvSpPr>
          <p:cNvPr id="8" name="TextBox"/>
          <p:cNvSpPr txBox="1"/>
          <p:nvPr/>
        </p:nvSpPr>
        <p:spPr>
          <a:xfrm>
            <a:off x="6620000" y="2450000"/>
            <a:ext cx="4600000" cy="2900000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05000"/>
              </a:lnSpc>
              <a:spcAft>
                <a:spcPts val="1400"/>
              </a:spcAft>
            </a:pPr>
            <a:r>
              <a:rPr lang="en-US" sz="1600" i="1">
                <a:solidFill>
                  <a:srgbClr val="FFFFFF"/>
                </a:solidFill>
                <a:latin typeface="Segoe Sans Display"/>
              </a:rPr>
              <a:t>3 months of data is sufficient to get started on the journey.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lang="en-US" sz="1600" i="1">
                <a:solidFill>
                  <a:srgbClr val="A9C4C2"/>
                </a:solidFill>
                <a:latin typeface="Segoe Sans Display"/>
              </a:rPr>
              <a:t>If a row-level export is restricted, aggregated counts and average work time by category and month are enough to start.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"/>
          <p:cNvSpPr txBox="1"/>
          <p:nvPr/>
        </p:nvSpPr>
        <p:spPr>
          <a:xfrm>
            <a:off x="685800" y="548640"/>
            <a:ext cx="10820400" cy="1000000"/>
          </a:xfrm>
          <a:prstGeom prst="rect">
            <a:avLst/>
          </a:prstGeom>
        </p:spPr>
        <p:txBody>
          <a:bodyPr/>
          <a:lstStyle/>
          <a:p>
            <a:r>
              <a:rPr lang="en-US" sz="2800" b="1">
                <a:solidFill>
                  <a:srgbClr val="12262A"/>
                </a:solidFill>
                <a:latin typeface="Segoe Sans Display"/>
              </a:rPr>
              <a:t>When the platform does not capture work time, step down a tier and say so</a:t>
            </a:r>
          </a:p>
        </p:txBody>
      </p:sp>
      <p:sp>
        <p:nvSpPr>
          <p:cNvPr id="3" name="Shape"/>
          <p:cNvSpPr/>
          <p:nvPr/>
        </p:nvSpPr>
        <p:spPr>
          <a:xfrm>
            <a:off x="685800" y="1820000"/>
            <a:ext cx="560000" cy="560000"/>
          </a:xfrm>
          <a:prstGeom prst="ellipse">
            <a:avLst/>
          </a:prstGeom>
          <a:solidFill>
            <a:srgbClr val="0F5257"/>
          </a:solidFill>
        </p:spPr>
        <p:txBody>
          <a:bodyPr anchor="ctr"/>
          <a:lstStyle/>
          <a:p>
            <a:pPr algn="ctr"/>
            <a:r>
              <a:rPr lang="en-US" sz="1800" b="1">
                <a:solidFill>
                  <a:srgbClr val="FFFFFF"/>
                </a:solidFill>
                <a:latin typeface="Segoe Sans Display"/>
              </a:rPr>
              <a:t>1</a:t>
            </a:r>
          </a:p>
        </p:txBody>
      </p:sp>
      <p:sp>
        <p:nvSpPr>
          <p:cNvPr id="4" name="Shape"/>
          <p:cNvSpPr/>
          <p:nvPr/>
        </p:nvSpPr>
        <p:spPr>
          <a:xfrm>
            <a:off x="685800" y="2870000"/>
            <a:ext cx="560000" cy="560000"/>
          </a:xfrm>
          <a:prstGeom prst="ellipse">
            <a:avLst/>
          </a:prstGeom>
          <a:solidFill>
            <a:srgbClr val="0F5257"/>
          </a:solidFill>
        </p:spPr>
        <p:txBody>
          <a:bodyPr anchor="ctr"/>
          <a:lstStyle/>
          <a:p>
            <a:pPr algn="ctr"/>
            <a:r>
              <a:rPr lang="en-US" sz="1800" b="1">
                <a:solidFill>
                  <a:srgbClr val="FFFFFF"/>
                </a:solidFill>
                <a:latin typeface="Segoe Sans Display"/>
              </a:rPr>
              <a:t>2</a:t>
            </a:r>
          </a:p>
        </p:txBody>
      </p:sp>
      <p:sp>
        <p:nvSpPr>
          <p:cNvPr id="5" name="Shape"/>
          <p:cNvSpPr/>
          <p:nvPr/>
        </p:nvSpPr>
        <p:spPr>
          <a:xfrm>
            <a:off x="685800" y="3920000"/>
            <a:ext cx="560000" cy="560000"/>
          </a:xfrm>
          <a:prstGeom prst="ellipse">
            <a:avLst/>
          </a:prstGeom>
          <a:solidFill>
            <a:srgbClr val="0F5257"/>
          </a:solidFill>
        </p:spPr>
        <p:txBody>
          <a:bodyPr anchor="ctr"/>
          <a:lstStyle/>
          <a:p>
            <a:pPr algn="ctr"/>
            <a:r>
              <a:rPr lang="en-US" sz="1800" b="1">
                <a:solidFill>
                  <a:srgbClr val="FFFFFF"/>
                </a:solidFill>
                <a:latin typeface="Segoe Sans Display"/>
              </a:rPr>
              <a:t>3</a:t>
            </a:r>
          </a:p>
        </p:txBody>
      </p:sp>
      <p:sp>
        <p:nvSpPr>
          <p:cNvPr id="6" name="Shape"/>
          <p:cNvSpPr/>
          <p:nvPr/>
        </p:nvSpPr>
        <p:spPr>
          <a:xfrm>
            <a:off x="685800" y="4970000"/>
            <a:ext cx="560000" cy="560000"/>
          </a:xfrm>
          <a:prstGeom prst="ellipse">
            <a:avLst/>
          </a:prstGeom>
          <a:solidFill>
            <a:srgbClr val="C2571A"/>
          </a:solidFill>
        </p:spPr>
        <p:txBody>
          <a:bodyPr anchor="ctr"/>
          <a:lstStyle/>
          <a:p>
            <a:pPr algn="ctr"/>
            <a:r>
              <a:rPr lang="en-US" sz="1800" b="1">
                <a:solidFill>
                  <a:srgbClr val="FFFFFF"/>
                </a:solidFill>
                <a:latin typeface="Segoe Sans Display"/>
              </a:rPr>
              <a:t>4</a:t>
            </a:r>
          </a:p>
        </p:txBody>
      </p:sp>
      <p:sp>
        <p:nvSpPr>
          <p:cNvPr id="7" name="TextBox"/>
          <p:cNvSpPr txBox="1"/>
          <p:nvPr/>
        </p:nvSpPr>
        <p:spPr>
          <a:xfrm>
            <a:off x="1480000" y="1780000"/>
            <a:ext cx="9800000" cy="950000"/>
          </a:xfrm>
          <a:prstGeom prst="rect">
            <a:avLst/>
          </a:prstGeo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sz="1800" b="1">
                <a:solidFill>
                  <a:srgbClr val="0F5257"/>
                </a:solidFill>
                <a:latin typeface="Segoe Sans Display"/>
              </a:rPr>
              <a:t>Tier 1 — Sourced
Logged work or touch time taken straight from the record. Use when the field is populated and exportable.</a:t>
            </a:r>
            <a:endParaRPr lang="en-US" sz="1500">
              <a:solidFill>
                <a:srgbClr val="5C6B6E"/>
              </a:solidFill>
              <a:latin typeface="Segoe Sans Display"/>
            </a:endParaRPr>
          </a:p>
        </p:txBody>
      </p:sp>
      <p:sp>
        <p:nvSpPr>
          <p:cNvPr id="8" name="TextBox"/>
          <p:cNvSpPr txBox="1"/>
          <p:nvPr/>
        </p:nvSpPr>
        <p:spPr>
          <a:xfrm>
            <a:off x="1480000" y="2830000"/>
            <a:ext cx="9800000" cy="950000"/>
          </a:xfrm>
          <a:prstGeom prst="rect">
            <a:avLst/>
          </a:prstGeo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sz="1800" b="1">
                <a:solidFill>
                  <a:srgbClr val="0F5257"/>
                </a:solidFill>
                <a:latin typeface="Segoe Sans Display"/>
              </a:rPr>
              <a:t>Tier 2 — Measured sample
A time study: three to five handlers time twenty cases each in the mapped categories. Use when the field exists but is empty or unreliable.</a:t>
            </a:r>
            <a:endParaRPr sz="1500">
              <a:solidFill>
                <a:srgbClr val="5C6B6E"/>
              </a:solidFill>
              <a:latin typeface="Calibri"/>
            </a:endParaRPr>
          </a:p>
        </p:txBody>
      </p:sp>
      <p:sp>
        <p:nvSpPr>
          <p:cNvPr id="9" name="TextBox"/>
          <p:cNvSpPr txBox="1"/>
          <p:nvPr/>
        </p:nvSpPr>
        <p:spPr>
          <a:xfrm>
            <a:off x="1480000" y="3880000"/>
            <a:ext cx="9800000" cy="950000"/>
          </a:xfrm>
          <a:prstGeom prst="rect">
            <a:avLst/>
          </a:prstGeo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sz="1800" b="1">
                <a:solidFill>
                  <a:srgbClr val="0F5257"/>
                </a:solidFill>
                <a:latin typeface="Segoe Sans Display"/>
              </a:rPr>
              <a:t>Tier 3 — Estimated
A queue owner estimate, documented and signed. Use when there is no timing data and no capacity to run a study.</a:t>
            </a:r>
            <a:endParaRPr lang="en-US" sz="1500">
              <a:solidFill>
                <a:srgbClr val="5C6B6E"/>
              </a:solidFill>
              <a:latin typeface="Segoe Sans Display"/>
            </a:endParaRPr>
          </a:p>
        </p:txBody>
      </p:sp>
      <p:sp>
        <p:nvSpPr>
          <p:cNvPr id="10" name="TextBox"/>
          <p:cNvSpPr txBox="1"/>
          <p:nvPr/>
        </p:nvSpPr>
        <p:spPr>
          <a:xfrm>
            <a:off x="1480000" y="4930000"/>
            <a:ext cx="9800000" cy="950000"/>
          </a:xfrm>
          <a:prstGeom prst="rect">
            <a:avLst/>
          </a:prstGeo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sz="1800" b="1">
                <a:solidFill>
                  <a:srgbClr val="C2571A"/>
                </a:solidFill>
                <a:latin typeface="Segoe Sans Display"/>
              </a:rPr>
              <a:t>Tier 4 — Benchmark
A published benchmark for the category, used only when nothing internal exists. Any value below Tier 1 is reported as estimated, never as sourced — record the tier beside every value you enter.</a:t>
            </a:r>
            <a:endParaRPr lang="en-US" sz="1500">
              <a:solidFill>
                <a:srgbClr val="5C6B6E"/>
              </a:solidFill>
              <a:latin typeface="Segoe Sans Display"/>
            </a:endParaRPr>
          </a:p>
        </p:txBody>
      </p:sp>
    </p:spTree>
    <p:extLst>
      <p:ext uri="{BB962C8B-B14F-4D97-AF65-F5344CB8AC3E}">
        <p14:creationId xmlns:p14="http://schemas.microsoft.com/office/powerpoint/2010/main" val="13716158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"/>
          <p:cNvSpPr txBox="1"/>
          <p:nvPr/>
        </p:nvSpPr>
        <p:spPr>
          <a:xfrm>
            <a:off x="685800" y="548640"/>
            <a:ext cx="10820400" cy="1000000"/>
          </a:xfrm>
          <a:prstGeom prst="rect">
            <a:avLst/>
          </a:prstGeom>
        </p:spPr>
        <p:txBody>
          <a:bodyPr/>
          <a:lstStyle/>
          <a:p>
            <a:r>
              <a:rPr lang="en-US" sz="2800" b="1">
                <a:solidFill>
                  <a:srgbClr val="12262A"/>
                </a:solidFill>
                <a:latin typeface="Segoe Sans Display"/>
              </a:rPr>
              <a:t>Classify from the exported category list</a:t>
            </a:r>
          </a:p>
        </p:txBody>
      </p:sp>
      <p:sp>
        <p:nvSpPr>
          <p:cNvPr id="3" name="Shape"/>
          <p:cNvSpPr/>
          <p:nvPr/>
        </p:nvSpPr>
        <p:spPr>
          <a:xfrm>
            <a:off x="685800" y="1820000"/>
            <a:ext cx="560000" cy="560000"/>
          </a:xfrm>
          <a:prstGeom prst="ellipse">
            <a:avLst/>
          </a:prstGeom>
          <a:solidFill>
            <a:srgbClr val="0F5257"/>
          </a:solidFill>
        </p:spPr>
        <p:txBody>
          <a:bodyPr anchor="ctr"/>
          <a:lstStyle/>
          <a:p>
            <a:pPr algn="ctr"/>
            <a:r>
              <a:rPr lang="en-US" sz="1800" b="1">
                <a:solidFill>
                  <a:srgbClr val="FFFFFF"/>
                </a:solidFill>
                <a:latin typeface="Segoe Sans Display"/>
              </a:rPr>
              <a:t>1</a:t>
            </a:r>
          </a:p>
        </p:txBody>
      </p:sp>
      <p:sp>
        <p:nvSpPr>
          <p:cNvPr id="4" name="Shape"/>
          <p:cNvSpPr/>
          <p:nvPr/>
        </p:nvSpPr>
        <p:spPr>
          <a:xfrm>
            <a:off x="685800" y="2870000"/>
            <a:ext cx="560000" cy="560000"/>
          </a:xfrm>
          <a:prstGeom prst="ellipse">
            <a:avLst/>
          </a:prstGeom>
          <a:solidFill>
            <a:srgbClr val="0F5257"/>
          </a:solidFill>
        </p:spPr>
        <p:txBody>
          <a:bodyPr anchor="ctr"/>
          <a:lstStyle/>
          <a:p>
            <a:pPr algn="ctr"/>
            <a:r>
              <a:rPr lang="en-US" sz="1800" b="1">
                <a:solidFill>
                  <a:srgbClr val="FFFFFF"/>
                </a:solidFill>
                <a:latin typeface="Segoe Sans Display"/>
              </a:rPr>
              <a:t>2</a:t>
            </a:r>
          </a:p>
        </p:txBody>
      </p:sp>
      <p:sp>
        <p:nvSpPr>
          <p:cNvPr id="5" name="Shape"/>
          <p:cNvSpPr/>
          <p:nvPr/>
        </p:nvSpPr>
        <p:spPr>
          <a:xfrm>
            <a:off x="685800" y="3920000"/>
            <a:ext cx="560000" cy="560000"/>
          </a:xfrm>
          <a:prstGeom prst="ellipse">
            <a:avLst/>
          </a:prstGeom>
          <a:solidFill>
            <a:srgbClr val="0F5257"/>
          </a:solidFill>
        </p:spPr>
        <p:txBody>
          <a:bodyPr anchor="ctr"/>
          <a:lstStyle/>
          <a:p>
            <a:pPr algn="ctr"/>
            <a:r>
              <a:rPr lang="en-US" sz="1800" b="1">
                <a:solidFill>
                  <a:srgbClr val="FFFFFF"/>
                </a:solidFill>
                <a:latin typeface="Segoe Sans Display"/>
              </a:rPr>
              <a:t>3</a:t>
            </a:r>
          </a:p>
        </p:txBody>
      </p:sp>
      <p:sp>
        <p:nvSpPr>
          <p:cNvPr id="6" name="Shape"/>
          <p:cNvSpPr/>
          <p:nvPr/>
        </p:nvSpPr>
        <p:spPr>
          <a:xfrm>
            <a:off x="685800" y="4970000"/>
            <a:ext cx="560000" cy="560000"/>
          </a:xfrm>
          <a:prstGeom prst="ellipse">
            <a:avLst/>
          </a:prstGeom>
          <a:solidFill>
            <a:srgbClr val="C2571A"/>
          </a:solidFill>
        </p:spPr>
        <p:txBody>
          <a:bodyPr anchor="ctr"/>
          <a:lstStyle/>
          <a:p>
            <a:pPr algn="ctr"/>
            <a:r>
              <a:rPr lang="en-US" sz="1800" b="1">
                <a:solidFill>
                  <a:srgbClr val="FFFFFF"/>
                </a:solidFill>
                <a:latin typeface="Segoe Sans Display"/>
              </a:rPr>
              <a:t>4</a:t>
            </a:r>
          </a:p>
        </p:txBody>
      </p:sp>
      <p:sp>
        <p:nvSpPr>
          <p:cNvPr id="7" name="TextBox"/>
          <p:cNvSpPr txBox="1"/>
          <p:nvPr/>
        </p:nvSpPr>
        <p:spPr>
          <a:xfrm>
            <a:off x="1480000" y="1780000"/>
            <a:ext cx="9800000" cy="950000"/>
          </a:xfrm>
          <a:prstGeom prst="rect">
            <a:avLst/>
          </a:prstGeo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sz="1800" b="1">
                <a:solidFill>
                  <a:srgbClr val="0F5257"/>
                </a:solidFill>
                <a:latin typeface="Segoe Sans Display"/>
              </a:rPr>
              <a:t>Export the real values</a:t>
            </a:r>
          </a:p>
          <a:p>
            <a:r>
              <a:rPr lang="en-US" sz="1500">
                <a:solidFill>
                  <a:srgbClr val="5C6B6E"/>
                </a:solidFill>
                <a:latin typeface="Segoe Sans Display"/>
              </a:rPr>
              <a:t>Pull the live category, subcategory and topic list from the system. Vendor defaults are almost always </a:t>
            </a:r>
            <a:r>
              <a:rPr lang="en-US" sz="1500" err="1">
                <a:solidFill>
                  <a:srgbClr val="5C6B6E"/>
                </a:solidFill>
                <a:latin typeface="Segoe Sans Display"/>
              </a:rPr>
              <a:t>customised</a:t>
            </a:r>
            <a:r>
              <a:rPr lang="en-US" sz="1500">
                <a:solidFill>
                  <a:srgbClr val="5C6B6E"/>
                </a:solidFill>
                <a:latin typeface="Segoe Sans Display"/>
              </a:rPr>
              <a:t>.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1480000" y="2830000"/>
            <a:ext cx="9800000" cy="950000"/>
          </a:xfrm>
          <a:prstGeom prst="rect">
            <a:avLst/>
          </a:prstGeo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sz="1800" b="1">
                <a:solidFill>
                  <a:srgbClr val="0F5257"/>
                </a:solidFill>
                <a:latin typeface="Segoe Sans Display"/>
              </a:rPr>
              <a:t>Expect many categories to one topic </a:t>
            </a:r>
            <a:endParaRPr sz="1800" b="1">
              <a:solidFill>
                <a:srgbClr val="0F5257"/>
              </a:solidFill>
              <a:latin typeface="Trebuchet MS"/>
            </a:endParaRPr>
          </a:p>
          <a:p>
            <a:r>
              <a:rPr lang="en-US" sz="1500">
                <a:solidFill>
                  <a:srgbClr val="5C6B6E"/>
                </a:solidFill>
                <a:latin typeface="Segoe Sans Display"/>
              </a:rPr>
              <a:t>One agent topic usually maps to several ticket categories (e.g., vacation, PTO, time off, leave of absence (in service request) </a:t>
            </a:r>
            <a:r>
              <a:rPr lang="en-US" sz="1500">
                <a:solidFill>
                  <a:srgbClr val="5C6B6E"/>
                </a:solidFill>
                <a:latin typeface="Calibri"/>
                <a:sym typeface="Wingdings" panose="05000000000000000000" pitchFamily="2" charset="2"/>
              </a:rPr>
              <a:t> PTO)</a:t>
            </a:r>
            <a:endParaRPr sz="1500">
              <a:solidFill>
                <a:srgbClr val="5C6B6E"/>
              </a:solidFill>
              <a:latin typeface="Calibri"/>
            </a:endParaRPr>
          </a:p>
        </p:txBody>
      </p:sp>
      <p:sp>
        <p:nvSpPr>
          <p:cNvPr id="9" name="TextBox"/>
          <p:cNvSpPr txBox="1"/>
          <p:nvPr/>
        </p:nvSpPr>
        <p:spPr>
          <a:xfrm>
            <a:off x="1480000" y="3880000"/>
            <a:ext cx="9800000" cy="950000"/>
          </a:xfrm>
          <a:prstGeom prst="rect">
            <a:avLst/>
          </a:prstGeo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sz="1800" b="1">
                <a:solidFill>
                  <a:srgbClr val="0F5257"/>
                </a:solidFill>
                <a:latin typeface="Segoe Sans Display"/>
              </a:rPr>
              <a:t>Read a sample before you trust it</a:t>
            </a:r>
          </a:p>
          <a:p>
            <a:r>
              <a:rPr lang="en-US" sz="1500">
                <a:solidFill>
                  <a:srgbClr val="5C6B6E"/>
                </a:solidFill>
                <a:latin typeface="Segoe Sans Display"/>
              </a:rPr>
              <a:t>Open twenty records per mapped category and confirm they are the same request the agent answered.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1480000" y="4930000"/>
            <a:ext cx="9800000" cy="950000"/>
          </a:xfrm>
          <a:prstGeom prst="rect">
            <a:avLst/>
          </a:prstGeo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sz="1800" b="1">
                <a:solidFill>
                  <a:srgbClr val="C2571A"/>
                </a:solidFill>
                <a:latin typeface="Segoe Sans Display"/>
              </a:rPr>
              <a:t>Have the queue owner sign the map</a:t>
            </a:r>
          </a:p>
          <a:p>
            <a:r>
              <a:rPr lang="en-US" sz="1500">
                <a:solidFill>
                  <a:srgbClr val="5C6B6E"/>
                </a:solidFill>
                <a:latin typeface="Segoe Sans Display"/>
              </a:rPr>
              <a:t>No averaging starts until the person who owns the queue agrees the mapping is right.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"/>
          <p:cNvSpPr txBox="1"/>
          <p:nvPr/>
        </p:nvSpPr>
        <p:spPr>
          <a:xfrm>
            <a:off x="685800" y="548640"/>
            <a:ext cx="10820400" cy="1000000"/>
          </a:xfrm>
          <a:prstGeom prst="rect">
            <a:avLst/>
          </a:prstGeom>
        </p:spPr>
        <p:txBody>
          <a:bodyPr/>
          <a:lstStyle/>
          <a:p>
            <a:r>
              <a:rPr lang="en-US" sz="2800" b="1">
                <a:solidFill>
                  <a:srgbClr val="12262A"/>
                </a:solidFill>
                <a:latin typeface="Segoe Sans Display"/>
              </a:rPr>
              <a:t>Group the tenant's topics into families, then map each family to its records</a:t>
            </a:r>
          </a:p>
        </p:txBody>
      </p:sp>
      <p:graphicFrame>
        <p:nvGraphicFramePr>
          <p:cNvPr id="3" name="Table"/>
          <p:cNvGraphicFramePr/>
          <p:nvPr>
            <p:extLst>
              <p:ext uri="{D42A27DB-BD31-4B8C-83A1-F6EECF244321}">
                <p14:modId xmlns:p14="http://schemas.microsoft.com/office/powerpoint/2010/main" val="2699062919"/>
              </p:ext>
            </p:extLst>
          </p:nvPr>
        </p:nvGraphicFramePr>
        <p:xfrm>
          <a:off x="685800" y="1720000"/>
          <a:ext cx="10820400" cy="3580388"/>
        </p:xfrm>
        <a:graphic>
          <a:graphicData uri="http://schemas.openxmlformats.org/drawingml/2006/table">
            <a:tbl>
              <a:tblPr/>
              <a:tblGrid>
                <a:gridCol w="2705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5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5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5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1428">
                <a:tc>
                  <a:txBody>
                    <a:bodyPr/>
                    <a:lstStyle/>
                    <a:p>
                      <a:r>
                        <a:rPr lang="en-US" sz="1500" b="1">
                          <a:solidFill>
                            <a:srgbClr val="FFFFFF"/>
                          </a:solidFill>
                          <a:latin typeface="Segoe Sans Display"/>
                        </a:rPr>
                        <a:t>Topic family</a:t>
                      </a:r>
                    </a:p>
                  </a:txBody>
                  <a:tcPr>
                    <a:solidFill>
                      <a:srgbClr val="0F52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>
                          <a:solidFill>
                            <a:srgbClr val="FFFFFF"/>
                          </a:solidFill>
                          <a:latin typeface="Segoe Sans Display"/>
                        </a:rPr>
                        <a:t>Example topics</a:t>
                      </a:r>
                    </a:p>
                  </a:txBody>
                  <a:tcPr>
                    <a:solidFill>
                      <a:srgbClr val="0F52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>
                          <a:solidFill>
                            <a:srgbClr val="FFFFFF"/>
                          </a:solidFill>
                          <a:latin typeface="Segoe Sans Display"/>
                        </a:rPr>
                        <a:t>Where the records live</a:t>
                      </a:r>
                    </a:p>
                  </a:txBody>
                  <a:tcPr>
                    <a:solidFill>
                      <a:srgbClr val="0F52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>
                          <a:solidFill>
                            <a:srgbClr val="FFFFFF"/>
                          </a:solidFill>
                          <a:latin typeface="Segoe Sans Display"/>
                        </a:rPr>
                        <a:t>Owner</a:t>
                      </a:r>
                    </a:p>
                  </a:txBody>
                  <a:tcPr>
                    <a:solidFill>
                      <a:srgbClr val="0F52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1428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0F5257"/>
                          </a:solidFill>
                          <a:latin typeface="Segoe Sans Display"/>
                        </a:rPr>
                        <a:t>IT identity and access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2262A"/>
                          </a:solidFill>
                          <a:latin typeface="Segoe Sans Display"/>
                        </a:rPr>
                        <a:t>Password reset, MFA, lockout, app access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2262A"/>
                          </a:solidFill>
                          <a:latin typeface="Segoe Sans Display"/>
                        </a:rPr>
                        <a:t>ITSM plus IAM and Entra logs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2262A"/>
                          </a:solidFill>
                          <a:latin typeface="Segoe Sans Display"/>
                        </a:rPr>
                        <a:t>Service Desk, IAM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1428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0F5257"/>
                          </a:solidFill>
                          <a:latin typeface="Segoe Sans Display"/>
                        </a:rPr>
                        <a:t>IT endpoint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2262A"/>
                          </a:solidFill>
                          <a:latin typeface="Segoe Sans Display"/>
                        </a:rPr>
                        <a:t>Device issue, VPN, hardware, peripherals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2262A"/>
                          </a:solidFill>
                          <a:latin typeface="Segoe Sans Display"/>
                        </a:rPr>
                        <a:t>ITSM plus endpoint and asset tools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2262A"/>
                          </a:solidFill>
                          <a:latin typeface="Segoe Sans Display"/>
                        </a:rPr>
                        <a:t>Endpoint Support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1428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0F5257"/>
                          </a:solidFill>
                          <a:latin typeface="Segoe Sans Display"/>
                        </a:rPr>
                        <a:t>IT application 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2262A"/>
                          </a:solidFill>
                          <a:latin typeface="Segoe Sans Display"/>
                        </a:rPr>
                        <a:t>App access, error, licence, configuration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>
                          <a:solidFill>
                            <a:srgbClr val="12262A"/>
                          </a:solidFill>
                          <a:latin typeface="Segoe Sans Display"/>
                        </a:rPr>
                        <a:t>ITSM plus app admin logs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2262A"/>
                          </a:solidFill>
                          <a:latin typeface="Segoe Sans Display"/>
                        </a:rPr>
                        <a:t>Application Support, app owners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1428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0F5257"/>
                          </a:solidFill>
                          <a:latin typeface="Segoe Sans Display"/>
                        </a:rPr>
                        <a:t>HR informational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2262A"/>
                          </a:solidFill>
                          <a:latin typeface="Segoe Sans Display"/>
                        </a:rPr>
                        <a:t>PTO policy, holiday calendar, workplace policy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2262A"/>
                          </a:solidFill>
                          <a:latin typeface="Segoe Sans Display"/>
                        </a:rPr>
                        <a:t>HR case and knowledge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2262A"/>
                          </a:solidFill>
                          <a:latin typeface="Segoe Sans Display"/>
                        </a:rPr>
                        <a:t>HR Shared Services, policy owners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1428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0F5257"/>
                          </a:solidFill>
                          <a:latin typeface="Segoe Sans Display"/>
                        </a:rPr>
                        <a:t>Benefits administration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2262A"/>
                          </a:solidFill>
                          <a:latin typeface="Segoe Sans Display"/>
                        </a:rPr>
                        <a:t>Eligibility, enrollment, life event, coverage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2262A"/>
                          </a:solidFill>
                          <a:latin typeface="Segoe Sans Display"/>
                        </a:rPr>
                        <a:t>Benefits admin, HR case, vendor portal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2262A"/>
                          </a:solidFill>
                          <a:latin typeface="Segoe Sans Display"/>
                        </a:rPr>
                        <a:t>Benefits COE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1428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0F5257"/>
                          </a:solidFill>
                          <a:latin typeface="Segoe Sans Display"/>
                        </a:rPr>
                        <a:t>Payroll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2262A"/>
                          </a:solidFill>
                          <a:latin typeface="Segoe Sans Display"/>
                        </a:rPr>
                        <a:t>Discrepancy, tax, direct deposit, paystub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2262A"/>
                          </a:solidFill>
                          <a:latin typeface="Segoe Sans Display"/>
                        </a:rPr>
                        <a:t>Payroll platform plus HR case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2262A"/>
                          </a:solidFill>
                          <a:latin typeface="Segoe Sans Display"/>
                        </a:rPr>
                        <a:t>Payroll Operations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Box"/>
          <p:cNvSpPr txBox="1"/>
          <p:nvPr/>
        </p:nvSpPr>
        <p:spPr>
          <a:xfrm>
            <a:off x="685800" y="5480000"/>
            <a:ext cx="10820400" cy="400000"/>
          </a:xfrm>
          <a:prstGeom prst="rect">
            <a:avLst/>
          </a:prstGeom>
        </p:spPr>
        <p:txBody>
          <a:bodyPr/>
          <a:lstStyle/>
          <a:p>
            <a:r>
              <a:rPr lang="en-US" sz="1400" i="1">
                <a:solidFill>
                  <a:srgbClr val="5C6B6E"/>
                </a:solidFill>
                <a:latin typeface="Segoe Sans Display"/>
              </a:rPr>
              <a:t>Families and example topics follow the Customer-Derived AHT Methodology. Sort the tenant's own agent topics into these families first.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"/>
          <p:cNvSpPr txBox="1"/>
          <p:nvPr/>
        </p:nvSpPr>
        <p:spPr>
          <a:xfrm>
            <a:off x="685800" y="548640"/>
            <a:ext cx="10820400" cy="1000000"/>
          </a:xfrm>
          <a:prstGeom prst="rect">
            <a:avLst/>
          </a:prstGeom>
        </p:spPr>
        <p:txBody>
          <a:bodyPr/>
          <a:lstStyle/>
          <a:p>
            <a:r>
              <a:rPr lang="en-US" sz="2800" b="1">
                <a:solidFill>
                  <a:srgbClr val="12262A"/>
                </a:solidFill>
                <a:latin typeface="Segoe Sans Display"/>
              </a:rPr>
              <a:t>Typical fields and their proxies for time savings</a:t>
            </a:r>
            <a:endParaRPr sz="2800" b="1">
              <a:solidFill>
                <a:srgbClr val="12262A"/>
              </a:solidFill>
              <a:latin typeface="Trebuchet MS"/>
            </a:endParaRPr>
          </a:p>
        </p:txBody>
      </p:sp>
      <p:graphicFrame>
        <p:nvGraphicFramePr>
          <p:cNvPr id="3" name="Table"/>
          <p:cNvGraphicFramePr/>
          <p:nvPr>
            <p:extLst>
              <p:ext uri="{D42A27DB-BD31-4B8C-83A1-F6EECF244321}">
                <p14:modId xmlns:p14="http://schemas.microsoft.com/office/powerpoint/2010/main" val="2749346109"/>
              </p:ext>
            </p:extLst>
          </p:nvPr>
        </p:nvGraphicFramePr>
        <p:xfrm>
          <a:off x="741348" y="1800393"/>
          <a:ext cx="4719416" cy="2554480"/>
        </p:xfrm>
        <a:graphic>
          <a:graphicData uri="http://schemas.openxmlformats.org/drawingml/2006/table">
            <a:tbl>
              <a:tblPr/>
              <a:tblGrid>
                <a:gridCol w="23597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97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0000">
                <a:tc>
                  <a:txBody>
                    <a:bodyPr/>
                    <a:lstStyle/>
                    <a:p>
                      <a:r>
                        <a:rPr lang="en-US" sz="1500" b="1">
                          <a:solidFill>
                            <a:srgbClr val="FFFFFF"/>
                          </a:solidFill>
                          <a:latin typeface="Segoe Sans Display"/>
                        </a:rPr>
                        <a:t>Metric</a:t>
                      </a:r>
                    </a:p>
                  </a:txBody>
                  <a:tcPr>
                    <a:solidFill>
                      <a:srgbClr val="0F52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>
                          <a:solidFill>
                            <a:srgbClr val="FFFFFF"/>
                          </a:solidFill>
                          <a:latin typeface="Segoe Sans Display"/>
                        </a:rPr>
                        <a:t>What it measures</a:t>
                      </a:r>
                    </a:p>
                  </a:txBody>
                  <a:tcPr>
                    <a:solidFill>
                      <a:srgbClr val="0F52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0F5257"/>
                          </a:solidFill>
                          <a:latin typeface="Segoe Sans Display"/>
                        </a:rPr>
                        <a:t>Active handle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2262A"/>
                          </a:solidFill>
                          <a:latin typeface="Segoe Sans Display"/>
                        </a:rPr>
                        <a:t>Agent actively working the record, wrap-up included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0F5257"/>
                          </a:solidFill>
                          <a:latin typeface="Segoe Sans Display"/>
                        </a:rPr>
                        <a:t>Work or touch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2262A"/>
                          </a:solidFill>
                          <a:latin typeface="Segoe Sans Display"/>
                        </a:rPr>
                        <a:t>Sum of work entries across every handler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2262A"/>
                          </a:solidFill>
                          <a:latin typeface="Segoe Sans Display"/>
                        </a:rPr>
                        <a:t>Resolution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2262A"/>
                          </a:solidFill>
                          <a:latin typeface="Segoe Sans Display"/>
                        </a:rPr>
                        <a:t>Created to resolved, elapsed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2262A"/>
                          </a:solidFill>
                          <a:latin typeface="Segoe Sans Display"/>
                        </a:rPr>
                        <a:t>Cycle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2262A"/>
                          </a:solidFill>
                          <a:latin typeface="Segoe Sans Display"/>
                        </a:rPr>
                        <a:t>Request start to completion, end to end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Box"/>
          <p:cNvSpPr txBox="1"/>
          <p:nvPr/>
        </p:nvSpPr>
        <p:spPr>
          <a:xfrm>
            <a:off x="685800" y="5741384"/>
            <a:ext cx="10820400" cy="400000"/>
          </a:xfrm>
          <a:prstGeom prst="rect">
            <a:avLst/>
          </a:prstGeom>
        </p:spPr>
        <p:txBody>
          <a:bodyPr/>
          <a:lstStyle/>
          <a:p>
            <a:r>
              <a:rPr lang="en-US" sz="1400" i="1">
                <a:solidFill>
                  <a:srgbClr val="5C6B6E"/>
                </a:solidFill>
                <a:latin typeface="Segoe Sans Display"/>
              </a:rPr>
              <a:t>Take the median for the typical case and the average when planning capacity. Report the rejected metrics separately if the customer wants them.</a:t>
            </a:r>
          </a:p>
        </p:txBody>
      </p:sp>
      <p:sp>
        <p:nvSpPr>
          <p:cNvPr id="6" name="Shape">
            <a:extLst>
              <a:ext uri="{FF2B5EF4-FFF2-40B4-BE49-F238E27FC236}">
                <a16:creationId xmlns:a16="http://schemas.microsoft.com/office/drawing/2014/main" id="{6A79E651-EC90-BE10-DA07-26249D1FF3F3}"/>
              </a:ext>
            </a:extLst>
          </p:cNvPr>
          <p:cNvSpPr/>
          <p:nvPr/>
        </p:nvSpPr>
        <p:spPr>
          <a:xfrm>
            <a:off x="6522580" y="1720000"/>
            <a:ext cx="4300000" cy="2715267"/>
          </a:xfrm>
          <a:prstGeom prst="rect">
            <a:avLst/>
          </a:prstGeom>
          <a:solidFill>
            <a:srgbClr val="0F5257"/>
          </a:solidFill>
        </p:spPr>
        <p:txBody>
          <a:bodyPr/>
          <a:lstStyle/>
          <a:p>
            <a:endParaRPr/>
          </a:p>
        </p:txBody>
      </p:sp>
      <p:sp>
        <p:nvSpPr>
          <p:cNvPr id="8" name="TextBox">
            <a:extLst>
              <a:ext uri="{FF2B5EF4-FFF2-40B4-BE49-F238E27FC236}">
                <a16:creationId xmlns:a16="http://schemas.microsoft.com/office/drawing/2014/main" id="{C3F9A50D-EF1D-9E77-BB16-734282757815}"/>
              </a:ext>
            </a:extLst>
          </p:cNvPr>
          <p:cNvSpPr txBox="1"/>
          <p:nvPr/>
        </p:nvSpPr>
        <p:spPr>
          <a:xfrm>
            <a:off x="6836780" y="1980000"/>
            <a:ext cx="3700000" cy="400000"/>
          </a:xfrm>
          <a:prstGeom prst="rect">
            <a:avLst/>
          </a:prstGeom>
        </p:spPr>
        <p:txBody>
          <a:bodyPr wrap="none"/>
          <a:lstStyle/>
          <a:p>
            <a:r>
              <a:rPr lang="en-US" sz="1400" b="1">
                <a:solidFill>
                  <a:srgbClr val="E08A4A"/>
                </a:solidFill>
                <a:latin typeface="Segoe Sans Display"/>
              </a:rPr>
              <a:t>AVERAGE HANDLE TIME</a:t>
            </a:r>
          </a:p>
        </p:txBody>
      </p:sp>
      <p:sp>
        <p:nvSpPr>
          <p:cNvPr id="10" name="TextBox">
            <a:extLst>
              <a:ext uri="{FF2B5EF4-FFF2-40B4-BE49-F238E27FC236}">
                <a16:creationId xmlns:a16="http://schemas.microsoft.com/office/drawing/2014/main" id="{DD8F16E8-CF52-A8EB-0287-F6A993A35E9B}"/>
              </a:ext>
            </a:extLst>
          </p:cNvPr>
          <p:cNvSpPr txBox="1"/>
          <p:nvPr/>
        </p:nvSpPr>
        <p:spPr>
          <a:xfrm>
            <a:off x="6836780" y="2550000"/>
            <a:ext cx="3700000" cy="1600000"/>
          </a:xfrm>
          <a:prstGeom prst="rect">
            <a:avLst/>
          </a:prstGeom>
        </p:spPr>
        <p:txBody>
          <a:bodyPr/>
          <a:lstStyle/>
          <a:p>
            <a:pPr>
              <a:spcAft>
                <a:spcPts val="1200"/>
              </a:spcAft>
            </a:pPr>
            <a:r>
              <a:rPr lang="el-GR" sz="2000">
                <a:solidFill>
                  <a:srgbClr val="FFFFFF"/>
                </a:solidFill>
                <a:latin typeface="Segoe Sans Display"/>
              </a:rPr>
              <a:t>Σ </a:t>
            </a:r>
            <a:r>
              <a:rPr lang="en-US" sz="2000">
                <a:solidFill>
                  <a:srgbClr val="FFFFFF"/>
                </a:solidFill>
                <a:latin typeface="Segoe Sans Display"/>
              </a:rPr>
              <a:t>chosen metric</a:t>
            </a:r>
            <a:endParaRPr sz="2000">
              <a:solidFill>
                <a:srgbClr val="FFFFFF"/>
              </a:solidFill>
              <a:latin typeface="Calibri"/>
            </a:endParaRPr>
          </a:p>
          <a:p>
            <a:pPr>
              <a:spcAft>
                <a:spcPts val="1200"/>
              </a:spcAft>
            </a:pPr>
            <a:r>
              <a:rPr lang="en-US" sz="2000" b="1">
                <a:solidFill>
                  <a:srgbClr val="FFFFFF"/>
                </a:solidFill>
                <a:latin typeface="Segoe Sans Display"/>
              </a:rPr>
              <a:t>÷  matched resolved records</a:t>
            </a:r>
          </a:p>
        </p:txBody>
      </p:sp>
      <p:sp>
        <p:nvSpPr>
          <p:cNvPr id="12" name="TextBox">
            <a:extLst>
              <a:ext uri="{FF2B5EF4-FFF2-40B4-BE49-F238E27FC236}">
                <a16:creationId xmlns:a16="http://schemas.microsoft.com/office/drawing/2014/main" id="{445B987B-DB9B-8825-096D-8E911BBE187C}"/>
              </a:ext>
            </a:extLst>
          </p:cNvPr>
          <p:cNvSpPr txBox="1"/>
          <p:nvPr/>
        </p:nvSpPr>
        <p:spPr>
          <a:xfrm>
            <a:off x="6822580" y="3635000"/>
            <a:ext cx="3700000" cy="700000"/>
          </a:xfrm>
          <a:prstGeom prst="rect">
            <a:avLst/>
          </a:prstGeom>
        </p:spPr>
        <p:txBody>
          <a:bodyPr/>
          <a:lstStyle/>
          <a:p>
            <a:r>
              <a:rPr lang="en-US" sz="1400" i="1">
                <a:solidFill>
                  <a:srgbClr val="A9C4C2"/>
                </a:solidFill>
                <a:latin typeface="Segoe Sans Display"/>
              </a:rPr>
              <a:t>Report the median alongside it. A wide gap means the category is mixing two kinds of work.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"/>
          <p:cNvSpPr txBox="1"/>
          <p:nvPr/>
        </p:nvSpPr>
        <p:spPr>
          <a:xfrm>
            <a:off x="685800" y="548640"/>
            <a:ext cx="10820400" cy="1000000"/>
          </a:xfrm>
          <a:prstGeom prst="rect">
            <a:avLst/>
          </a:prstGeom>
        </p:spPr>
        <p:txBody>
          <a:bodyPr/>
          <a:lstStyle/>
          <a:p>
            <a:r>
              <a:rPr lang="en-US" sz="2800" b="1">
                <a:solidFill>
                  <a:srgbClr val="12262A"/>
                </a:solidFill>
                <a:latin typeface="Segoe Sans Display"/>
              </a:rPr>
              <a:t>Strip these records first, or the average will not survive review</a:t>
            </a:r>
          </a:p>
        </p:txBody>
      </p:sp>
      <p:sp>
        <p:nvSpPr>
          <p:cNvPr id="3" name="Shape"/>
          <p:cNvSpPr/>
          <p:nvPr/>
        </p:nvSpPr>
        <p:spPr>
          <a:xfrm>
            <a:off x="685800" y="1720000"/>
            <a:ext cx="3423920" cy="2050000"/>
          </a:xfrm>
          <a:prstGeom prst="rect">
            <a:avLst/>
          </a:prstGeom>
          <a:solidFill>
            <a:srgbClr val="F1F5F4"/>
          </a:solidFill>
        </p:spPr>
        <p:txBody>
          <a:bodyPr/>
          <a:lstStyle/>
          <a:p>
            <a:endParaRPr/>
          </a:p>
        </p:txBody>
      </p:sp>
      <p:sp>
        <p:nvSpPr>
          <p:cNvPr id="4" name="Shape"/>
          <p:cNvSpPr/>
          <p:nvPr/>
        </p:nvSpPr>
        <p:spPr>
          <a:xfrm>
            <a:off x="4384040" y="1720000"/>
            <a:ext cx="3423920" cy="2050000"/>
          </a:xfrm>
          <a:prstGeom prst="rect">
            <a:avLst/>
          </a:prstGeom>
          <a:solidFill>
            <a:srgbClr val="F1F5F4"/>
          </a:solidFill>
        </p:spPr>
        <p:txBody>
          <a:bodyPr/>
          <a:lstStyle/>
          <a:p>
            <a:endParaRPr/>
          </a:p>
        </p:txBody>
      </p:sp>
      <p:sp>
        <p:nvSpPr>
          <p:cNvPr id="5" name="Shape"/>
          <p:cNvSpPr/>
          <p:nvPr/>
        </p:nvSpPr>
        <p:spPr>
          <a:xfrm>
            <a:off x="8082280" y="1720000"/>
            <a:ext cx="3423920" cy="2050000"/>
          </a:xfrm>
          <a:prstGeom prst="rect">
            <a:avLst/>
          </a:prstGeom>
          <a:solidFill>
            <a:srgbClr val="F1F5F4"/>
          </a:solidFill>
        </p:spPr>
        <p:txBody>
          <a:bodyPr/>
          <a:lstStyle/>
          <a:p>
            <a:endParaRPr/>
          </a:p>
        </p:txBody>
      </p:sp>
      <p:sp>
        <p:nvSpPr>
          <p:cNvPr id="6" name="TextBox"/>
          <p:cNvSpPr txBox="1"/>
          <p:nvPr/>
        </p:nvSpPr>
        <p:spPr>
          <a:xfrm>
            <a:off x="960120" y="1980000"/>
            <a:ext cx="2880000" cy="1600000"/>
          </a:xfrm>
          <a:prstGeom prst="rect">
            <a:avLst/>
          </a:prstGeom>
        </p:spPr>
        <p:txBody>
          <a:bodyPr/>
          <a:lstStyle/>
          <a:p>
            <a:pPr>
              <a:spcAft>
                <a:spcPts val="800"/>
              </a:spcAft>
            </a:pPr>
            <a:r>
              <a:rPr lang="en-US" sz="1800" b="1">
                <a:solidFill>
                  <a:srgbClr val="0F5257"/>
                </a:solidFill>
                <a:latin typeface="Segoe Sans Display"/>
              </a:rPr>
              <a:t>Cancelled, duplicate, test</a:t>
            </a:r>
          </a:p>
          <a:p>
            <a:r>
              <a:rPr lang="en-US" sz="1500">
                <a:solidFill>
                  <a:srgbClr val="5C6B6E"/>
                </a:solidFill>
                <a:latin typeface="Segoe Sans Display"/>
              </a:rPr>
              <a:t>Records that never represented real handling work.</a:t>
            </a:r>
          </a:p>
        </p:txBody>
      </p:sp>
      <p:sp>
        <p:nvSpPr>
          <p:cNvPr id="7" name="TextBox"/>
          <p:cNvSpPr txBox="1"/>
          <p:nvPr/>
        </p:nvSpPr>
        <p:spPr>
          <a:xfrm>
            <a:off x="4658360" y="1980000"/>
            <a:ext cx="2880000" cy="1600000"/>
          </a:xfrm>
          <a:prstGeom prst="rect">
            <a:avLst/>
          </a:prstGeom>
        </p:spPr>
        <p:txBody>
          <a:bodyPr/>
          <a:lstStyle/>
          <a:p>
            <a:pPr>
              <a:spcAft>
                <a:spcPts val="800"/>
              </a:spcAft>
            </a:pPr>
            <a:r>
              <a:rPr lang="en-US" sz="1800" b="1">
                <a:solidFill>
                  <a:srgbClr val="0F5257"/>
                </a:solidFill>
                <a:latin typeface="Segoe Sans Display"/>
              </a:rPr>
              <a:t>Major incident spikes</a:t>
            </a:r>
          </a:p>
          <a:p>
            <a:r>
              <a:rPr lang="en-US" sz="1500">
                <a:solidFill>
                  <a:srgbClr val="5C6B6E"/>
                </a:solidFill>
                <a:latin typeface="Segoe Sans Display"/>
              </a:rPr>
              <a:t>Mass contacts from one outage distort a topic average.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8356600" y="1980000"/>
            <a:ext cx="2880000" cy="1600000"/>
          </a:xfrm>
          <a:prstGeom prst="rect">
            <a:avLst/>
          </a:prstGeom>
        </p:spPr>
        <p:txBody>
          <a:bodyPr/>
          <a:lstStyle/>
          <a:p>
            <a:pPr>
              <a:spcAft>
                <a:spcPts val="800"/>
              </a:spcAft>
            </a:pPr>
            <a:r>
              <a:rPr lang="en-US" sz="1800" b="1">
                <a:solidFill>
                  <a:srgbClr val="0F5257"/>
                </a:solidFill>
                <a:latin typeface="Segoe Sans Display"/>
              </a:rPr>
              <a:t>Already-automated completions</a:t>
            </a:r>
          </a:p>
          <a:p>
            <a:r>
              <a:rPr lang="en-US" sz="1500">
                <a:solidFill>
                  <a:srgbClr val="5C6B6E"/>
                </a:solidFill>
                <a:latin typeface="Segoe Sans Display"/>
              </a:rPr>
              <a:t>Self-service resets the customer ran before the agent arrived.</a:t>
            </a:r>
          </a:p>
        </p:txBody>
      </p:sp>
      <p:sp>
        <p:nvSpPr>
          <p:cNvPr id="9" name="Shape"/>
          <p:cNvSpPr/>
          <p:nvPr/>
        </p:nvSpPr>
        <p:spPr>
          <a:xfrm>
            <a:off x="685800" y="4100000"/>
            <a:ext cx="10820400" cy="1350000"/>
          </a:xfrm>
          <a:prstGeom prst="rect">
            <a:avLst/>
          </a:prstGeom>
          <a:solidFill>
            <a:srgbClr val="FBEDE2"/>
          </a:solidFill>
        </p:spPr>
        <p:txBody>
          <a:bodyPr/>
          <a:lstStyle/>
          <a:p>
            <a:endParaRPr/>
          </a:p>
        </p:txBody>
      </p:sp>
      <p:sp>
        <p:nvSpPr>
          <p:cNvPr id="10" name="TextBox"/>
          <p:cNvSpPr txBox="1"/>
          <p:nvPr/>
        </p:nvSpPr>
        <p:spPr>
          <a:xfrm>
            <a:off x="1000000" y="4320000"/>
            <a:ext cx="10200000" cy="950000"/>
          </a:xfrm>
          <a:prstGeom prst="rect">
            <a:avLst/>
          </a:prstGeom>
        </p:spPr>
        <p:txBody>
          <a:bodyPr/>
          <a:lstStyle/>
          <a:p>
            <a:pPr>
              <a:spcAft>
                <a:spcPts val="800"/>
              </a:spcAft>
            </a:pPr>
            <a:r>
              <a:rPr lang="en-US" sz="1800" b="1">
                <a:solidFill>
                  <a:srgbClr val="8A3B0C"/>
                </a:solidFill>
                <a:latin typeface="Segoe Sans Display"/>
              </a:rPr>
              <a:t>Hours to Close, full resolution time and SLA clocks are elapsed time, not handling work.</a:t>
            </a:r>
          </a:p>
          <a:p>
            <a:r>
              <a:rPr lang="en-US" sz="1600">
                <a:solidFill>
                  <a:srgbClr val="8A3B0C"/>
                </a:solidFill>
                <a:latin typeface="Segoe Sans Display"/>
              </a:rPr>
              <a:t>Using one of them in place of work time multiplies the value you enter several times over.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"/>
          <p:cNvSpPr txBox="1"/>
          <p:nvPr/>
        </p:nvSpPr>
        <p:spPr>
          <a:xfrm>
            <a:off x="685800" y="548640"/>
            <a:ext cx="10820400" cy="1000000"/>
          </a:xfrm>
          <a:prstGeom prst="rect">
            <a:avLst/>
          </a:prstGeom>
        </p:spPr>
        <p:txBody>
          <a:bodyPr/>
          <a:lstStyle/>
          <a:p>
            <a:r>
              <a:rPr lang="en-US" sz="2800" b="1">
                <a:solidFill>
                  <a:srgbClr val="12262A"/>
                </a:solidFill>
                <a:latin typeface="Segoe Sans Display"/>
              </a:rPr>
              <a:t>Two checks before the value leaves your hands</a:t>
            </a:r>
          </a:p>
        </p:txBody>
      </p:sp>
      <p:sp>
        <p:nvSpPr>
          <p:cNvPr id="3" name="Shape"/>
          <p:cNvSpPr/>
          <p:nvPr/>
        </p:nvSpPr>
        <p:spPr>
          <a:xfrm>
            <a:off x="685800" y="1820000"/>
            <a:ext cx="560000" cy="560000"/>
          </a:xfrm>
          <a:prstGeom prst="ellipse">
            <a:avLst/>
          </a:prstGeom>
          <a:solidFill>
            <a:srgbClr val="0F5257"/>
          </a:solidFill>
        </p:spPr>
        <p:txBody>
          <a:bodyPr anchor="ctr"/>
          <a:lstStyle/>
          <a:p>
            <a:pPr algn="ctr"/>
            <a:r>
              <a:rPr lang="en-US" sz="1800" b="1">
                <a:solidFill>
                  <a:srgbClr val="FFFFFF"/>
                </a:solidFill>
                <a:latin typeface="Segoe Sans Display"/>
              </a:rPr>
              <a:t>1</a:t>
            </a:r>
          </a:p>
        </p:txBody>
      </p:sp>
      <p:sp>
        <p:nvSpPr>
          <p:cNvPr id="4" name="Shape"/>
          <p:cNvSpPr/>
          <p:nvPr/>
        </p:nvSpPr>
        <p:spPr>
          <a:xfrm>
            <a:off x="685800" y="2870000"/>
            <a:ext cx="560000" cy="560000"/>
          </a:xfrm>
          <a:prstGeom prst="ellipse">
            <a:avLst/>
          </a:prstGeom>
          <a:solidFill>
            <a:srgbClr val="0F5257"/>
          </a:solidFill>
        </p:spPr>
        <p:txBody>
          <a:bodyPr anchor="ctr"/>
          <a:lstStyle/>
          <a:p>
            <a:pPr algn="ctr"/>
            <a:r>
              <a:rPr lang="en-US" sz="1800" b="1">
                <a:solidFill>
                  <a:srgbClr val="FFFFFF"/>
                </a:solidFill>
                <a:latin typeface="Segoe Sans Display"/>
              </a:rPr>
              <a:t>2</a:t>
            </a:r>
          </a:p>
        </p:txBody>
      </p:sp>
      <p:sp>
        <p:nvSpPr>
          <p:cNvPr id="5" name="Shape"/>
          <p:cNvSpPr/>
          <p:nvPr/>
        </p:nvSpPr>
        <p:spPr>
          <a:xfrm>
            <a:off x="685800" y="3920000"/>
            <a:ext cx="560000" cy="560000"/>
          </a:xfrm>
          <a:prstGeom prst="ellipse">
            <a:avLst/>
          </a:prstGeom>
          <a:solidFill>
            <a:srgbClr val="0F5257"/>
          </a:solidFill>
        </p:spPr>
        <p:txBody>
          <a:bodyPr anchor="ctr"/>
          <a:lstStyle/>
          <a:p>
            <a:pPr algn="ctr"/>
            <a:r>
              <a:rPr lang="en-US" sz="1800" b="1">
                <a:solidFill>
                  <a:srgbClr val="FFFFFF"/>
                </a:solidFill>
                <a:latin typeface="Segoe Sans Display"/>
              </a:rPr>
              <a:t>3</a:t>
            </a:r>
          </a:p>
        </p:txBody>
      </p:sp>
      <p:sp>
        <p:nvSpPr>
          <p:cNvPr id="6" name="Shape"/>
          <p:cNvSpPr/>
          <p:nvPr/>
        </p:nvSpPr>
        <p:spPr>
          <a:xfrm>
            <a:off x="685800" y="4970000"/>
            <a:ext cx="560000" cy="560000"/>
          </a:xfrm>
          <a:prstGeom prst="ellipse">
            <a:avLst/>
          </a:prstGeom>
          <a:solidFill>
            <a:srgbClr val="C2571A"/>
          </a:solidFill>
        </p:spPr>
        <p:txBody>
          <a:bodyPr anchor="ctr"/>
          <a:lstStyle/>
          <a:p>
            <a:pPr algn="ctr"/>
            <a:r>
              <a:rPr lang="en-US" sz="1800" b="1">
                <a:solidFill>
                  <a:srgbClr val="FFFFFF"/>
                </a:solidFill>
                <a:latin typeface="Segoe Sans Display"/>
              </a:rPr>
              <a:t>4</a:t>
            </a:r>
          </a:p>
        </p:txBody>
      </p:sp>
      <p:sp>
        <p:nvSpPr>
          <p:cNvPr id="7" name="TextBox"/>
          <p:cNvSpPr txBox="1"/>
          <p:nvPr/>
        </p:nvSpPr>
        <p:spPr>
          <a:xfrm>
            <a:off x="1480000" y="1780000"/>
            <a:ext cx="9800000" cy="950000"/>
          </a:xfrm>
          <a:prstGeom prst="rect">
            <a:avLst/>
          </a:prstGeo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sz="1800" b="1">
                <a:solidFill>
                  <a:srgbClr val="0F5257"/>
                </a:solidFill>
                <a:latin typeface="Segoe Sans Display"/>
              </a:rPr>
              <a:t>Minimum records
Below about thirty matched records, treat the result as indicative and label it estimated. The worked examples in this deck rest on 3,860 and 980 records — four tickets is an anecdote, not an average.</a:t>
            </a:r>
            <a:endParaRPr lang="en-US" sz="1500">
              <a:solidFill>
                <a:srgbClr val="5C6B6E"/>
              </a:solidFill>
              <a:latin typeface="Segoe Sans Display"/>
            </a:endParaRPr>
          </a:p>
        </p:txBody>
      </p:sp>
      <p:sp>
        <p:nvSpPr>
          <p:cNvPr id="8" name="TextBox"/>
          <p:cNvSpPr txBox="1"/>
          <p:nvPr/>
        </p:nvSpPr>
        <p:spPr>
          <a:xfrm>
            <a:off x="1480000" y="2830000"/>
            <a:ext cx="9800000" cy="950000"/>
          </a:xfrm>
          <a:prstGeom prst="rect">
            <a:avLst/>
          </a:prstGeo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sz="1800" b="1">
                <a:solidFill>
                  <a:srgbClr val="0F5257"/>
                </a:solidFill>
                <a:latin typeface="Segoe Sans Display"/>
              </a:rPr>
              <a:t>Plausibility band by topic family
Identity and access 4–10 min.  Endpoint and hardware 10–30.  Application access and support 8–20.  HR informational and policy 5–15.  Benefits administration 10–25.  Payroll discrepancy 15–35.</a:t>
            </a:r>
            <a:endParaRPr sz="1500">
              <a:solidFill>
                <a:srgbClr val="5C6B6E"/>
              </a:solidFill>
              <a:latin typeface="Calibri"/>
            </a:endParaRPr>
          </a:p>
        </p:txBody>
      </p:sp>
      <p:sp>
        <p:nvSpPr>
          <p:cNvPr id="9" name="TextBox"/>
          <p:cNvSpPr txBox="1"/>
          <p:nvPr/>
        </p:nvSpPr>
        <p:spPr>
          <a:xfrm>
            <a:off x="1480000" y="3880000"/>
            <a:ext cx="9800000" cy="950000"/>
          </a:xfrm>
          <a:prstGeom prst="rect">
            <a:avLst/>
          </a:prstGeo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sz="1800" b="1">
                <a:solidFill>
                  <a:srgbClr val="0F5257"/>
                </a:solidFill>
                <a:latin typeface="Segoe Sans Display"/>
              </a:rPr>
              <a:t>What an out-of-band number usually means
A password reset averaging forty-five minutes is almost always elapsed time that slipped past the filter on the previous slide. Re-check the metric before you re-check the mapping.</a:t>
            </a:r>
            <a:endParaRPr lang="en-US" sz="1500">
              <a:solidFill>
                <a:srgbClr val="5C6B6E"/>
              </a:solidFill>
              <a:latin typeface="Segoe Sans Display"/>
            </a:endParaRPr>
          </a:p>
        </p:txBody>
      </p:sp>
      <p:sp>
        <p:nvSpPr>
          <p:cNvPr id="10" name="TextBox"/>
          <p:cNvSpPr txBox="1"/>
          <p:nvPr/>
        </p:nvSpPr>
        <p:spPr>
          <a:xfrm>
            <a:off x="1480000" y="4930000"/>
            <a:ext cx="9800000" cy="950000"/>
          </a:xfrm>
          <a:prstGeom prst="rect">
            <a:avLst/>
          </a:prstGeo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sz="1800" b="1">
                <a:solidFill>
                  <a:srgbClr val="C2571A"/>
                </a:solidFill>
                <a:latin typeface="Segoe Sans Display"/>
              </a:rPr>
              <a:t>How to use the bands
Ranges are orientation only. A defended number outside the band is fine; an undefended one inside it is not.</a:t>
            </a:r>
            <a:endParaRPr lang="en-US" sz="1500">
              <a:solidFill>
                <a:srgbClr val="5C6B6E"/>
              </a:solidFill>
              <a:latin typeface="Segoe Sans Display"/>
            </a:endParaRPr>
          </a:p>
        </p:txBody>
      </p:sp>
    </p:spTree>
    <p:extLst>
      <p:ext uri="{BB962C8B-B14F-4D97-AF65-F5344CB8AC3E}">
        <p14:creationId xmlns:p14="http://schemas.microsoft.com/office/powerpoint/2010/main" val="1621077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"/>
          <p:cNvSpPr txBox="1"/>
          <p:nvPr/>
        </p:nvSpPr>
        <p:spPr>
          <a:xfrm>
            <a:off x="685800" y="548640"/>
            <a:ext cx="10820400" cy="1000000"/>
          </a:xfrm>
          <a:prstGeom prst="rect">
            <a:avLst/>
          </a:prstGeom>
        </p:spPr>
        <p:txBody>
          <a:bodyPr/>
          <a:lstStyle/>
          <a:p>
            <a:r>
              <a:rPr lang="en-US" sz="2800" b="1">
                <a:solidFill>
                  <a:srgbClr val="12262A"/>
                </a:solidFill>
                <a:latin typeface="Segoe Sans Display"/>
              </a:rPr>
              <a:t>Password reset: 3,860 usable records and 24,704 logged minutes give 6.4</a:t>
            </a:r>
          </a:p>
        </p:txBody>
      </p:sp>
      <p:graphicFrame>
        <p:nvGraphicFramePr>
          <p:cNvPr id="3" name="Table"/>
          <p:cNvGraphicFramePr/>
          <p:nvPr>
            <p:extLst>
              <p:ext uri="{D42A27DB-BD31-4B8C-83A1-F6EECF244321}">
                <p14:modId xmlns:p14="http://schemas.microsoft.com/office/powerpoint/2010/main" val="1131436013"/>
              </p:ext>
            </p:extLst>
          </p:nvPr>
        </p:nvGraphicFramePr>
        <p:xfrm>
          <a:off x="685800" y="1780000"/>
          <a:ext cx="6500000" cy="3600240"/>
        </p:xfrm>
        <a:graphic>
          <a:graphicData uri="http://schemas.openxmlformats.org/drawingml/2006/table">
            <a:tbl>
              <a:tblPr/>
              <a:tblGrid>
                <a:gridCol w="32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0000">
                <a:tc>
                  <a:txBody>
                    <a:bodyPr/>
                    <a:lstStyle/>
                    <a:p>
                      <a:r>
                        <a:rPr lang="en-US">
                          <a:latin typeface="Segoe Sans Display"/>
                        </a:rPr>
                        <a:t>Topic family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Segoe Sans Display"/>
                        </a:rPr>
                        <a:t>MFA, password reset, logged out, login issues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3675139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r>
                        <a:rPr lang="en-US">
                          <a:latin typeface="Segoe Sans Display"/>
                        </a:rPr>
                        <a:t>Matched resolved tickets,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Segoe Sans Display"/>
                        </a:rPr>
                        <a:t>4,120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r>
                        <a:rPr lang="en-US">
                          <a:latin typeface="Segoe Sans Display"/>
                        </a:rPr>
                        <a:t>Removed: cancelled, duplicate, outage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Segoe Sans Display"/>
                        </a:rPr>
                        <a:t>260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r>
                        <a:rPr lang="en-US">
                          <a:latin typeface="Segoe Sans Display"/>
                        </a:rPr>
                        <a:t>Records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Segoe Sans Display"/>
                        </a:rPr>
                        <a:t>3,860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r>
                        <a:rPr lang="en-US">
                          <a:latin typeface="Segoe Sans Display"/>
                        </a:rPr>
                        <a:t>Total logged work minutes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Segoe Sans Display"/>
                        </a:rPr>
                        <a:t>24,704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r>
                        <a:rPr lang="en-US" sz="1600" b="1">
                          <a:solidFill>
                            <a:srgbClr val="0F5257"/>
                          </a:solidFill>
                          <a:latin typeface="Segoe Sans Display"/>
                        </a:rPr>
                        <a:t>Value to enter</a:t>
                      </a:r>
                    </a:p>
                  </a:txBody>
                  <a:tcPr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solidFill>
                            <a:srgbClr val="0F5257"/>
                          </a:solidFill>
                          <a:latin typeface="Segoe Sans Display"/>
                        </a:rPr>
                        <a:t>6.4 min</a:t>
                      </a:r>
                    </a:p>
                  </a:txBody>
                  <a:tcPr>
                    <a:solidFill>
                      <a:srgbClr val="F1F5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Shape"/>
          <p:cNvSpPr/>
          <p:nvPr/>
        </p:nvSpPr>
        <p:spPr>
          <a:xfrm>
            <a:off x="7500000" y="1780000"/>
            <a:ext cx="4006200" cy="2800000"/>
          </a:xfrm>
          <a:prstGeom prst="rect">
            <a:avLst/>
          </a:prstGeom>
          <a:solidFill>
            <a:srgbClr val="0F5257"/>
          </a:solidFill>
        </p:spPr>
        <p:txBody>
          <a:bodyPr/>
          <a:lstStyle/>
          <a:p>
            <a:endParaRPr/>
          </a:p>
        </p:txBody>
      </p:sp>
      <p:sp>
        <p:nvSpPr>
          <p:cNvPr id="5" name="TextBox"/>
          <p:cNvSpPr txBox="1"/>
          <p:nvPr/>
        </p:nvSpPr>
        <p:spPr>
          <a:xfrm>
            <a:off x="7800000" y="2050000"/>
            <a:ext cx="3400000" cy="1300000"/>
          </a:xfrm>
          <a:prstGeom prst="rect">
            <a:avLst/>
          </a:prstGeom>
        </p:spPr>
        <p:txBody>
          <a:bodyPr wrap="none"/>
          <a:lstStyle/>
          <a:p>
            <a:r>
              <a:rPr lang="en-US" sz="7200" b="1">
                <a:solidFill>
                  <a:srgbClr val="FFFFFF"/>
                </a:solidFill>
                <a:latin typeface="Segoe Sans Display"/>
              </a:rPr>
              <a:t>6.4</a:t>
            </a:r>
          </a:p>
        </p:txBody>
      </p:sp>
      <p:sp>
        <p:nvSpPr>
          <p:cNvPr id="6" name="TextBox"/>
          <p:cNvSpPr txBox="1"/>
          <p:nvPr/>
        </p:nvSpPr>
        <p:spPr>
          <a:xfrm>
            <a:off x="7800000" y="3400000"/>
            <a:ext cx="3400000" cy="1000000"/>
          </a:xfrm>
          <a:prstGeom prst="rect">
            <a:avLst/>
          </a:prstGeom>
        </p:spPr>
        <p:txBody>
          <a:bodyPr/>
          <a:lstStyle/>
          <a:p>
            <a:r>
              <a:rPr lang="en-US" sz="1600">
                <a:solidFill>
                  <a:srgbClr val="A9C4C2"/>
                </a:solidFill>
                <a:latin typeface="Segoe Sans Display"/>
              </a:rPr>
              <a:t>minutes saved per ticket for this topic</a:t>
            </a:r>
          </a:p>
        </p:txBody>
      </p:sp>
      <p:sp>
        <p:nvSpPr>
          <p:cNvPr id="7" name="TextBox"/>
          <p:cNvSpPr txBox="1"/>
          <p:nvPr/>
        </p:nvSpPr>
        <p:spPr>
          <a:xfrm>
            <a:off x="604615" y="5607577"/>
            <a:ext cx="10820400" cy="900000"/>
          </a:xfrm>
          <a:prstGeom prst="rect">
            <a:avLst/>
          </a:prstGeo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sz="1400">
                <a:solidFill>
                  <a:srgbClr val="5C6B6E"/>
                </a:solidFill>
                <a:latin typeface="Segoe Sans Display"/>
              </a:rPr>
              <a:t>Source: ServiceNow ITSM incident records with </a:t>
            </a:r>
            <a:r>
              <a:rPr lang="en-US" sz="1400" err="1">
                <a:solidFill>
                  <a:srgbClr val="5C6B6E"/>
                </a:solidFill>
                <a:latin typeface="Segoe Sans Display"/>
              </a:rPr>
              <a:t>time_worked</a:t>
            </a:r>
            <a:r>
              <a:rPr lang="en-US" sz="1400">
                <a:solidFill>
                  <a:srgbClr val="5C6B6E"/>
                </a:solidFill>
                <a:latin typeface="Segoe Sans Display"/>
              </a:rPr>
              <a:t> entries, matched to the categories in the map.</a:t>
            </a:r>
          </a:p>
          <a:p>
            <a:r>
              <a:rPr lang="en-US" sz="1400" i="1">
                <a:solidFill>
                  <a:srgbClr val="5C6B6E"/>
                </a:solidFill>
                <a:latin typeface="Segoe Sans Display"/>
              </a:rPr>
              <a:t>Illustrative figures showing the method. Replace every one with the customer's own extract.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"/>
          <p:cNvSpPr txBox="1"/>
          <p:nvPr/>
        </p:nvSpPr>
        <p:spPr>
          <a:xfrm>
            <a:off x="685800" y="548640"/>
            <a:ext cx="10820400" cy="1000000"/>
          </a:xfrm>
          <a:prstGeom prst="rect">
            <a:avLst/>
          </a:prstGeom>
        </p:spPr>
        <p:txBody>
          <a:bodyPr/>
          <a:lstStyle/>
          <a:p>
            <a:r>
              <a:rPr lang="en-US" sz="2800" b="1">
                <a:solidFill>
                  <a:srgbClr val="12262A"/>
                </a:solidFill>
                <a:latin typeface="Segoe Sans Display"/>
              </a:rPr>
              <a:t>PTO policy: definition does the work, and 980 usable cases give 8.5</a:t>
            </a:r>
          </a:p>
        </p:txBody>
      </p:sp>
      <p:graphicFrame>
        <p:nvGraphicFramePr>
          <p:cNvPr id="3" name="Table"/>
          <p:cNvGraphicFramePr/>
          <p:nvPr>
            <p:extLst>
              <p:ext uri="{D42A27DB-BD31-4B8C-83A1-F6EECF244321}">
                <p14:modId xmlns:p14="http://schemas.microsoft.com/office/powerpoint/2010/main" val="672021918"/>
              </p:ext>
            </p:extLst>
          </p:nvPr>
        </p:nvGraphicFramePr>
        <p:xfrm>
          <a:off x="685800" y="1780000"/>
          <a:ext cx="6500000" cy="3600240"/>
        </p:xfrm>
        <a:graphic>
          <a:graphicData uri="http://schemas.openxmlformats.org/drawingml/2006/table">
            <a:tbl>
              <a:tblPr/>
              <a:tblGrid>
                <a:gridCol w="32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0000">
                <a:tc>
                  <a:txBody>
                    <a:bodyPr/>
                    <a:lstStyle/>
                    <a:p>
                      <a:r>
                        <a:rPr lang="en-US">
                          <a:latin typeface="Segoe Sans Display"/>
                        </a:rPr>
                        <a:t>Topic family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Segoe Sans Display"/>
                        </a:rPr>
                        <a:t>Leave, vacation, vacation balance, PTO, time off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0894308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r>
                        <a:rPr lang="en-US">
                          <a:latin typeface="Segoe Sans Display"/>
                        </a:rPr>
                        <a:t>Closed HR cases in mapped topics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Segoe Sans Display"/>
                        </a:rPr>
                        <a:t>1,240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r>
                        <a:rPr lang="en-US">
                          <a:latin typeface="Segoe Sans Display"/>
                        </a:rPr>
                        <a:t>Removed: balance lookups, transactions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Segoe Sans Display"/>
                        </a:rPr>
                        <a:t>260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r>
                        <a:rPr lang="en-US">
                          <a:latin typeface="Segoe Sans Display"/>
                        </a:rPr>
                        <a:t>Records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Segoe Sans Display"/>
                        </a:rPr>
                        <a:t>980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r>
                        <a:rPr lang="en-US">
                          <a:latin typeface="Segoe Sans Display"/>
                        </a:rPr>
                        <a:t>Total case work minutes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Segoe Sans Display"/>
                        </a:rPr>
                        <a:t>8,330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r>
                        <a:rPr lang="en-US" sz="1600" b="1">
                          <a:solidFill>
                            <a:srgbClr val="0F5257"/>
                          </a:solidFill>
                          <a:latin typeface="Segoe Sans Display"/>
                        </a:rPr>
                        <a:t>Value to enter</a:t>
                      </a:r>
                    </a:p>
                  </a:txBody>
                  <a:tcPr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solidFill>
                            <a:srgbClr val="0F5257"/>
                          </a:solidFill>
                          <a:latin typeface="Segoe Sans Display"/>
                        </a:rPr>
                        <a:t>8.5 min</a:t>
                      </a:r>
                    </a:p>
                  </a:txBody>
                  <a:tcPr>
                    <a:solidFill>
                      <a:srgbClr val="F1F5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Shape"/>
          <p:cNvSpPr/>
          <p:nvPr/>
        </p:nvSpPr>
        <p:spPr>
          <a:xfrm>
            <a:off x="7500000" y="1780000"/>
            <a:ext cx="4006200" cy="2800000"/>
          </a:xfrm>
          <a:prstGeom prst="rect">
            <a:avLst/>
          </a:prstGeom>
          <a:solidFill>
            <a:srgbClr val="0F5257"/>
          </a:solidFill>
        </p:spPr>
        <p:txBody>
          <a:bodyPr/>
          <a:lstStyle/>
          <a:p>
            <a:endParaRPr/>
          </a:p>
        </p:txBody>
      </p:sp>
      <p:sp>
        <p:nvSpPr>
          <p:cNvPr id="5" name="TextBox"/>
          <p:cNvSpPr txBox="1"/>
          <p:nvPr/>
        </p:nvSpPr>
        <p:spPr>
          <a:xfrm>
            <a:off x="7800000" y="2050000"/>
            <a:ext cx="3400000" cy="1300000"/>
          </a:xfrm>
          <a:prstGeom prst="rect">
            <a:avLst/>
          </a:prstGeom>
        </p:spPr>
        <p:txBody>
          <a:bodyPr wrap="none"/>
          <a:lstStyle/>
          <a:p>
            <a:r>
              <a:rPr lang="en-US" sz="7200" b="1">
                <a:solidFill>
                  <a:srgbClr val="FFFFFF"/>
                </a:solidFill>
                <a:latin typeface="Segoe Sans Display"/>
              </a:rPr>
              <a:t>8.5</a:t>
            </a:r>
          </a:p>
        </p:txBody>
      </p:sp>
      <p:sp>
        <p:nvSpPr>
          <p:cNvPr id="6" name="TextBox"/>
          <p:cNvSpPr txBox="1"/>
          <p:nvPr/>
        </p:nvSpPr>
        <p:spPr>
          <a:xfrm>
            <a:off x="7800000" y="3400000"/>
            <a:ext cx="3400000" cy="1000000"/>
          </a:xfrm>
          <a:prstGeom prst="rect">
            <a:avLst/>
          </a:prstGeom>
        </p:spPr>
        <p:txBody>
          <a:bodyPr/>
          <a:lstStyle/>
          <a:p>
            <a:r>
              <a:rPr lang="en-US" sz="1600">
                <a:solidFill>
                  <a:srgbClr val="A9C4C2"/>
                </a:solidFill>
                <a:latin typeface="Segoe Sans Display"/>
              </a:rPr>
              <a:t>minutes saved per ticket for this topic</a:t>
            </a:r>
          </a:p>
        </p:txBody>
      </p:sp>
      <p:sp>
        <p:nvSpPr>
          <p:cNvPr id="7" name="TextBox"/>
          <p:cNvSpPr txBox="1"/>
          <p:nvPr/>
        </p:nvSpPr>
        <p:spPr>
          <a:xfrm>
            <a:off x="685800" y="5611600"/>
            <a:ext cx="10820400" cy="900000"/>
          </a:xfrm>
          <a:prstGeom prst="rect">
            <a:avLst/>
          </a:prstGeom>
        </p:spPr>
        <p:txBody>
          <a:bodyPr/>
          <a:lstStyle/>
          <a:p>
            <a:pPr>
              <a:spcAft>
                <a:spcPts val="800"/>
              </a:spcAft>
            </a:pPr>
            <a:r>
              <a:rPr lang="en-US" sz="1500">
                <a:solidFill>
                  <a:srgbClr val="12262A"/>
                </a:solidFill>
                <a:latin typeface="Segoe Sans Display"/>
              </a:rPr>
              <a:t>Multiple different requests arrive as PTO questions: policy answers, balance lookups and time-off transactions. Only the work the agent actually replaced belongs in the average.</a:t>
            </a:r>
          </a:p>
          <a:p>
            <a:r>
              <a:rPr lang="en-US" sz="1400" i="1">
                <a:solidFill>
                  <a:srgbClr val="5C6B6E"/>
                </a:solidFill>
                <a:latin typeface="Segoe Sans Display"/>
              </a:rPr>
              <a:t>Illustrative figures. Source: HR case records with logged touch time in the mapped topics.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"/>
          <p:cNvSpPr txBox="1"/>
          <p:nvPr/>
        </p:nvSpPr>
        <p:spPr>
          <a:xfrm>
            <a:off x="685800" y="548640"/>
            <a:ext cx="10820400" cy="1000000"/>
          </a:xfrm>
          <a:prstGeom prst="rect">
            <a:avLst/>
          </a:prstGeom>
        </p:spPr>
        <p:txBody>
          <a:bodyPr/>
          <a:lstStyle/>
          <a:p>
            <a:r>
              <a:rPr lang="en-US" sz="2800" b="1">
                <a:solidFill>
                  <a:srgbClr val="12262A"/>
                </a:solidFill>
                <a:latin typeface="Segoe Sans Display"/>
              </a:rPr>
              <a:t>Where the value goes: enter it once and the report does the rest</a:t>
            </a:r>
          </a:p>
        </p:txBody>
      </p:sp>
      <p:sp>
        <p:nvSpPr>
          <p:cNvPr id="3" name="Shape"/>
          <p:cNvSpPr/>
          <p:nvPr/>
        </p:nvSpPr>
        <p:spPr>
          <a:xfrm>
            <a:off x="685800" y="1820000"/>
            <a:ext cx="560000" cy="560000"/>
          </a:xfrm>
          <a:prstGeom prst="ellipse">
            <a:avLst/>
          </a:prstGeom>
          <a:solidFill>
            <a:srgbClr val="0F5257"/>
          </a:solidFill>
        </p:spPr>
        <p:txBody>
          <a:bodyPr anchor="ctr"/>
          <a:lstStyle/>
          <a:p>
            <a:pPr algn="ctr"/>
            <a:r>
              <a:rPr lang="en-US" sz="1800" b="1">
                <a:solidFill>
                  <a:srgbClr val="FFFFFF"/>
                </a:solidFill>
                <a:latin typeface="Segoe Sans Display"/>
              </a:rPr>
              <a:t>1</a:t>
            </a:r>
          </a:p>
        </p:txBody>
      </p:sp>
      <p:sp>
        <p:nvSpPr>
          <p:cNvPr id="4" name="Shape"/>
          <p:cNvSpPr/>
          <p:nvPr/>
        </p:nvSpPr>
        <p:spPr>
          <a:xfrm>
            <a:off x="685800" y="2870000"/>
            <a:ext cx="560000" cy="560000"/>
          </a:xfrm>
          <a:prstGeom prst="ellipse">
            <a:avLst/>
          </a:prstGeom>
          <a:solidFill>
            <a:srgbClr val="0F5257"/>
          </a:solidFill>
        </p:spPr>
        <p:txBody>
          <a:bodyPr anchor="ctr"/>
          <a:lstStyle/>
          <a:p>
            <a:pPr algn="ctr"/>
            <a:r>
              <a:rPr lang="en-US" sz="1800" b="1">
                <a:solidFill>
                  <a:srgbClr val="FFFFFF"/>
                </a:solidFill>
                <a:latin typeface="Segoe Sans Display"/>
              </a:rPr>
              <a:t>2</a:t>
            </a:r>
          </a:p>
        </p:txBody>
      </p:sp>
      <p:sp>
        <p:nvSpPr>
          <p:cNvPr id="5" name="Shape"/>
          <p:cNvSpPr/>
          <p:nvPr/>
        </p:nvSpPr>
        <p:spPr>
          <a:xfrm>
            <a:off x="685800" y="3920000"/>
            <a:ext cx="560000" cy="560000"/>
          </a:xfrm>
          <a:prstGeom prst="ellipse">
            <a:avLst/>
          </a:prstGeom>
          <a:solidFill>
            <a:srgbClr val="0F5257"/>
          </a:solidFill>
        </p:spPr>
        <p:txBody>
          <a:bodyPr anchor="ctr"/>
          <a:lstStyle/>
          <a:p>
            <a:pPr algn="ctr"/>
            <a:r>
              <a:rPr lang="en-US" sz="1800" b="1">
                <a:solidFill>
                  <a:srgbClr val="FFFFFF"/>
                </a:solidFill>
                <a:latin typeface="Segoe Sans Display"/>
              </a:rPr>
              <a:t>3</a:t>
            </a:r>
          </a:p>
        </p:txBody>
      </p:sp>
      <p:sp>
        <p:nvSpPr>
          <p:cNvPr id="6" name="Shape"/>
          <p:cNvSpPr/>
          <p:nvPr/>
        </p:nvSpPr>
        <p:spPr>
          <a:xfrm>
            <a:off x="685800" y="4970000"/>
            <a:ext cx="560000" cy="560000"/>
          </a:xfrm>
          <a:prstGeom prst="ellipse">
            <a:avLst/>
          </a:prstGeom>
          <a:solidFill>
            <a:srgbClr val="C2571A"/>
          </a:solidFill>
        </p:spPr>
        <p:txBody>
          <a:bodyPr anchor="ctr"/>
          <a:lstStyle/>
          <a:p>
            <a:pPr algn="ctr"/>
            <a:r>
              <a:rPr lang="en-US" sz="1800" b="1">
                <a:solidFill>
                  <a:srgbClr val="FFFFFF"/>
                </a:solidFill>
                <a:latin typeface="Segoe Sans Display"/>
              </a:rPr>
              <a:t>4</a:t>
            </a:r>
          </a:p>
        </p:txBody>
      </p:sp>
      <p:sp>
        <p:nvSpPr>
          <p:cNvPr id="7" name="TextBox"/>
          <p:cNvSpPr txBox="1"/>
          <p:nvPr/>
        </p:nvSpPr>
        <p:spPr>
          <a:xfrm>
            <a:off x="1480000" y="1780000"/>
            <a:ext cx="9800000" cy="950000"/>
          </a:xfrm>
          <a:prstGeom prst="rect">
            <a:avLst/>
          </a:prstGeo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sz="1800" b="1">
                <a:solidFill>
                  <a:srgbClr val="0F5257"/>
                </a:solidFill>
                <a:latin typeface="Segoe Sans Display"/>
              </a:rPr>
              <a:t>Start with the topics that carry the volume
Rank the tenant's resolved topics by conversation volume and source those first. The remainder use the global default.</a:t>
            </a:r>
            <a:endParaRPr lang="en-US" sz="1500">
              <a:solidFill>
                <a:srgbClr val="5C6B6E"/>
              </a:solidFill>
              <a:latin typeface="Segoe Sans Display"/>
            </a:endParaRPr>
          </a:p>
        </p:txBody>
      </p:sp>
      <p:sp>
        <p:nvSpPr>
          <p:cNvPr id="8" name="TextBox"/>
          <p:cNvSpPr txBox="1"/>
          <p:nvPr/>
        </p:nvSpPr>
        <p:spPr>
          <a:xfrm>
            <a:off x="1480000" y="2830000"/>
            <a:ext cx="9800000" cy="950000"/>
          </a:xfrm>
          <a:prstGeom prst="rect">
            <a:avLst/>
          </a:prstGeo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sz="1800" b="1">
                <a:solidFill>
                  <a:srgbClr val="0F5257"/>
                </a:solidFill>
                <a:latin typeface="Segoe Sans Display"/>
              </a:rPr>
              <a:t>Enter the value
Business Impact page, topic minutes panel. Select the topic and enter the minutes. Set greetings and smalltalk topics to zero.</a:t>
            </a:r>
            <a:endParaRPr sz="1500">
              <a:solidFill>
                <a:srgbClr val="5C6B6E"/>
              </a:solidFill>
              <a:latin typeface="Calibri"/>
            </a:endParaRPr>
          </a:p>
        </p:txBody>
      </p:sp>
      <p:sp>
        <p:nvSpPr>
          <p:cNvPr id="9" name="TextBox"/>
          <p:cNvSpPr txBox="1"/>
          <p:nvPr/>
        </p:nvSpPr>
        <p:spPr>
          <a:xfrm>
            <a:off x="1480000" y="3880000"/>
            <a:ext cx="9800000" cy="950000"/>
          </a:xfrm>
          <a:prstGeom prst="rect">
            <a:avLst/>
          </a:prstGeo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sz="1800" b="1">
                <a:solidFill>
                  <a:srgbClr val="0F5257"/>
                </a:solidFill>
                <a:latin typeface="Segoe Sans Display"/>
              </a:rPr>
              <a:t>The report derives the rest
Hours Saved equals resolved conversations times minutes divided by sixty. Value equals hours times the loaded hourly rate. Net Value subtracts agent cost.</a:t>
            </a:r>
            <a:endParaRPr lang="en-US" sz="1500">
              <a:solidFill>
                <a:srgbClr val="5C6B6E"/>
              </a:solidFill>
              <a:latin typeface="Segoe Sans Display"/>
            </a:endParaRPr>
          </a:p>
        </p:txBody>
      </p:sp>
      <p:sp>
        <p:nvSpPr>
          <p:cNvPr id="10" name="TextBox"/>
          <p:cNvSpPr txBox="1"/>
          <p:nvPr/>
        </p:nvSpPr>
        <p:spPr>
          <a:xfrm>
            <a:off x="1480000" y="4930000"/>
            <a:ext cx="9800000" cy="950000"/>
          </a:xfrm>
          <a:prstGeom prst="rect">
            <a:avLst/>
          </a:prstGeo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sz="1800" b="1">
                <a:solidFill>
                  <a:srgbClr val="C2571A"/>
                </a:solidFill>
                <a:latin typeface="Segoe Sans Display"/>
              </a:rPr>
              <a:t>Re-source on a rhythm
A sourced top fifteen normally covers the large majority of resolved conversations. Re-source quarterly, or after a process or knowledge change that alters how a category is handled.</a:t>
            </a:r>
            <a:endParaRPr lang="en-US" sz="1500">
              <a:solidFill>
                <a:srgbClr val="5C6B6E"/>
              </a:solidFill>
              <a:latin typeface="Segoe Sans Display"/>
            </a:endParaRPr>
          </a:p>
        </p:txBody>
      </p:sp>
    </p:spTree>
    <p:extLst>
      <p:ext uri="{BB962C8B-B14F-4D97-AF65-F5344CB8AC3E}">
        <p14:creationId xmlns:p14="http://schemas.microsoft.com/office/powerpoint/2010/main" val="30757977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262A"/>
          </a:solidFill>
        </p:spPr>
        <p:txBody>
          <a:bodyPr/>
          <a:lstStyle/>
          <a:p>
            <a:endParaRPr/>
          </a:p>
        </p:txBody>
      </p:sp>
      <p:sp>
        <p:nvSpPr>
          <p:cNvPr id="3" name="Shape"/>
          <p:cNvSpPr/>
          <p:nvPr/>
        </p:nvSpPr>
        <p:spPr>
          <a:xfrm>
            <a:off x="8792000" y="3458000"/>
            <a:ext cx="3400000" cy="3400000"/>
          </a:xfrm>
          <a:prstGeom prst="ellipse">
            <a:avLst/>
          </a:prstGeom>
          <a:solidFill>
            <a:srgbClr val="0F5257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" name="TextBox"/>
          <p:cNvSpPr txBox="1"/>
          <p:nvPr/>
        </p:nvSpPr>
        <p:spPr>
          <a:xfrm>
            <a:off x="914400" y="2300000"/>
            <a:ext cx="8000000" cy="400000"/>
          </a:xfrm>
          <a:prstGeom prst="rect">
            <a:avLst/>
          </a:prstGeom>
        </p:spPr>
        <p:txBody>
          <a:bodyPr wrap="none"/>
          <a:lstStyle/>
          <a:p>
            <a:r>
              <a:rPr lang="en-US" sz="1400" b="1">
                <a:solidFill>
                  <a:srgbClr val="E08A4A"/>
                </a:solidFill>
                <a:latin typeface="Segoe Sans Display"/>
              </a:rPr>
              <a:t>APPENDIX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914400" y="2830000"/>
            <a:ext cx="8600000" cy="1200000"/>
          </a:xfrm>
          <a:prstGeom prst="rect">
            <a:avLst/>
          </a:prstGeom>
        </p:spPr>
        <p:txBody>
          <a:bodyPr/>
          <a:lstStyle/>
          <a:p>
            <a:r>
              <a:rPr lang="en-US" sz="4000" b="1">
                <a:solidFill>
                  <a:srgbClr val="FFFFFF"/>
                </a:solidFill>
                <a:latin typeface="Segoe Sans Display"/>
              </a:rPr>
              <a:t>How to get the value, case by case</a:t>
            </a:r>
          </a:p>
        </p:txBody>
      </p:sp>
      <p:sp>
        <p:nvSpPr>
          <p:cNvPr id="6" name="TextBox"/>
          <p:cNvSpPr txBox="1"/>
          <p:nvPr/>
        </p:nvSpPr>
        <p:spPr>
          <a:xfrm>
            <a:off x="914400" y="4200000"/>
            <a:ext cx="7600000" cy="900000"/>
          </a:xfrm>
          <a:prstGeom prst="rect">
            <a:avLst/>
          </a:prstGeom>
        </p:spPr>
        <p:txBody>
          <a:bodyPr/>
          <a:lstStyle/>
          <a:p>
            <a:r>
              <a:rPr lang="en-US" sz="1800">
                <a:solidFill>
                  <a:srgbClr val="A9B8B6"/>
                </a:solidFill>
                <a:latin typeface="Segoe Sans Display"/>
              </a:rPr>
              <a:t>The labels to search, the records to pull, what to strip out, and the calculation for the most common IT and HR cases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"/>
          <p:cNvSpPr txBox="1"/>
          <p:nvPr/>
        </p:nvSpPr>
        <p:spPr>
          <a:xfrm>
            <a:off x="685800" y="500000"/>
            <a:ext cx="10820400" cy="1000000"/>
          </a:xfrm>
          <a:prstGeom prst="rect">
            <a:avLst/>
          </a:prstGeom>
        </p:spPr>
        <p:txBody>
          <a:bodyPr/>
          <a:lstStyle/>
          <a:p>
            <a:r>
              <a:rPr lang="en-US" sz="2800" b="1">
                <a:solidFill>
                  <a:srgbClr val="12262A"/>
                </a:solidFill>
                <a:latin typeface="Segoe Sans Display"/>
              </a:rPr>
              <a:t>IT cases: the labels to search and the calculation for each family</a:t>
            </a:r>
          </a:p>
        </p:txBody>
      </p:sp>
      <p:graphicFrame>
        <p:nvGraphicFramePr>
          <p:cNvPr id="3" name="Table"/>
          <p:cNvGraphicFramePr/>
          <p:nvPr>
            <p:extLst>
              <p:ext uri="{D42A27DB-BD31-4B8C-83A1-F6EECF244321}">
                <p14:modId xmlns:p14="http://schemas.microsoft.com/office/powerpoint/2010/main" val="37990181"/>
              </p:ext>
            </p:extLst>
          </p:nvPr>
        </p:nvGraphicFramePr>
        <p:xfrm>
          <a:off x="685800" y="1620000"/>
          <a:ext cx="10820400" cy="3800000"/>
        </p:xfrm>
        <a:graphic>
          <a:graphicData uri="http://schemas.openxmlformats.org/drawingml/2006/table">
            <a:tbl>
              <a:tblPr/>
              <a:tblGrid>
                <a:gridCol w="2705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5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5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5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60000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FFFF"/>
                          </a:solidFill>
                          <a:latin typeface="Segoe Sans Display"/>
                        </a:rPr>
                        <a:t>Case family</a:t>
                      </a:r>
                    </a:p>
                  </a:txBody>
                  <a:tcPr>
                    <a:solidFill>
                      <a:srgbClr val="0F52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FFFF"/>
                          </a:solidFill>
                          <a:latin typeface="Segoe Sans Display"/>
                        </a:rPr>
                        <a:t>Labels to search</a:t>
                      </a:r>
                    </a:p>
                  </a:txBody>
                  <a:tcPr>
                    <a:solidFill>
                      <a:srgbClr val="0F52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FFFF"/>
                          </a:solidFill>
                          <a:latin typeface="Segoe Sans Display"/>
                        </a:rPr>
                        <a:t>Records and fields</a:t>
                      </a:r>
                    </a:p>
                  </a:txBody>
                  <a:tcPr>
                    <a:solidFill>
                      <a:srgbClr val="0F52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FFFF"/>
                          </a:solidFill>
                          <a:latin typeface="Segoe Sans Display"/>
                        </a:rPr>
                        <a:t>How to calculate the value</a:t>
                      </a:r>
                    </a:p>
                  </a:txBody>
                  <a:tcPr>
                    <a:solidFill>
                      <a:srgbClr val="0F52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0000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0F5257"/>
                          </a:solidFill>
                          <a:latin typeface="Segoe Sans Display"/>
                        </a:rPr>
                        <a:t>IT identity and access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2262A"/>
                          </a:solidFill>
                          <a:latin typeface="Segoe Sans Display"/>
                        </a:rPr>
                        <a:t>Password reset, MFA, 2FA, account locked, access request, permissions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2262A"/>
                          </a:solidFill>
                          <a:latin typeface="Segoe Sans Display"/>
                        </a:rPr>
                        <a:t>Tickets with time worked, reassignment count, application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2262A"/>
                          </a:solidFill>
                          <a:latin typeface="Segoe Sans Display"/>
                        </a:rPr>
                        <a:t>Sum time worked per ticket, divide by distinct tickets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0000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0F5257"/>
                          </a:solidFill>
                          <a:latin typeface="Segoe Sans Display"/>
                        </a:rPr>
                        <a:t>IT endpoint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2262A"/>
                          </a:solidFill>
                          <a:latin typeface="Segoe Sans Display"/>
                        </a:rPr>
                        <a:t>Laptop request, hardware, OS, printer, peripheral, docking station, RMA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2262A"/>
                          </a:solidFill>
                          <a:latin typeface="Segoe Sans Display"/>
                        </a:rPr>
                        <a:t>Tickets with asset ID, device model, vendor or RMA flag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2262A"/>
                          </a:solidFill>
                          <a:latin typeface="Segoe Sans Display"/>
                        </a:rPr>
                        <a:t>Time entries per ticket. Exclude shipping and depot wait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0000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0F5257"/>
                          </a:solidFill>
                          <a:latin typeface="Segoe Sans Display"/>
                        </a:rPr>
                        <a:t>IT collaboration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2262A"/>
                          </a:solidFill>
                          <a:latin typeface="Segoe Sans Display"/>
                        </a:rPr>
                        <a:t>Email, mailbox, Outlook, Teams, calendar, SharePoint, OneDrive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2262A"/>
                          </a:solidFill>
                          <a:latin typeface="Segoe Sans Display"/>
                        </a:rPr>
                        <a:t>Tickets with service or application, affected user 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2262A"/>
                          </a:solidFill>
                          <a:latin typeface="Segoe Sans Display"/>
                        </a:rPr>
                        <a:t>Time worked per category. Exclude multi-user service incidents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0000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0F5257"/>
                          </a:solidFill>
                          <a:latin typeface="Segoe Sans Display"/>
                        </a:rPr>
                        <a:t>IT application 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2262A"/>
                          </a:solidFill>
                          <a:latin typeface="Segoe Sans Display"/>
                        </a:rPr>
                        <a:t>Software access, app error, configuration, licence request, 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2262A"/>
                          </a:solidFill>
                          <a:latin typeface="Segoe Sans Display"/>
                        </a:rPr>
                        <a:t>Tickets with application or CI, linked defect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2262A"/>
                          </a:solidFill>
                          <a:latin typeface="Segoe Sans Display"/>
                        </a:rPr>
                        <a:t>Time worked by app support queue. Exclude engineering fix 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Box"/>
          <p:cNvSpPr txBox="1"/>
          <p:nvPr/>
        </p:nvSpPr>
        <p:spPr>
          <a:xfrm>
            <a:off x="685800" y="5700000"/>
            <a:ext cx="10820400" cy="400000"/>
          </a:xfrm>
          <a:prstGeom prst="rect">
            <a:avLst/>
          </a:prstGeom>
        </p:spPr>
        <p:txBody>
          <a:bodyPr/>
          <a:lstStyle/>
          <a:p>
            <a:r>
              <a:rPr lang="en-US" sz="1400" i="1">
                <a:solidFill>
                  <a:srgbClr val="5C6B6E"/>
                </a:solidFill>
                <a:latin typeface="Segoe Sans Display"/>
              </a:rPr>
              <a:t>Labels are search seeds from the Customer Data Collection Guide. Validate each against the tenant's exported category list.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"/>
          <p:cNvSpPr txBox="1"/>
          <p:nvPr/>
        </p:nvSpPr>
        <p:spPr>
          <a:xfrm>
            <a:off x="685800" y="500000"/>
            <a:ext cx="10820400" cy="1000000"/>
          </a:xfrm>
          <a:prstGeom prst="rect">
            <a:avLst/>
          </a:prstGeom>
        </p:spPr>
        <p:txBody>
          <a:bodyPr/>
          <a:lstStyle/>
          <a:p>
            <a:r>
              <a:rPr lang="en-US" sz="2800" b="1">
                <a:solidFill>
                  <a:srgbClr val="12262A"/>
                </a:solidFill>
                <a:latin typeface="Segoe Sans Display"/>
              </a:rPr>
              <a:t>HR cases: the labels to search and the calculation for each family</a:t>
            </a:r>
          </a:p>
        </p:txBody>
      </p:sp>
      <p:graphicFrame>
        <p:nvGraphicFramePr>
          <p:cNvPr id="3" name="Table"/>
          <p:cNvGraphicFramePr/>
          <p:nvPr>
            <p:extLst>
              <p:ext uri="{D42A27DB-BD31-4B8C-83A1-F6EECF244321}">
                <p14:modId xmlns:p14="http://schemas.microsoft.com/office/powerpoint/2010/main" val="4044250572"/>
              </p:ext>
            </p:extLst>
          </p:nvPr>
        </p:nvGraphicFramePr>
        <p:xfrm>
          <a:off x="685800" y="1620000"/>
          <a:ext cx="10820400" cy="3800000"/>
        </p:xfrm>
        <a:graphic>
          <a:graphicData uri="http://schemas.openxmlformats.org/drawingml/2006/table">
            <a:tbl>
              <a:tblPr/>
              <a:tblGrid>
                <a:gridCol w="2705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5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5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5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60000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FFFF"/>
                          </a:solidFill>
                          <a:latin typeface="Segoe Sans Display"/>
                        </a:rPr>
                        <a:t>Case family</a:t>
                      </a:r>
                    </a:p>
                  </a:txBody>
                  <a:tcPr>
                    <a:solidFill>
                      <a:srgbClr val="0F52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FFFF"/>
                          </a:solidFill>
                          <a:latin typeface="Segoe Sans Display"/>
                        </a:rPr>
                        <a:t>Labels to search</a:t>
                      </a:r>
                    </a:p>
                  </a:txBody>
                  <a:tcPr>
                    <a:solidFill>
                      <a:srgbClr val="0F52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FFFF"/>
                          </a:solidFill>
                          <a:latin typeface="Segoe Sans Display"/>
                        </a:rPr>
                        <a:t>Records and fields</a:t>
                      </a:r>
                    </a:p>
                  </a:txBody>
                  <a:tcPr>
                    <a:solidFill>
                      <a:srgbClr val="0F52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FFFF"/>
                          </a:solidFill>
                          <a:latin typeface="Segoe Sans Display"/>
                        </a:rPr>
                        <a:t>How to calculate the value</a:t>
                      </a:r>
                    </a:p>
                  </a:txBody>
                  <a:tcPr>
                    <a:solidFill>
                      <a:srgbClr val="0F52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0000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0F5257"/>
                          </a:solidFill>
                          <a:latin typeface="Segoe Sans Display"/>
                        </a:rPr>
                        <a:t>HR informational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2262A"/>
                          </a:solidFill>
                          <a:latin typeface="Segoe Sans Display"/>
                        </a:rPr>
                        <a:t>Policy question, handbook, PTO, vacation policy, time away, leave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2262A"/>
                          </a:solidFill>
                          <a:latin typeface="Segoe Sans Display"/>
                        </a:rPr>
                        <a:t>Cases with topic, service team, time worked where captured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2262A"/>
                          </a:solidFill>
                          <a:latin typeface="Segoe Sans Display"/>
                        </a:rPr>
                        <a:t>Case time worked divided by resolved cases. Otherwise sample rep activity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0000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0F5257"/>
                          </a:solidFill>
                          <a:latin typeface="Segoe Sans Display"/>
                        </a:rPr>
                        <a:t>Benefits administration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2262A"/>
                          </a:solidFill>
                          <a:latin typeface="Segoe Sans Display"/>
                        </a:rPr>
                        <a:t>Benefits, eligibility, enrollment, life event, dependent, open enrollment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2262A"/>
                          </a:solidFill>
                          <a:latin typeface="Segoe Sans Display"/>
                        </a:rPr>
                        <a:t>Cases with benefit type, vendor handoff, life-event flag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2262A"/>
                          </a:solidFill>
                          <a:latin typeface="Segoe Sans Display"/>
                        </a:rPr>
                        <a:t>Case time worked. Where a vendor runs support use their AHT by inquiry type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0000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0F5257"/>
                          </a:solidFill>
                          <a:latin typeface="Segoe Sans Display"/>
                        </a:rPr>
                        <a:t>Payroll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2262A"/>
                          </a:solidFill>
                          <a:latin typeface="Segoe Sans Display"/>
                        </a:rPr>
                        <a:t>Pay issue, payslip, direct deposit, tax form, W-2, employment verification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2262A"/>
                          </a:solidFill>
                          <a:latin typeface="Segoe Sans Display"/>
                        </a:rPr>
                        <a:t>Cases with pay period, vendor handoff, document 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2262A"/>
                          </a:solidFill>
                          <a:latin typeface="Segoe Sans Display"/>
                        </a:rPr>
                        <a:t>Case touch time. Separate handling from document generation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0000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0F5257"/>
                          </a:solidFill>
                          <a:latin typeface="Segoe Sans Display"/>
                        </a:rPr>
                        <a:t>Talent and performance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2262A"/>
                          </a:solidFill>
                          <a:latin typeface="Segoe Sans Display"/>
                        </a:rPr>
                        <a:t>Performance review, goals, feedback, learning, mobility, manager 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2262A"/>
                          </a:solidFill>
                          <a:latin typeface="Segoe Sans Display"/>
                        </a:rPr>
                        <a:t>Cases with process, requester role, workflow 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2262A"/>
                          </a:solidFill>
                          <a:latin typeface="Segoe Sans Display"/>
                        </a:rPr>
                        <a:t>Case touch time for questions. Keep admin time separate from self-service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Box"/>
          <p:cNvSpPr txBox="1"/>
          <p:nvPr/>
        </p:nvSpPr>
        <p:spPr>
          <a:xfrm>
            <a:off x="685800" y="5700000"/>
            <a:ext cx="10820400" cy="400000"/>
          </a:xfrm>
          <a:prstGeom prst="rect">
            <a:avLst/>
          </a:prstGeom>
        </p:spPr>
        <p:txBody>
          <a:bodyPr/>
          <a:lstStyle/>
          <a:p>
            <a:r>
              <a:rPr lang="en-US" sz="1400" i="1">
                <a:solidFill>
                  <a:srgbClr val="5C6B6E"/>
                </a:solidFill>
                <a:latin typeface="Segoe Sans Display"/>
              </a:rPr>
              <a:t>Labels are search seeds from the Customer Data Collection Guide. Validate each against the tenant's exported topic list.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"/>
          <p:cNvSpPr txBox="1"/>
          <p:nvPr/>
        </p:nvSpPr>
        <p:spPr>
          <a:xfrm>
            <a:off x="685800" y="500000"/>
            <a:ext cx="10820400" cy="1000000"/>
          </a:xfrm>
          <a:prstGeom prst="rect">
            <a:avLst/>
          </a:prstGeom>
        </p:spPr>
        <p:txBody>
          <a:bodyPr/>
          <a:lstStyle/>
          <a:p>
            <a:r>
              <a:rPr lang="en-US" sz="2800" b="1">
                <a:solidFill>
                  <a:srgbClr val="12262A"/>
                </a:solidFill>
                <a:latin typeface="Segoe Sans Display"/>
              </a:rPr>
              <a:t>Three IT cases worked end to end, from records to the value</a:t>
            </a:r>
          </a:p>
        </p:txBody>
      </p:sp>
      <p:graphicFrame>
        <p:nvGraphicFramePr>
          <p:cNvPr id="3" name="Table"/>
          <p:cNvGraphicFramePr/>
          <p:nvPr>
            <p:extLst>
              <p:ext uri="{D42A27DB-BD31-4B8C-83A1-F6EECF244321}">
                <p14:modId xmlns:p14="http://schemas.microsoft.com/office/powerpoint/2010/main" val="2600088719"/>
              </p:ext>
            </p:extLst>
          </p:nvPr>
        </p:nvGraphicFramePr>
        <p:xfrm>
          <a:off x="685800" y="1620000"/>
          <a:ext cx="10820400" cy="4114080"/>
        </p:xfrm>
        <a:graphic>
          <a:graphicData uri="http://schemas.openxmlformats.org/drawingml/2006/table">
            <a:tbl>
              <a:tblPr/>
              <a:tblGrid>
                <a:gridCol w="2705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5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5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5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75000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FFFF"/>
                          </a:solidFill>
                          <a:latin typeface="Segoe Sans Display"/>
                        </a:rPr>
                        <a:t>Case</a:t>
                      </a:r>
                    </a:p>
                  </a:txBody>
                  <a:tcPr>
                    <a:solidFill>
                      <a:srgbClr val="0F52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FFFF"/>
                          </a:solidFill>
                          <a:latin typeface="Segoe Sans Display"/>
                        </a:rPr>
                        <a:t>Pull and filter</a:t>
                      </a:r>
                    </a:p>
                  </a:txBody>
                  <a:tcPr>
                    <a:solidFill>
                      <a:srgbClr val="0F52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FFFF"/>
                          </a:solidFill>
                          <a:latin typeface="Segoe Sans Display"/>
                        </a:rPr>
                        <a:t>Remove before averaging</a:t>
                      </a:r>
                    </a:p>
                  </a:txBody>
                  <a:tcPr>
                    <a:solidFill>
                      <a:srgbClr val="0F52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FFFF"/>
                          </a:solidFill>
                          <a:latin typeface="Segoe Sans Display"/>
                        </a:rPr>
                        <a:t>The value</a:t>
                      </a:r>
                    </a:p>
                  </a:txBody>
                  <a:tcPr>
                    <a:solidFill>
                      <a:srgbClr val="0F52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5000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0F5257"/>
                          </a:solidFill>
                          <a:latin typeface="Segoe Sans Display"/>
                        </a:rPr>
                        <a:t>MFA reset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12262A"/>
                          </a:solidFill>
                          <a:latin typeface="Segoe Sans Display"/>
                        </a:rPr>
                        <a:t>ServiceNow incident plus time_worked, and Entra MFA audit logs. Category contains MFA, authentication or multi-factor; state Resolved or Closed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12262A"/>
                          </a:solidFill>
                          <a:latin typeface="Segoe Sans Display"/>
                        </a:rPr>
                        <a:t>Duplicate contacts, outage-driven contacts, knowledge-only hits, cancelled requests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12262A"/>
                          </a:solidFill>
                          <a:latin typeface="Segoe Sans Display"/>
                        </a:rPr>
                        <a:t>Median of summed time_worked minutes per ticket. Report all resets and non-escalated resets separately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5000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0F5257"/>
                          </a:solidFill>
                          <a:latin typeface="Segoe Sans Display"/>
                        </a:rPr>
                        <a:t>Password reset and lockout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12262A"/>
                          </a:solidFill>
                          <a:latin typeface="Segoe Sans Display"/>
                        </a:rPr>
                        <a:t>ITSM ticket table plus time entries, and self-service reset logs. Labels include password reset or account lockout; resolved or closed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12262A"/>
                          </a:solidFill>
                          <a:latin typeface="Segoe Sans Display"/>
                        </a:rPr>
                        <a:t>Automated self-service completions already deflected, duplicates, bulk outage contacts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12262A"/>
                          </a:solidFill>
                          <a:latin typeface="Segoe Sans Display"/>
                        </a:rPr>
                        <a:t>Ticket work entries, never created-to-resolved elapsed. Publish mean and median by channel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75000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0F5257"/>
                          </a:solidFill>
                          <a:latin typeface="Segoe Sans Display"/>
                        </a:rPr>
                        <a:t>Application access request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12262A"/>
                          </a:solidFill>
                          <a:latin typeface="Segoe Sans Display"/>
                        </a:rPr>
                        <a:t>ITSM requests plus approval and app admin logs. Request type Application Access; status fulfilled or closed; exclude projects and changes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12262A"/>
                          </a:solidFill>
                          <a:latin typeface="Segoe Sans Display"/>
                        </a:rPr>
                        <a:t>Denied or ineligible requests, duplicates, bulk onboarding batches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12262A"/>
                          </a:solidFill>
                          <a:latin typeface="Segoe Sans Display"/>
                        </a:rPr>
                        <a:t>Worklog entries by assignee. Approval waiting time is not labour and stays out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Box"/>
          <p:cNvSpPr txBox="1"/>
          <p:nvPr/>
        </p:nvSpPr>
        <p:spPr>
          <a:xfrm>
            <a:off x="685800" y="5800000"/>
            <a:ext cx="10820400" cy="400000"/>
          </a:xfrm>
          <a:prstGeom prst="rect">
            <a:avLst/>
          </a:prstGeom>
        </p:spPr>
        <p:txBody>
          <a:bodyPr/>
          <a:lstStyle/>
          <a:p>
            <a:r>
              <a:rPr lang="en-US" sz="1400" i="1">
                <a:solidFill>
                  <a:srgbClr val="5C6B6E"/>
                </a:solidFill>
                <a:latin typeface="Segoe Sans Display"/>
              </a:rPr>
              <a:t>Method templates from the Customer-Derived AHT Methodology. Field names vary by tenant.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"/>
          <p:cNvSpPr txBox="1"/>
          <p:nvPr/>
        </p:nvSpPr>
        <p:spPr>
          <a:xfrm>
            <a:off x="685800" y="500000"/>
            <a:ext cx="10820400" cy="1000000"/>
          </a:xfrm>
          <a:prstGeom prst="rect">
            <a:avLst/>
          </a:prstGeom>
        </p:spPr>
        <p:txBody>
          <a:bodyPr/>
          <a:lstStyle/>
          <a:p>
            <a:r>
              <a:rPr lang="en-US" sz="2800" b="1">
                <a:solidFill>
                  <a:srgbClr val="12262A"/>
                </a:solidFill>
                <a:latin typeface="Segoe Sans Display"/>
              </a:rPr>
              <a:t>Three HR cases worked end to end, from records to the value</a:t>
            </a:r>
          </a:p>
        </p:txBody>
      </p:sp>
      <p:graphicFrame>
        <p:nvGraphicFramePr>
          <p:cNvPr id="3" name="Table"/>
          <p:cNvGraphicFramePr/>
          <p:nvPr>
            <p:extLst>
              <p:ext uri="{D42A27DB-BD31-4B8C-83A1-F6EECF244321}">
                <p14:modId xmlns:p14="http://schemas.microsoft.com/office/powerpoint/2010/main" val="2408799251"/>
              </p:ext>
            </p:extLst>
          </p:nvPr>
        </p:nvGraphicFramePr>
        <p:xfrm>
          <a:off x="685800" y="1620000"/>
          <a:ext cx="10820400" cy="4007040"/>
        </p:xfrm>
        <a:graphic>
          <a:graphicData uri="http://schemas.openxmlformats.org/drawingml/2006/table">
            <a:tbl>
              <a:tblPr/>
              <a:tblGrid>
                <a:gridCol w="2705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5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5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5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75000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FFFF"/>
                          </a:solidFill>
                          <a:latin typeface="Segoe Sans Display"/>
                        </a:rPr>
                        <a:t>Case</a:t>
                      </a:r>
                    </a:p>
                  </a:txBody>
                  <a:tcPr>
                    <a:solidFill>
                      <a:srgbClr val="0F52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FFFF"/>
                          </a:solidFill>
                          <a:latin typeface="Segoe Sans Display"/>
                        </a:rPr>
                        <a:t>Pull and filter</a:t>
                      </a:r>
                    </a:p>
                  </a:txBody>
                  <a:tcPr>
                    <a:solidFill>
                      <a:srgbClr val="0F52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FFFF"/>
                          </a:solidFill>
                          <a:latin typeface="Segoe Sans Display"/>
                        </a:rPr>
                        <a:t>Remove before averaging</a:t>
                      </a:r>
                    </a:p>
                  </a:txBody>
                  <a:tcPr>
                    <a:solidFill>
                      <a:srgbClr val="0F52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FFFF"/>
                          </a:solidFill>
                          <a:latin typeface="Segoe Sans Display"/>
                        </a:rPr>
                        <a:t>The value</a:t>
                      </a:r>
                    </a:p>
                  </a:txBody>
                  <a:tcPr>
                    <a:solidFill>
                      <a:srgbClr val="0F52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5000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0F5257"/>
                          </a:solidFill>
                          <a:latin typeface="Segoe Sans Display"/>
                        </a:rPr>
                        <a:t>PTO policy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12262A"/>
                          </a:solidFill>
                          <a:latin typeface="Segoe Sans Display"/>
                        </a:rPr>
                        <a:t>HR case and knowledge reports plus HRIS time-off logs. Topic PTO, vacation or leave policy; status Closed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12262A"/>
                          </a:solidFill>
                          <a:latin typeface="Segoe Sans Display"/>
                        </a:rPr>
                        <a:t>Balance questions, time-off transactions, and country-specific or protected leave cases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12262A"/>
                          </a:solidFill>
                          <a:latin typeface="Segoe Sans Display"/>
                        </a:rPr>
                        <a:t>HRSS work time on comparable cases. Closed minus submitted is service speed, not the 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5000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0F5257"/>
                          </a:solidFill>
                          <a:latin typeface="Segoe Sans Display"/>
                        </a:rPr>
                        <a:t>Benefits eligibility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12262A"/>
                          </a:solidFill>
                          <a:latin typeface="Segoe Sans Display"/>
                        </a:rPr>
                        <a:t>HRSD, Workday or Dayforce benefits cases plus vendor reports. Topic Benefits, subtopic Eligibility or Coverage; status Closed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12262A"/>
                          </a:solidFill>
                          <a:latin typeface="Segoe Sans Display"/>
                        </a:rPr>
                        <a:t>Plan-change transactions needing a specialist, repeated open-enrollment questions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12262A"/>
                          </a:solidFill>
                          <a:latin typeface="Segoe Sans Display"/>
                        </a:rPr>
                        <a:t>Median active work time. Where a vendor handles support use their AHT, and segment open enrollment from steady state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75000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0F5257"/>
                          </a:solidFill>
                          <a:latin typeface="Segoe Sans Display"/>
                        </a:rPr>
                        <a:t>Payroll discrepancy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12262A"/>
                          </a:solidFill>
                          <a:latin typeface="Segoe Sans Display"/>
                        </a:rPr>
                        <a:t>Payroll and HRSD cases plus payroll platform records. Topic Payroll, subtopic discrepancy, missing pay or tax; status Closed, pay period captured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12262A"/>
                          </a:solidFill>
                          <a:latin typeface="Segoe Sans Display"/>
                        </a:rPr>
                        <a:t>Paystub access questions, duplicate contacts within one pay period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12262A"/>
                          </a:solidFill>
                          <a:latin typeface="Segoe Sans Display"/>
                        </a:rPr>
                        <a:t>Payroll specialist touch time or case work time. Hours to Close is not the value. Use aggregate rows only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Box"/>
          <p:cNvSpPr txBox="1"/>
          <p:nvPr/>
        </p:nvSpPr>
        <p:spPr>
          <a:xfrm>
            <a:off x="685800" y="5800000"/>
            <a:ext cx="10820400" cy="400000"/>
          </a:xfrm>
          <a:prstGeom prst="rect">
            <a:avLst/>
          </a:prstGeom>
        </p:spPr>
        <p:txBody>
          <a:bodyPr/>
          <a:lstStyle/>
          <a:p>
            <a:r>
              <a:rPr lang="en-US" sz="1400" i="1">
                <a:solidFill>
                  <a:srgbClr val="5C6B6E"/>
                </a:solidFill>
                <a:latin typeface="Segoe Sans Display"/>
              </a:rPr>
              <a:t>Method templates from the Customer-Derived AHT Methodology. Payroll data is sensitive; request aggregate rows only.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9fbde396-1a24-4c79-8edf-9254a0f35055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2598</Words>
  <Application>Microsoft Office PowerPoint</Application>
  <PresentationFormat>Widescreen</PresentationFormat>
  <Paragraphs>308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Segoe Sans Display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Microsoft ESS Insights</dc:creator>
  <cp:keywords/>
  <dc:description/>
  <cp:lastModifiedBy>Microsoft ESS Insights</cp:lastModifiedBy>
  <cp:revision>2</cp:revision>
  <dcterms:created xsi:type="dcterms:W3CDTF">2013-01-27T09:14:16Z</dcterms:created>
  <dcterms:modified xsi:type="dcterms:W3CDTF">2026-10-08T18:04:15Z</dcterms:modified>
  <cp:category/>
</cp:coreProperties>
</file>