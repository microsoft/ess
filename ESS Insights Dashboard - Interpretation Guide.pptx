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0" r:id="rId3"/>
    <p:sldId id="257" r:id="rId4"/>
    <p:sldId id="271" r:id="rId5"/>
    <p:sldId id="269" r:id="rId6"/>
    <p:sldId id="258" r:id="rId7"/>
    <p:sldId id="259" r:id="rId8"/>
    <p:sldId id="274" r:id="rId9"/>
    <p:sldId id="272" r:id="rId10"/>
    <p:sldId id="273"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8" d="100"/>
          <a:sy n="88" d="100"/>
        </p:scale>
        <p:origin x="420"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pic>
        <p:nvPicPr>
          <p:cNvPr id="3" name="Picture 2" descr="copilot_logo.png"/>
          <p:cNvPicPr>
            <a:picLocks noChangeAspect="1"/>
          </p:cNvPicPr>
          <p:nvPr/>
        </p:nvPicPr>
        <p:blipFill>
          <a:blip r:embed="rId3"/>
          <a:stretch>
            <a:fillRect/>
          </a:stretch>
        </p:blipFill>
        <p:spPr>
          <a:xfrm>
            <a:off x="548640" y="502920"/>
            <a:ext cx="384048" cy="384048"/>
          </a:xfrm>
          <a:prstGeom prst="rect">
            <a:avLst/>
          </a:prstGeom>
        </p:spPr>
      </p:pic>
      <p:sp>
        <p:nvSpPr>
          <p:cNvPr id="4" name="TextBox 3"/>
          <p:cNvSpPr txBox="1"/>
          <p:nvPr/>
        </p:nvSpPr>
        <p:spPr>
          <a:xfrm>
            <a:off x="1024128" y="502920"/>
            <a:ext cx="5486400" cy="457200"/>
          </a:xfrm>
          <a:prstGeom prst="rect">
            <a:avLst/>
          </a:prstGeom>
          <a:noFill/>
        </p:spPr>
        <p:txBody>
          <a:bodyPr wrap="square" lIns="25400" tIns="12700" rIns="25400" bIns="12700" anchor="ctr">
            <a:spAutoFit/>
          </a:bodyPr>
          <a:lstStyle/>
          <a:p>
            <a:pPr algn="l"/>
            <a:r>
              <a:rPr sz="1500" b="1" i="0">
                <a:solidFill>
                  <a:srgbClr val="262626"/>
                </a:solidFill>
                <a:latin typeface="Segoe UI"/>
              </a:rPr>
              <a:t>Microsoft Copilot Studio  </a:t>
            </a:r>
            <a:r>
              <a:rPr sz="1500" b="0" i="0">
                <a:solidFill>
                  <a:srgbClr val="767171"/>
                </a:solidFill>
                <a:latin typeface="Segoe UI"/>
              </a:rPr>
              <a:t>| Employee Self-Service Agent</a:t>
            </a:r>
          </a:p>
        </p:txBody>
      </p:sp>
      <p:sp>
        <p:nvSpPr>
          <p:cNvPr id="5" name="TextBox 4"/>
          <p:cNvSpPr txBox="1"/>
          <p:nvPr/>
        </p:nvSpPr>
        <p:spPr>
          <a:xfrm>
            <a:off x="548640" y="2148840"/>
            <a:ext cx="8686800" cy="1828800"/>
          </a:xfrm>
          <a:prstGeom prst="rect">
            <a:avLst/>
          </a:prstGeom>
          <a:noFill/>
        </p:spPr>
        <p:txBody>
          <a:bodyPr wrap="square" lIns="25400" tIns="12700" rIns="25400" bIns="12700" anchor="t">
            <a:spAutoFit/>
          </a:bodyPr>
          <a:lstStyle/>
          <a:p>
            <a:pPr algn="l">
              <a:lnSpc>
                <a:spcPct val="100000"/>
              </a:lnSpc>
            </a:pPr>
            <a:r>
              <a:rPr sz="4600" b="1" i="0">
                <a:solidFill>
                  <a:srgbClr val="463668"/>
                </a:solidFill>
                <a:latin typeface="Segoe UI"/>
              </a:rPr>
              <a:t>ESS Insights Dashboard</a:t>
            </a:r>
          </a:p>
          <a:p>
            <a:pPr algn="l">
              <a:lnSpc>
                <a:spcPct val="100000"/>
              </a:lnSpc>
            </a:pPr>
            <a:r>
              <a:rPr sz="4600" b="1" i="0">
                <a:solidFill>
                  <a:srgbClr val="463668"/>
                </a:solidFill>
                <a:latin typeface="Segoe UI"/>
              </a:rPr>
              <a:t>Interpretation Guide</a:t>
            </a:r>
          </a:p>
        </p:txBody>
      </p:sp>
      <p:sp>
        <p:nvSpPr>
          <p:cNvPr id="6" name="TextBox 5"/>
          <p:cNvSpPr txBox="1"/>
          <p:nvPr/>
        </p:nvSpPr>
        <p:spPr>
          <a:xfrm>
            <a:off x="566928" y="4114800"/>
            <a:ext cx="8229600" cy="365760"/>
          </a:xfrm>
          <a:prstGeom prst="rect">
            <a:avLst/>
          </a:prstGeom>
          <a:noFill/>
        </p:spPr>
        <p:txBody>
          <a:bodyPr wrap="square" lIns="25400" tIns="12700" rIns="25400" bIns="12700" anchor="t">
            <a:spAutoFit/>
          </a:bodyPr>
          <a:lstStyle/>
          <a:p>
            <a:pPr algn="l"/>
            <a:r>
              <a:rPr sz="1300" b="0" i="0">
                <a:solidFill>
                  <a:srgbClr val="262626"/>
                </a:solidFill>
                <a:latin typeface="Segoe UI"/>
              </a:rPr>
              <a:t>Get the template and docs at  </a:t>
            </a:r>
            <a:r>
              <a:rPr sz="1300" b="1" i="0">
                <a:solidFill>
                  <a:srgbClr val="0563C1"/>
                </a:solidFill>
                <a:latin typeface="Segoe UI"/>
              </a:rPr>
              <a:t>https://github.com/microsoft/ESS</a:t>
            </a:r>
          </a:p>
        </p:txBody>
      </p:sp>
      <p:sp>
        <p:nvSpPr>
          <p:cNvPr id="7" name="TextBox 6"/>
          <p:cNvSpPr txBox="1"/>
          <p:nvPr/>
        </p:nvSpPr>
        <p:spPr>
          <a:xfrm>
            <a:off x="566928" y="4572000"/>
            <a:ext cx="8229600" cy="320040"/>
          </a:xfrm>
          <a:prstGeom prst="rect">
            <a:avLst/>
          </a:prstGeom>
          <a:noFill/>
        </p:spPr>
        <p:txBody>
          <a:bodyPr wrap="square" lIns="25400" tIns="12700" rIns="25400" bIns="12700" anchor="t">
            <a:spAutoFit/>
          </a:bodyPr>
          <a:lstStyle/>
          <a:p>
            <a:pPr algn="l"/>
            <a:r>
              <a:rPr lang="en-US" sz="1200" b="0" i="0">
                <a:solidFill>
                  <a:srgbClr val="767171"/>
                </a:solidFill>
                <a:latin typeface="Segoe UI"/>
              </a:rPr>
              <a:t>Last updated 8/19/26</a:t>
            </a:r>
            <a:endParaRPr sz="1200" b="0" i="0">
              <a:solidFill>
                <a:srgbClr val="767171"/>
              </a:solidFill>
              <a:latin typeface="Segoe UI"/>
            </a:endParaRPr>
          </a:p>
        </p:txBody>
      </p:sp>
      <p:sp>
        <p:nvSpPr>
          <p:cNvPr id="8" name="TextBox 7"/>
          <p:cNvSpPr txBox="1"/>
          <p:nvPr/>
        </p:nvSpPr>
        <p:spPr>
          <a:xfrm>
            <a:off x="566928" y="5989320"/>
            <a:ext cx="8778240" cy="731520"/>
          </a:xfrm>
          <a:prstGeom prst="rect">
            <a:avLst/>
          </a:prstGeom>
          <a:noFill/>
        </p:spPr>
        <p:txBody>
          <a:bodyPr wrap="square" lIns="25400" tIns="12700" rIns="25400" bIns="12700" anchor="t">
            <a:spAutoFit/>
          </a:bodyPr>
          <a:lstStyle/>
          <a:p>
            <a:pPr algn="l">
              <a:lnSpc>
                <a:spcPct val="105000"/>
              </a:lnSpc>
            </a:pPr>
            <a:r>
              <a:rPr sz="950" b="0" i="1">
                <a:solidFill>
                  <a:srgbClr val="767171"/>
                </a:solidFill>
                <a:latin typeface="Segoe UI"/>
              </a:rPr>
              <a:t>The content in this interpretation guide is intended solely to help you better understand the ESS Insights dashboard and the questions it can answer. All figures shown are generated from demo data; once you connect your own Copilot Studio agent, your insights may look materially different.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48640" y="457200"/>
            <a:ext cx="384048" cy="384048"/>
          </a:xfrm>
          <a:prstGeom prst="rect">
            <a:avLst/>
          </a:prstGeom>
        </p:spPr>
      </p:pic>
      <p:sp>
        <p:nvSpPr>
          <p:cNvPr id="4" name="TextBox 3"/>
          <p:cNvSpPr txBox="1"/>
          <p:nvPr/>
        </p:nvSpPr>
        <p:spPr>
          <a:xfrm>
            <a:off x="548640" y="1051560"/>
            <a:ext cx="7315200" cy="640080"/>
          </a:xfrm>
          <a:prstGeom prst="rect">
            <a:avLst/>
          </a:prstGeom>
          <a:noFill/>
        </p:spPr>
        <p:txBody>
          <a:bodyPr wrap="square">
            <a:spAutoFit/>
          </a:bodyPr>
          <a:lstStyle/>
          <a:p>
            <a:pPr algn="l"/>
            <a:r>
              <a:rPr sz="3400" b="1" i="0">
                <a:solidFill>
                  <a:srgbClr val="463668"/>
                </a:solidFill>
                <a:latin typeface="Segoe UI"/>
              </a:rPr>
              <a:t>The three numbers that matter</a:t>
            </a:r>
          </a:p>
        </p:txBody>
      </p:sp>
      <p:sp>
        <p:nvSpPr>
          <p:cNvPr id="5" name="Rectangle 4"/>
          <p:cNvSpPr/>
          <p:nvPr/>
        </p:nvSpPr>
        <p:spPr>
          <a:xfrm>
            <a:off x="585216" y="1764792"/>
            <a:ext cx="2377440" cy="5486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057400"/>
            <a:ext cx="11064240" cy="42062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331720"/>
            <a:ext cx="10332720" cy="600000"/>
          </a:xfrm>
          <a:prstGeom prst="rect">
            <a:avLst/>
          </a:prstGeom>
          <a:noFill/>
        </p:spPr>
        <p:txBody>
          <a:bodyPr wrap="square">
            <a:spAutoFit/>
          </a:bodyPr>
          <a:lstStyle/>
          <a:p>
            <a:r>
              <a:rPr sz="1350" b="0" i="0">
                <a:solidFill>
                  <a:srgbClr val="262626"/>
                </a:solidFill>
                <a:latin typeface="Segoe UI"/>
              </a:rPr>
              <a:t>If you read nothing else in this guide, read this. Three numbers tell the whole story — everything else in this deck explains and defends them.</a:t>
            </a:r>
          </a:p>
        </p:txBody>
      </p:sp>
      <p:sp>
        <p:nvSpPr>
          <p:cNvPr id="8" name="TextBox 7"/>
          <p:cNvSpPr txBox="1"/>
          <p:nvPr/>
        </p:nvSpPr>
        <p:spPr>
          <a:xfrm>
            <a:off x="914400" y="3031720"/>
            <a:ext cx="10332720" cy="313192"/>
          </a:xfrm>
          <a:prstGeom prst="rect">
            <a:avLst/>
          </a:prstGeom>
          <a:noFill/>
        </p:spPr>
        <p:txBody>
          <a:bodyPr wrap="square">
            <a:spAutoFit/>
          </a:bodyPr>
          <a:lstStyle/>
          <a:p>
            <a:r>
              <a:rPr sz="1500" b="1" i="0">
                <a:solidFill>
                  <a:srgbClr val="0563C1"/>
                </a:solidFill>
                <a:latin typeface="Segoe UI"/>
              </a:rPr>
              <a:t>REACH — Conversations and Conversation Users</a:t>
            </a:r>
          </a:p>
        </p:txBody>
      </p:sp>
      <p:sp>
        <p:nvSpPr>
          <p:cNvPr id="9" name="TextBox 8"/>
          <p:cNvSpPr txBox="1"/>
          <p:nvPr/>
        </p:nvSpPr>
        <p:spPr>
          <a:xfrm>
            <a:off x="914400" y="3428429"/>
            <a:ext cx="10332720" cy="595064"/>
          </a:xfrm>
          <a:prstGeom prst="rect">
            <a:avLst/>
          </a:prstGeom>
          <a:noFill/>
        </p:spPr>
        <p:txBody>
          <a:bodyPr wrap="square">
            <a:spAutoFit/>
          </a:bodyPr>
          <a:lstStyle/>
          <a:p>
            <a:r>
              <a:rPr sz="1250" b="0" i="0">
                <a:solidFill>
                  <a:srgbClr val="262626"/>
                </a:solidFill>
                <a:latin typeface="Segoe UI"/>
              </a:rPr>
              <a:t>How many employees actually used the agent, and how often they came back. Open: Executive Summary, then Adoption.</a:t>
            </a:r>
          </a:p>
        </p:txBody>
      </p:sp>
      <p:sp>
        <p:nvSpPr>
          <p:cNvPr id="10" name="TextBox 9"/>
          <p:cNvSpPr txBox="1"/>
          <p:nvPr/>
        </p:nvSpPr>
        <p:spPr>
          <a:xfrm>
            <a:off x="914400" y="4075693"/>
            <a:ext cx="10332720" cy="313192"/>
          </a:xfrm>
          <a:prstGeom prst="rect">
            <a:avLst/>
          </a:prstGeom>
          <a:noFill/>
        </p:spPr>
        <p:txBody>
          <a:bodyPr wrap="square">
            <a:spAutoFit/>
          </a:bodyPr>
          <a:lstStyle/>
          <a:p>
            <a:r>
              <a:rPr sz="1500" b="1" i="0">
                <a:solidFill>
                  <a:srgbClr val="0563C1"/>
                </a:solidFill>
                <a:latin typeface="Segoe UI"/>
              </a:rPr>
              <a:t>EFFECTIVENESS — Resolution Rate</a:t>
            </a:r>
          </a:p>
        </p:txBody>
      </p:sp>
      <p:sp>
        <p:nvSpPr>
          <p:cNvPr id="11" name="TextBox 10"/>
          <p:cNvSpPr txBox="1"/>
          <p:nvPr/>
        </p:nvSpPr>
        <p:spPr>
          <a:xfrm>
            <a:off x="914400" y="4472403"/>
            <a:ext cx="10332720" cy="595064"/>
          </a:xfrm>
          <a:prstGeom prst="rect">
            <a:avLst/>
          </a:prstGeom>
          <a:noFill/>
        </p:spPr>
        <p:txBody>
          <a:bodyPr wrap="square">
            <a:spAutoFit/>
          </a:bodyPr>
          <a:lstStyle/>
          <a:p>
            <a:r>
              <a:rPr sz="1250" b="0" i="0">
                <a:solidFill>
                  <a:srgbClr val="262626"/>
                </a:solidFill>
                <a:latin typeface="Segoe UI"/>
              </a:rPr>
              <a:t>The share of real conversations the agent resolved with no human help. This is the proof the agent works. Open: Conversation Outcomes.</a:t>
            </a:r>
          </a:p>
        </p:txBody>
      </p:sp>
      <p:sp>
        <p:nvSpPr>
          <p:cNvPr id="12" name="TextBox 11"/>
          <p:cNvSpPr txBox="1"/>
          <p:nvPr/>
        </p:nvSpPr>
        <p:spPr>
          <a:xfrm>
            <a:off x="914400" y="5119666"/>
            <a:ext cx="10332720" cy="313192"/>
          </a:xfrm>
          <a:prstGeom prst="rect">
            <a:avLst/>
          </a:prstGeom>
          <a:noFill/>
        </p:spPr>
        <p:txBody>
          <a:bodyPr wrap="square">
            <a:spAutoFit/>
          </a:bodyPr>
          <a:lstStyle/>
          <a:p>
            <a:r>
              <a:rPr sz="1500" b="1" i="0">
                <a:solidFill>
                  <a:srgbClr val="0563C1"/>
                </a:solidFill>
                <a:latin typeface="Segoe UI"/>
              </a:rPr>
              <a:t>VALUE — Net Value and Annualized Value</a:t>
            </a:r>
          </a:p>
        </p:txBody>
      </p:sp>
      <p:sp>
        <p:nvSpPr>
          <p:cNvPr id="13" name="TextBox 12"/>
          <p:cNvSpPr txBox="1"/>
          <p:nvPr/>
        </p:nvSpPr>
        <p:spPr>
          <a:xfrm>
            <a:off x="914400" y="5516376"/>
            <a:ext cx="10332720" cy="595064"/>
          </a:xfrm>
          <a:prstGeom prst="rect">
            <a:avLst/>
          </a:prstGeom>
          <a:noFill/>
        </p:spPr>
        <p:txBody>
          <a:bodyPr wrap="square">
            <a:spAutoFit/>
          </a:bodyPr>
          <a:lstStyle/>
          <a:p>
            <a:r>
              <a:rPr sz="1250" b="0" i="0">
                <a:solidFill>
                  <a:srgbClr val="262626"/>
                </a:solidFill>
                <a:latin typeface="Segoe UI"/>
              </a:rPr>
              <a:t>Hours saved converted to dollars, net of agent cost, using assumptions you control. Open: Business Impact.</a:t>
            </a:r>
          </a:p>
        </p:txBody>
      </p:sp>
      <p:sp>
        <p:nvSpPr>
          <p:cNvPr id="14" name="TextBox 13"/>
          <p:cNvSpPr txBox="1"/>
          <p:nvPr/>
        </p:nvSpPr>
        <p:spPr>
          <a:xfrm>
            <a:off x="548640" y="6343640"/>
            <a:ext cx="11064240" cy="414360"/>
          </a:xfrm>
          <a:prstGeom prst="rect">
            <a:avLst/>
          </a:prstGeom>
          <a:noFill/>
        </p:spPr>
        <p:txBody>
          <a:bodyPr wrap="square">
            <a:spAutoFit/>
          </a:bodyPr>
          <a:lstStyle/>
          <a:p>
            <a:r>
              <a:rPr sz="950" b="0" i="1">
                <a:solidFill>
                  <a:srgbClr val="767171"/>
                </a:solidFill>
                <a:latin typeface="Segoe UI"/>
              </a:rPr>
              <a:t>Read leading indicators (quality, adoption, productivity) weekly; read lagging indicators (operational KPIs, business outcomes) monthly. Do not judge ROI in week 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opilot_logo.png"/>
          <p:cNvPicPr>
            <a:picLocks noChangeAspect="1"/>
          </p:cNvPicPr>
          <p:nvPr/>
        </p:nvPicPr>
        <p:blipFill>
          <a:blip r:embed="rId2"/>
          <a:stretch>
            <a:fillRect/>
          </a:stretch>
        </p:blipFill>
        <p:spPr>
          <a:xfrm>
            <a:off x="548640" y="457200"/>
            <a:ext cx="384048" cy="384048"/>
          </a:xfrm>
          <a:prstGeom prst="rect">
            <a:avLst/>
          </a:prstGeom>
        </p:spPr>
      </p:pic>
      <p:sp>
        <p:nvSpPr>
          <p:cNvPr id="4" name="TextBox 3"/>
          <p:cNvSpPr txBox="1"/>
          <p:nvPr/>
        </p:nvSpPr>
        <p:spPr>
          <a:xfrm>
            <a:off x="548640" y="1051560"/>
            <a:ext cx="7315200" cy="640080"/>
          </a:xfrm>
          <a:prstGeom prst="rect">
            <a:avLst/>
          </a:prstGeom>
          <a:noFill/>
        </p:spPr>
        <p:txBody>
          <a:bodyPr wrap="square" lIns="25400" tIns="12700" rIns="25400" bIns="12700" anchor="t">
            <a:spAutoFit/>
          </a:bodyPr>
          <a:lstStyle/>
          <a:p>
            <a:pPr algn="l"/>
            <a:r>
              <a:rPr sz="3400" b="1" i="0">
                <a:solidFill>
                  <a:srgbClr val="463668"/>
                </a:solidFill>
                <a:latin typeface="Segoe UI"/>
              </a:rPr>
              <a:t>Introduction</a:t>
            </a:r>
          </a:p>
        </p:txBody>
      </p:sp>
      <p:sp>
        <p:nvSpPr>
          <p:cNvPr id="5" name="Rectangle 4"/>
          <p:cNvSpPr/>
          <p:nvPr/>
        </p:nvSpPr>
        <p:spPr>
          <a:xfrm>
            <a:off x="585216" y="1764792"/>
            <a:ext cx="2377440" cy="5486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057400"/>
            <a:ext cx="11064240" cy="42062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331720"/>
            <a:ext cx="10332720" cy="1280160"/>
          </a:xfrm>
          <a:prstGeom prst="rect">
            <a:avLst/>
          </a:prstGeom>
          <a:noFill/>
        </p:spPr>
        <p:txBody>
          <a:bodyPr wrap="square" lIns="25400" tIns="12700" rIns="25400" bIns="12700" anchor="t">
            <a:spAutoFit/>
          </a:bodyPr>
          <a:lstStyle/>
          <a:p>
            <a:pPr algn="l">
              <a:lnSpc>
                <a:spcPct val="112000"/>
              </a:lnSpc>
            </a:pPr>
            <a:r>
              <a:rPr sz="1350" b="0" i="0">
                <a:solidFill>
                  <a:srgbClr val="262626"/>
                </a:solidFill>
                <a:latin typeface="Segoe UI"/>
              </a:rPr>
              <a:t>This guide walks through the ESS Insights dashboard page by page and, for each page, explains what the visuals mean and — more importantly — what to do with them. It is written from a consultant's point of view: every metric is paired with an interpretation and a concrete recommendation so you can turn the numbers into action, not just read them. Every page also displays a data-window caption (“Data window: &lt;start&gt; – &lt;end&gt; • N users, N conversations”) — every figure you see is scoped to that window, so always check it before comparing numbers across pages or over time.</a:t>
            </a:r>
          </a:p>
        </p:txBody>
      </p:sp>
      <p:sp>
        <p:nvSpPr>
          <p:cNvPr id="8" name="TextBox 7"/>
          <p:cNvSpPr txBox="1"/>
          <p:nvPr/>
        </p:nvSpPr>
        <p:spPr>
          <a:xfrm>
            <a:off x="914400" y="3794760"/>
            <a:ext cx="10332720" cy="457200"/>
          </a:xfrm>
          <a:prstGeom prst="rect">
            <a:avLst/>
          </a:prstGeom>
          <a:noFill/>
        </p:spPr>
        <p:txBody>
          <a:bodyPr wrap="square" lIns="25400" tIns="12700" rIns="25400" bIns="12700" anchor="t">
            <a:spAutoFit/>
          </a:bodyPr>
          <a:lstStyle/>
          <a:p>
            <a:pPr algn="l"/>
            <a:r>
              <a:rPr sz="1500" b="1" i="0">
                <a:solidFill>
                  <a:srgbClr val="0563C1"/>
                </a:solidFill>
                <a:latin typeface="Segoe UI"/>
              </a:rPr>
              <a:t>Detailed Slide Interpretation</a:t>
            </a:r>
          </a:p>
        </p:txBody>
      </p:sp>
      <p:sp>
        <p:nvSpPr>
          <p:cNvPr id="9" name="TextBox 8"/>
          <p:cNvSpPr txBox="1"/>
          <p:nvPr/>
        </p:nvSpPr>
        <p:spPr>
          <a:xfrm>
            <a:off x="914400" y="4206240"/>
            <a:ext cx="10332720" cy="914400"/>
          </a:xfrm>
          <a:prstGeom prst="rect">
            <a:avLst/>
          </a:prstGeom>
          <a:noFill/>
        </p:spPr>
        <p:txBody>
          <a:bodyPr wrap="square" lIns="25400" tIns="12700" rIns="25400" bIns="12700" anchor="t">
            <a:spAutoFit/>
          </a:bodyPr>
          <a:lstStyle/>
          <a:p>
            <a:pPr algn="l">
              <a:lnSpc>
                <a:spcPct val="110000"/>
              </a:lnSpc>
            </a:pPr>
            <a:r>
              <a:rPr sz="1250" b="0" i="0">
                <a:solidFill>
                  <a:srgbClr val="262626"/>
                </a:solidFill>
                <a:latin typeface="Segoe UI"/>
              </a:rPr>
              <a:t>For each dashboard page you'll find the page recreated with numbered markers. Each number maps to a callout that poses the key business question, interprets what the data is telling you, and recommends a next step. Follow the numbers in order to read the page the way a consultant would.</a:t>
            </a:r>
          </a:p>
        </p:txBody>
      </p:sp>
      <p:sp>
        <p:nvSpPr>
          <p:cNvPr id="10" name="TextBox 9"/>
          <p:cNvSpPr txBox="1"/>
          <p:nvPr/>
        </p:nvSpPr>
        <p:spPr>
          <a:xfrm>
            <a:off x="914400" y="5349240"/>
            <a:ext cx="10332720" cy="457200"/>
          </a:xfrm>
          <a:prstGeom prst="rect">
            <a:avLst/>
          </a:prstGeom>
          <a:noFill/>
        </p:spPr>
        <p:txBody>
          <a:bodyPr wrap="square" lIns="25400" tIns="12700" rIns="25400" bIns="12700" anchor="t">
            <a:spAutoFit/>
          </a:bodyPr>
          <a:lstStyle/>
          <a:p>
            <a:pPr algn="l"/>
            <a:r>
              <a:rPr sz="1500" b="1" i="0">
                <a:solidFill>
                  <a:srgbClr val="0563C1"/>
                </a:solidFill>
                <a:latin typeface="Segoe UI"/>
              </a:rPr>
              <a:t>Questions?</a:t>
            </a:r>
          </a:p>
        </p:txBody>
      </p:sp>
      <p:sp>
        <p:nvSpPr>
          <p:cNvPr id="11" name="TextBox 10"/>
          <p:cNvSpPr txBox="1"/>
          <p:nvPr/>
        </p:nvSpPr>
        <p:spPr>
          <a:xfrm>
            <a:off x="914400" y="5742432"/>
            <a:ext cx="10332720" cy="457200"/>
          </a:xfrm>
          <a:prstGeom prst="rect">
            <a:avLst/>
          </a:prstGeom>
          <a:noFill/>
        </p:spPr>
        <p:txBody>
          <a:bodyPr wrap="square" lIns="25400" tIns="12700" rIns="25400" bIns="12700" anchor="t">
            <a:spAutoFit/>
          </a:bodyPr>
          <a:lstStyle/>
          <a:p>
            <a:pPr algn="l"/>
            <a:r>
              <a:rPr sz="1250" b="0" i="0">
                <a:solidFill>
                  <a:srgbClr val="262626"/>
                </a:solidFill>
                <a:latin typeface="Segoe UI"/>
              </a:rPr>
              <a:t>Reach out to your deployment team or open an issue on the ESS Insights repository.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48640" y="457200"/>
            <a:ext cx="384048" cy="384048"/>
          </a:xfrm>
          <a:prstGeom prst="rect">
            <a:avLst/>
          </a:prstGeom>
        </p:spPr>
      </p:pic>
      <p:sp>
        <p:nvSpPr>
          <p:cNvPr id="4" name="TextBox 3"/>
          <p:cNvSpPr txBox="1"/>
          <p:nvPr/>
        </p:nvSpPr>
        <p:spPr>
          <a:xfrm>
            <a:off x="548640" y="1051560"/>
            <a:ext cx="11414760" cy="784830"/>
          </a:xfrm>
          <a:prstGeom prst="rect">
            <a:avLst/>
          </a:prstGeom>
          <a:noFill/>
        </p:spPr>
        <p:txBody>
          <a:bodyPr wrap="square">
            <a:spAutoFit/>
          </a:bodyPr>
          <a:lstStyle/>
          <a:p>
            <a:pPr algn="l"/>
            <a:r>
              <a:rPr sz="2250" b="1" i="0" dirty="0">
                <a:solidFill>
                  <a:srgbClr val="463668"/>
                </a:solidFill>
                <a:latin typeface="Segoe UI"/>
              </a:rPr>
              <a:t>Why the conversation count is smaller than the visit count — and why that is correct</a:t>
            </a:r>
          </a:p>
        </p:txBody>
      </p:sp>
      <p:sp>
        <p:nvSpPr>
          <p:cNvPr id="5" name="Rectangle 4"/>
          <p:cNvSpPr/>
          <p:nvPr/>
        </p:nvSpPr>
        <p:spPr>
          <a:xfrm>
            <a:off x="585216" y="1764792"/>
            <a:ext cx="2377440" cy="5486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057400"/>
            <a:ext cx="11064240" cy="42062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331720"/>
            <a:ext cx="10332720" cy="600000"/>
          </a:xfrm>
          <a:prstGeom prst="rect">
            <a:avLst/>
          </a:prstGeom>
          <a:noFill/>
        </p:spPr>
        <p:txBody>
          <a:bodyPr wrap="square">
            <a:spAutoFit/>
          </a:bodyPr>
          <a:lstStyle/>
          <a:p>
            <a:r>
              <a:rPr sz="1350" b="0" i="0">
                <a:solidFill>
                  <a:srgbClr val="262626"/>
                </a:solidFill>
                <a:latin typeface="Segoe UI"/>
              </a:rPr>
              <a:t>Every record in the transcript export is an agent VISIT. The report classifies every visit into one of three types before it reaches any rate or ROI figure.</a:t>
            </a:r>
          </a:p>
        </p:txBody>
      </p:sp>
      <p:sp>
        <p:nvSpPr>
          <p:cNvPr id="8" name="TextBox 7"/>
          <p:cNvSpPr txBox="1"/>
          <p:nvPr/>
        </p:nvSpPr>
        <p:spPr>
          <a:xfrm>
            <a:off x="914400" y="3031720"/>
            <a:ext cx="10332720" cy="469788"/>
          </a:xfrm>
          <a:prstGeom prst="rect">
            <a:avLst/>
          </a:prstGeom>
          <a:noFill/>
        </p:spPr>
        <p:txBody>
          <a:bodyPr wrap="square">
            <a:spAutoFit/>
          </a:bodyPr>
          <a:lstStyle/>
          <a:p>
            <a:r>
              <a:rPr sz="1500" b="1" i="0">
                <a:solidFill>
                  <a:srgbClr val="0563C1"/>
                </a:solidFill>
                <a:latin typeface="Segoe UI"/>
              </a:rPr>
              <a:t>The three visit types</a:t>
            </a:r>
          </a:p>
        </p:txBody>
      </p:sp>
      <p:sp>
        <p:nvSpPr>
          <p:cNvPr id="9" name="TextBox 8"/>
          <p:cNvSpPr txBox="1"/>
          <p:nvPr/>
        </p:nvSpPr>
        <p:spPr>
          <a:xfrm>
            <a:off x="914400" y="3626784"/>
            <a:ext cx="10332720" cy="892597"/>
          </a:xfrm>
          <a:prstGeom prst="rect">
            <a:avLst/>
          </a:prstGeom>
          <a:noFill/>
        </p:spPr>
        <p:txBody>
          <a:bodyPr wrap="square">
            <a:spAutoFit/>
          </a:bodyPr>
          <a:lstStyle/>
          <a:p>
            <a:r>
              <a:rPr sz="1250" b="0" i="0">
                <a:solidFill>
                  <a:srgbClr val="262626"/>
                </a:solidFill>
                <a:latin typeface="Segoe UI"/>
              </a:rPr>
              <a:t>• Conversation — a real user turn. This is the basis for every rate, topic and ROI figure.</a:t>
            </a:r>
          </a:p>
          <a:p>
            <a:r>
              <a:rPr sz="1250" b="0" i="0">
                <a:solidFill>
                  <a:srgbClr val="262626"/>
                </a:solidFill>
                <a:latin typeface="Segoe UI"/>
              </a:rPr>
              <a:t>• Agent Error — the platform failed before a real exchange. A reliability signal, not a content one.</a:t>
            </a:r>
          </a:p>
          <a:p>
            <a:r>
              <a:rPr sz="1250" b="0" i="0">
                <a:solidFill>
                  <a:srgbClr val="262626"/>
                </a:solidFill>
                <a:latin typeface="Segoe UI"/>
              </a:rPr>
              <a:t>• Visits, no interaction — the agent initialized but nothing was exchanged. Reach, not engagement.</a:t>
            </a:r>
          </a:p>
        </p:txBody>
      </p:sp>
      <p:sp>
        <p:nvSpPr>
          <p:cNvPr id="10" name="TextBox 9"/>
          <p:cNvSpPr txBox="1"/>
          <p:nvPr/>
        </p:nvSpPr>
        <p:spPr>
          <a:xfrm>
            <a:off x="914400" y="4597680"/>
            <a:ext cx="10332720" cy="469788"/>
          </a:xfrm>
          <a:prstGeom prst="rect">
            <a:avLst/>
          </a:prstGeom>
          <a:noFill/>
        </p:spPr>
        <p:txBody>
          <a:bodyPr wrap="square">
            <a:spAutoFit/>
          </a:bodyPr>
          <a:lstStyle/>
          <a:p>
            <a:r>
              <a:rPr sz="1500" b="1" i="0">
                <a:solidFill>
                  <a:srgbClr val="0563C1"/>
                </a:solidFill>
                <a:latin typeface="Segoe UI"/>
              </a:rPr>
              <a:t>Why rates use Conversations only</a:t>
            </a:r>
          </a:p>
        </p:txBody>
      </p:sp>
      <p:sp>
        <p:nvSpPr>
          <p:cNvPr id="11" name="TextBox 10"/>
          <p:cNvSpPr txBox="1"/>
          <p:nvPr/>
        </p:nvSpPr>
        <p:spPr>
          <a:xfrm>
            <a:off x="914400" y="5192744"/>
            <a:ext cx="10332720" cy="892597"/>
          </a:xfrm>
          <a:prstGeom prst="rect">
            <a:avLst/>
          </a:prstGeom>
          <a:noFill/>
        </p:spPr>
        <p:txBody>
          <a:bodyPr wrap="square">
            <a:spAutoFit/>
          </a:bodyPr>
          <a:lstStyle/>
          <a:p>
            <a:r>
              <a:rPr sz="1250" b="0" i="0">
                <a:solidFill>
                  <a:srgbClr val="262626"/>
                </a:solidFill>
                <a:latin typeface="Segoe UI"/>
              </a:rPr>
              <a:t>Initialization records carry no question, so including them would dilute every rate by an order of magnitude and no topic could be derived from them. A smaller, honest denominator is the defensible one.</a:t>
            </a:r>
          </a:p>
        </p:txBody>
      </p:sp>
      <p:sp>
        <p:nvSpPr>
          <p:cNvPr id="12" name="TextBox 11"/>
          <p:cNvSpPr txBox="1"/>
          <p:nvPr/>
        </p:nvSpPr>
        <p:spPr>
          <a:xfrm>
            <a:off x="548640" y="6343640"/>
            <a:ext cx="11064240" cy="414360"/>
          </a:xfrm>
          <a:prstGeom prst="rect">
            <a:avLst/>
          </a:prstGeom>
          <a:noFill/>
        </p:spPr>
        <p:txBody>
          <a:bodyPr wrap="square">
            <a:spAutoFit/>
          </a:bodyPr>
          <a:lstStyle/>
          <a:p>
            <a:r>
              <a:rPr sz="950" b="0" i="1">
                <a:solidFill>
                  <a:srgbClr val="767171"/>
                </a:solidFill>
                <a:latin typeface="Segoe UI"/>
              </a:rPr>
              <a:t>Total Agent Visits is still available as the raw record count. If reach looks large but conversations look small, that is an engagement question. If Agent Errors are large, that is a reliability question — different problem, different owner.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opilot_logo.png"/>
          <p:cNvPicPr>
            <a:picLocks noChangeAspect="1"/>
          </p:cNvPicPr>
          <p:nvPr/>
        </p:nvPicPr>
        <p:blipFill>
          <a:blip r:embed="rId2"/>
          <a:stretch>
            <a:fillRect/>
          </a:stretch>
        </p:blipFill>
        <p:spPr>
          <a:xfrm>
            <a:off x="548640" y="457200"/>
            <a:ext cx="384048" cy="384048"/>
          </a:xfrm>
          <a:prstGeom prst="rect">
            <a:avLst/>
          </a:prstGeom>
        </p:spPr>
      </p:pic>
      <p:sp>
        <p:nvSpPr>
          <p:cNvPr id="4" name="TextBox 3"/>
          <p:cNvSpPr txBox="1"/>
          <p:nvPr/>
        </p:nvSpPr>
        <p:spPr>
          <a:xfrm>
            <a:off x="548640" y="1051560"/>
            <a:ext cx="7315200" cy="640080"/>
          </a:xfrm>
          <a:prstGeom prst="rect">
            <a:avLst/>
          </a:prstGeom>
          <a:noFill/>
        </p:spPr>
        <p:txBody>
          <a:bodyPr wrap="square" lIns="25400" tIns="12700" rIns="25400" bIns="12700" anchor="t">
            <a:spAutoFit/>
          </a:bodyPr>
          <a:lstStyle/>
          <a:p>
            <a:pPr algn="l"/>
            <a:r>
              <a:rPr sz="3400" b="1" i="0">
                <a:solidFill>
                  <a:srgbClr val="463668"/>
                </a:solidFill>
                <a:latin typeface="Segoe UI"/>
              </a:rPr>
              <a:t>How to Read This Report</a:t>
            </a:r>
          </a:p>
        </p:txBody>
      </p:sp>
      <p:sp>
        <p:nvSpPr>
          <p:cNvPr id="5" name="Rectangle 4"/>
          <p:cNvSpPr/>
          <p:nvPr/>
        </p:nvSpPr>
        <p:spPr>
          <a:xfrm>
            <a:off x="585216" y="1764792"/>
            <a:ext cx="2377440" cy="5486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057400"/>
            <a:ext cx="11064240" cy="42062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247900"/>
            <a:ext cx="10332720" cy="850000"/>
          </a:xfrm>
          <a:prstGeom prst="rect">
            <a:avLst/>
          </a:prstGeom>
          <a:noFill/>
        </p:spPr>
        <p:txBody>
          <a:bodyPr wrap="square" lIns="25400" tIns="12700" rIns="25400" bIns="12700" anchor="t">
            <a:spAutoFit/>
          </a:bodyPr>
          <a:lstStyle/>
          <a:p>
            <a:pPr algn="l">
              <a:lnSpc>
                <a:spcPct val="112000"/>
              </a:lnSpc>
            </a:pPr>
            <a:r>
              <a:rPr sz="1350" b="0" i="0">
                <a:solidFill>
                  <a:srgbClr val="262626"/>
                </a:solidFill>
                <a:latin typeface="Segoe UI"/>
              </a:rPr>
              <a:t>This section gives you a strategic reading order for the eight detailed pages that follow. Read them in this sequence to build a consultant's narrative — from business outcome, to scale of adoption, to quality diagnosis, to your next action — rather than the file order they happen to appear in.</a:t>
            </a:r>
          </a:p>
        </p:txBody>
      </p:sp>
      <p:sp>
        <p:nvSpPr>
          <p:cNvPr id="8" name="TextBox 7"/>
          <p:cNvSpPr txBox="1"/>
          <p:nvPr/>
        </p:nvSpPr>
        <p:spPr>
          <a:xfrm>
            <a:off x="914400" y="3157600"/>
            <a:ext cx="10332720" cy="350000"/>
          </a:xfrm>
          <a:prstGeom prst="rect">
            <a:avLst/>
          </a:prstGeom>
          <a:noFill/>
        </p:spPr>
        <p:txBody>
          <a:bodyPr wrap="square" lIns="25400" tIns="12700" rIns="25400" bIns="12700" anchor="t">
            <a:spAutoFit/>
          </a:bodyPr>
          <a:lstStyle/>
          <a:p>
            <a:pPr algn="l"/>
            <a:r>
              <a:rPr sz="1500" b="1" i="0">
                <a:solidFill>
                  <a:srgbClr val="0563C1"/>
                </a:solidFill>
                <a:latin typeface="Segoe UI"/>
              </a:rPr>
              <a:t>The Consultant's Reading Order</a:t>
            </a:r>
          </a:p>
        </p:txBody>
      </p:sp>
      <p:sp>
        <p:nvSpPr>
          <p:cNvPr id="9" name="TextBox 8"/>
          <p:cNvSpPr txBox="1"/>
          <p:nvPr/>
        </p:nvSpPr>
        <p:spPr>
          <a:xfrm>
            <a:off x="914400" y="3567600"/>
            <a:ext cx="10332720" cy="1948440"/>
          </a:xfrm>
          <a:prstGeom prst="rect">
            <a:avLst/>
          </a:prstGeom>
          <a:noFill/>
        </p:spPr>
        <p:txBody>
          <a:bodyPr wrap="square" lIns="25400" tIns="12700" rIns="25400" bIns="12700" anchor="t">
            <a:spAutoFit/>
          </a:bodyPr>
          <a:lstStyle/>
          <a:p>
            <a:pPr algn="l">
              <a:lnSpc>
                <a:spcPct val="110000"/>
              </a:lnSpc>
            </a:pPr>
            <a:r>
              <a:rPr sz="1250" b="0" i="0">
                <a:solidFill>
                  <a:srgbClr val="262626"/>
                </a:solidFill>
                <a:latin typeface="Segoe UI"/>
              </a:rPr>
              <a:t>1. Business Impact — start here. Is the agent worth it in hours and dollars? This is the headline number every executive asks for first.</a:t>
            </a:r>
          </a:p>
          <a:p>
            <a:pPr algn="l">
              <a:lnSpc>
                <a:spcPct val="110000"/>
              </a:lnSpc>
            </a:pPr>
            <a:r>
              <a:rPr sz="1250" b="0" i="0">
                <a:solidFill>
                  <a:srgbClr val="262626"/>
                </a:solidFill>
                <a:latin typeface="Segoe UI"/>
              </a:rPr>
              <a:t>2. Executive Summary — ESS Business Value Realization — confirms the trend is real, not a one-time spike, and shows whether leading indicators support the lagging ROI number.</a:t>
            </a:r>
          </a:p>
          <a:p>
            <a:pPr algn="l">
              <a:lnSpc>
                <a:spcPct val="110000"/>
              </a:lnSpc>
            </a:pPr>
            <a:r>
              <a:rPr sz="1250" b="0" i="0">
                <a:solidFill>
                  <a:srgbClr val="262626"/>
                </a:solidFill>
                <a:latin typeface="Segoe UI"/>
              </a:rPr>
              <a:t>3. Organization Adoption — establishes scale. A strong ROI on a handful of users is a different story than the same ROI at enterprise scale.</a:t>
            </a:r>
          </a:p>
          <a:p>
            <a:pPr algn="l">
              <a:lnSpc>
                <a:spcPct val="110000"/>
              </a:lnSpc>
            </a:pPr>
            <a:r>
              <a:rPr sz="1250" b="0" i="0">
                <a:solidFill>
                  <a:srgbClr val="262626"/>
                </a:solidFill>
                <a:latin typeface="Segoe UI"/>
              </a:rPr>
              <a:t>4. Conversation Outcomes and Agent Feedback — the quality layer. These pages explain WHY the numbers above look the way they do: is the agent actually resolving requests, and do users trust the answers?</a:t>
            </a:r>
          </a:p>
          <a:p>
            <a:pPr algn="l">
              <a:lnSpc>
                <a:spcPct val="110000"/>
              </a:lnSpc>
            </a:pPr>
            <a:r>
              <a:rPr sz="1250" b="0" i="0">
                <a:solidFill>
                  <a:srgbClr val="262626"/>
                </a:solidFill>
                <a:latin typeface="Segoe UI"/>
              </a:rPr>
              <a:t>5. Time to Knowledge and Conversation Details — the evidence layer, for when you need to defend a number or understand a specific topic in depth.</a:t>
            </a:r>
          </a:p>
          <a:p>
            <a:pPr algn="l">
              <a:lnSpc>
                <a:spcPct val="110000"/>
              </a:lnSpc>
            </a:pPr>
            <a:r>
              <a:rPr sz="1250" b="0" i="0">
                <a:solidFill>
                  <a:srgbClr val="262626"/>
                </a:solidFill>
                <a:latin typeface="Segoe UI"/>
              </a:rPr>
              <a:t>Finish on Fix-It Queue — it is deliberately last. It is the backlog: the concrete list of what to fix next, informed by everything you just read.</a:t>
            </a:r>
          </a:p>
        </p:txBody>
      </p:sp>
      <p:sp>
        <p:nvSpPr>
          <p:cNvPr id="10" name="TextBox 9"/>
          <p:cNvSpPr txBox="1"/>
          <p:nvPr/>
        </p:nvSpPr>
        <p:spPr>
          <a:xfrm>
            <a:off x="914400" y="5576040"/>
            <a:ext cx="10332720" cy="350000"/>
          </a:xfrm>
          <a:prstGeom prst="rect">
            <a:avLst/>
          </a:prstGeom>
          <a:noFill/>
        </p:spPr>
        <p:txBody>
          <a:bodyPr wrap="square" lIns="25400" tIns="12700" rIns="25400" bIns="12700" anchor="t">
            <a:spAutoFit/>
          </a:bodyPr>
          <a:lstStyle/>
          <a:p>
            <a:pPr algn="l"/>
            <a:r>
              <a:rPr sz="1500" b="1" i="0">
                <a:solidFill>
                  <a:srgbClr val="0563C1"/>
                </a:solidFill>
                <a:latin typeface="Segoe UI"/>
              </a:rPr>
              <a:t>Three Questions to Ask at Every Review</a:t>
            </a:r>
          </a:p>
        </p:txBody>
      </p:sp>
      <p:sp>
        <p:nvSpPr>
          <p:cNvPr id="11" name="TextBox 10"/>
          <p:cNvSpPr txBox="1"/>
          <p:nvPr/>
        </p:nvSpPr>
        <p:spPr>
          <a:xfrm>
            <a:off x="914400" y="5986040"/>
            <a:ext cx="10332720" cy="277600"/>
          </a:xfrm>
          <a:prstGeom prst="rect">
            <a:avLst/>
          </a:prstGeom>
          <a:noFill/>
        </p:spPr>
        <p:txBody>
          <a:bodyPr wrap="square" lIns="25400" tIns="12700" rIns="25400" bIns="12700" anchor="t">
            <a:spAutoFit/>
          </a:bodyPr>
          <a:lstStyle/>
          <a:p>
            <a:pPr algn="l"/>
            <a:r>
              <a:rPr sz="1250" b="0" i="0">
                <a:solidFill>
                  <a:srgbClr val="262626"/>
                </a:solidFill>
                <a:latin typeface="Segoe UI"/>
              </a:rPr>
              <a:t>Is the trend improving or flat? Is adoption broad or concentrated in a few teams? Does the improvement backlog shrink release over release, or just get longer? If you can answer these three from the pages above, you have everything you need for an executive readout.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9144000" cy="640080"/>
          </a:xfrm>
          <a:prstGeom prst="rect">
            <a:avLst/>
          </a:prstGeom>
          <a:noFill/>
        </p:spPr>
        <p:txBody>
          <a:bodyPr wrap="square" lIns="25400" tIns="12700" rIns="25400" bIns="12700" anchor="t">
            <a:spAutoFit/>
          </a:bodyPr>
          <a:lstStyle/>
          <a:p>
            <a:pPr algn="l"/>
            <a:r>
              <a:rPr sz="3200" b="1" i="0">
                <a:solidFill>
                  <a:srgbClr val="262626"/>
                </a:solidFill>
                <a:latin typeface="Segoe UI"/>
              </a:rPr>
              <a:t>Frequently Asked Questions</a:t>
            </a:r>
          </a:p>
        </p:txBody>
      </p:sp>
      <p:sp>
        <p:nvSpPr>
          <p:cNvPr id="4" name="Rectangle 3"/>
          <p:cNvSpPr/>
          <p:nvPr/>
        </p:nvSpPr>
        <p:spPr>
          <a:xfrm>
            <a:off x="585216" y="1170432"/>
            <a:ext cx="2834640" cy="54864"/>
          </a:xfrm>
          <a:prstGeom prst="rect">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10972800" cy="365760"/>
          </a:xfrm>
          <a:prstGeom prst="rect">
            <a:avLst/>
          </a:prstGeom>
          <a:noFill/>
        </p:spPr>
        <p:txBody>
          <a:bodyPr wrap="square" lIns="25400" tIns="12700" rIns="25400" bIns="12700" anchor="t">
            <a:spAutoFit/>
          </a:bodyPr>
          <a:lstStyle/>
          <a:p>
            <a:pPr algn="l"/>
            <a:r>
              <a:rPr sz="1300" b="1" i="0">
                <a:solidFill>
                  <a:srgbClr val="0563C1"/>
                </a:solidFill>
                <a:latin typeface="Segoe UI"/>
              </a:rPr>
              <a:t>Q:  </a:t>
            </a:r>
            <a:r>
              <a:rPr sz="1300" b="1" i="0">
                <a:solidFill>
                  <a:srgbClr val="262626"/>
                </a:solidFill>
                <a:latin typeface="Segoe UI"/>
              </a:rPr>
              <a:t>What is the ESS Insights dashboard?</a:t>
            </a:r>
          </a:p>
        </p:txBody>
      </p:sp>
      <p:sp>
        <p:nvSpPr>
          <p:cNvPr id="6" name="TextBox 5"/>
          <p:cNvSpPr txBox="1"/>
          <p:nvPr/>
        </p:nvSpPr>
        <p:spPr>
          <a:xfrm>
            <a:off x="640080" y="1984248"/>
            <a:ext cx="10972800" cy="640080"/>
          </a:xfrm>
          <a:prstGeom prst="rect">
            <a:avLst/>
          </a:prstGeom>
          <a:noFill/>
        </p:spPr>
        <p:txBody>
          <a:bodyPr wrap="square" lIns="25400" tIns="12700" rIns="25400" bIns="12700" anchor="t">
            <a:spAutoFit/>
          </a:bodyPr>
          <a:lstStyle/>
          <a:p>
            <a:pPr algn="l">
              <a:lnSpc>
                <a:spcPct val="105000"/>
              </a:lnSpc>
            </a:pPr>
            <a:r>
              <a:rPr sz="1200" b="1" i="0">
                <a:solidFill>
                  <a:srgbClr val="6FAC46"/>
                </a:solidFill>
                <a:latin typeface="Segoe UI"/>
              </a:rPr>
              <a:t>A:  </a:t>
            </a:r>
            <a:r>
              <a:rPr sz="1200" b="0" i="0">
                <a:solidFill>
                  <a:srgbClr val="262626"/>
                </a:solidFill>
                <a:latin typeface="Segoe UI"/>
              </a:rPr>
              <a:t>A Power BI template that turns Copilot Studio conversation data from your Employee Self-Service agent into adoption, effectiveness, sentiment, and ROI insight — all in one place.</a:t>
            </a:r>
          </a:p>
        </p:txBody>
      </p:sp>
      <p:sp>
        <p:nvSpPr>
          <p:cNvPr id="7" name="TextBox 6"/>
          <p:cNvSpPr txBox="1"/>
          <p:nvPr/>
        </p:nvSpPr>
        <p:spPr>
          <a:xfrm>
            <a:off x="640080" y="2633472"/>
            <a:ext cx="10972800" cy="365760"/>
          </a:xfrm>
          <a:prstGeom prst="rect">
            <a:avLst/>
          </a:prstGeom>
          <a:noFill/>
        </p:spPr>
        <p:txBody>
          <a:bodyPr wrap="square" lIns="25400" tIns="12700" rIns="25400" bIns="12700" anchor="t">
            <a:spAutoFit/>
          </a:bodyPr>
          <a:lstStyle/>
          <a:p>
            <a:pPr algn="l"/>
            <a:r>
              <a:rPr sz="1300" b="1" i="0">
                <a:solidFill>
                  <a:srgbClr val="0563C1"/>
                </a:solidFill>
                <a:latin typeface="Segoe UI"/>
              </a:rPr>
              <a:t>Q:  </a:t>
            </a:r>
            <a:r>
              <a:rPr sz="1300" b="1" i="0">
                <a:solidFill>
                  <a:srgbClr val="262626"/>
                </a:solidFill>
                <a:latin typeface="Segoe UI"/>
              </a:rPr>
              <a:t>Where does the data come from?</a:t>
            </a:r>
          </a:p>
        </p:txBody>
      </p:sp>
      <p:sp>
        <p:nvSpPr>
          <p:cNvPr id="8" name="TextBox 7"/>
          <p:cNvSpPr txBox="1"/>
          <p:nvPr/>
        </p:nvSpPr>
        <p:spPr>
          <a:xfrm>
            <a:off x="640080" y="3017520"/>
            <a:ext cx="10972800" cy="640080"/>
          </a:xfrm>
          <a:prstGeom prst="rect">
            <a:avLst/>
          </a:prstGeom>
          <a:noFill/>
        </p:spPr>
        <p:txBody>
          <a:bodyPr wrap="square" lIns="25400" tIns="12700" rIns="25400" bIns="12700" anchor="t">
            <a:spAutoFit/>
          </a:bodyPr>
          <a:lstStyle/>
          <a:p>
            <a:pPr algn="l">
              <a:lnSpc>
                <a:spcPct val="105000"/>
              </a:lnSpc>
            </a:pPr>
            <a:r>
              <a:rPr sz="1200" b="1" i="0">
                <a:solidFill>
                  <a:srgbClr val="6FAC46"/>
                </a:solidFill>
                <a:latin typeface="Segoe UI"/>
              </a:rPr>
              <a:t>A:  </a:t>
            </a:r>
            <a:r>
              <a:rPr sz="1200" b="0" i="0">
                <a:solidFill>
                  <a:srgbClr val="262626"/>
                </a:solidFill>
                <a:latin typeface="Segoe UI"/>
              </a:rPr>
              <a:t>From your Copilot Studio agent's conversation transcripts and analytics. The template ships with demo data so you can explore every page before connecting your own agent.</a:t>
            </a:r>
          </a:p>
        </p:txBody>
      </p:sp>
      <p:sp>
        <p:nvSpPr>
          <p:cNvPr id="9" name="TextBox 8"/>
          <p:cNvSpPr txBox="1"/>
          <p:nvPr/>
        </p:nvSpPr>
        <p:spPr>
          <a:xfrm>
            <a:off x="640080" y="3666744"/>
            <a:ext cx="10972800" cy="365760"/>
          </a:xfrm>
          <a:prstGeom prst="rect">
            <a:avLst/>
          </a:prstGeom>
          <a:noFill/>
        </p:spPr>
        <p:txBody>
          <a:bodyPr wrap="square" lIns="25400" tIns="12700" rIns="25400" bIns="12700" anchor="t">
            <a:spAutoFit/>
          </a:bodyPr>
          <a:lstStyle/>
          <a:p>
            <a:pPr algn="l"/>
            <a:r>
              <a:rPr sz="1300" b="1" i="0">
                <a:solidFill>
                  <a:srgbClr val="0563C1"/>
                </a:solidFill>
                <a:latin typeface="Segoe UI"/>
              </a:rPr>
              <a:t>Q:  </a:t>
            </a:r>
            <a:r>
              <a:rPr sz="1300" b="1" i="0">
                <a:solidFill>
                  <a:srgbClr val="262626"/>
                </a:solidFill>
                <a:latin typeface="Segoe UI"/>
              </a:rPr>
              <a:t>The numbers look different from mine. Why?</a:t>
            </a:r>
          </a:p>
        </p:txBody>
      </p:sp>
      <p:sp>
        <p:nvSpPr>
          <p:cNvPr id="10" name="TextBox 9"/>
          <p:cNvSpPr txBox="1"/>
          <p:nvPr/>
        </p:nvSpPr>
        <p:spPr>
          <a:xfrm>
            <a:off x="640080" y="4050791"/>
            <a:ext cx="10972800" cy="640080"/>
          </a:xfrm>
          <a:prstGeom prst="rect">
            <a:avLst/>
          </a:prstGeom>
          <a:noFill/>
        </p:spPr>
        <p:txBody>
          <a:bodyPr wrap="square" lIns="25400" tIns="12700" rIns="25400" bIns="12700" anchor="t">
            <a:spAutoFit/>
          </a:bodyPr>
          <a:lstStyle/>
          <a:p>
            <a:pPr algn="l">
              <a:lnSpc>
                <a:spcPct val="105000"/>
              </a:lnSpc>
            </a:pPr>
            <a:r>
              <a:rPr sz="1200" b="1" i="0">
                <a:solidFill>
                  <a:srgbClr val="6FAC46"/>
                </a:solidFill>
                <a:latin typeface="Segoe UI"/>
              </a:rPr>
              <a:t>A:  </a:t>
            </a:r>
            <a:r>
              <a:rPr sz="1200" b="0" i="0">
                <a:solidFill>
                  <a:srgbClr val="262626"/>
                </a:solidFill>
                <a:latin typeface="Segoe UI"/>
              </a:rPr>
              <a:t>Every figure in this guide is demo data. Once you connect your own agent, the values, trends, and topic lists will reflect your organization.</a:t>
            </a:r>
          </a:p>
        </p:txBody>
      </p:sp>
      <p:sp>
        <p:nvSpPr>
          <p:cNvPr id="11" name="TextBox 10"/>
          <p:cNvSpPr txBox="1"/>
          <p:nvPr/>
        </p:nvSpPr>
        <p:spPr>
          <a:xfrm>
            <a:off x="640080" y="4700016"/>
            <a:ext cx="10972800" cy="365760"/>
          </a:xfrm>
          <a:prstGeom prst="rect">
            <a:avLst/>
          </a:prstGeom>
          <a:noFill/>
        </p:spPr>
        <p:txBody>
          <a:bodyPr wrap="square" lIns="25400" tIns="12700" rIns="25400" bIns="12700" anchor="t">
            <a:spAutoFit/>
          </a:bodyPr>
          <a:lstStyle/>
          <a:p>
            <a:pPr algn="l"/>
            <a:r>
              <a:rPr sz="1300" b="1" i="0">
                <a:solidFill>
                  <a:srgbClr val="0563C1"/>
                </a:solidFill>
                <a:latin typeface="Segoe UI"/>
              </a:rPr>
              <a:t>Q:  </a:t>
            </a:r>
            <a:r>
              <a:rPr sz="1300" b="1" i="0">
                <a:solidFill>
                  <a:srgbClr val="262626"/>
                </a:solidFill>
                <a:latin typeface="Segoe UI"/>
              </a:rPr>
              <a:t>How often should I review it?</a:t>
            </a:r>
          </a:p>
        </p:txBody>
      </p:sp>
      <p:sp>
        <p:nvSpPr>
          <p:cNvPr id="12" name="TextBox 11"/>
          <p:cNvSpPr txBox="1"/>
          <p:nvPr/>
        </p:nvSpPr>
        <p:spPr>
          <a:xfrm>
            <a:off x="640080" y="5084064"/>
            <a:ext cx="10972800" cy="640080"/>
          </a:xfrm>
          <a:prstGeom prst="rect">
            <a:avLst/>
          </a:prstGeom>
          <a:noFill/>
        </p:spPr>
        <p:txBody>
          <a:bodyPr wrap="square" lIns="25400" tIns="12700" rIns="25400" bIns="12700" anchor="t">
            <a:spAutoFit/>
          </a:bodyPr>
          <a:lstStyle/>
          <a:p>
            <a:pPr algn="l">
              <a:lnSpc>
                <a:spcPct val="105000"/>
              </a:lnSpc>
            </a:pPr>
            <a:r>
              <a:rPr sz="1200" b="1" i="0">
                <a:solidFill>
                  <a:srgbClr val="6FAC46"/>
                </a:solidFill>
                <a:latin typeface="Segoe UI"/>
              </a:rPr>
              <a:t>A:  </a:t>
            </a:r>
            <a:r>
              <a:rPr sz="1200" b="0" i="0">
                <a:solidFill>
                  <a:srgbClr val="262626"/>
                </a:solidFill>
                <a:latin typeface="Segoe UI"/>
              </a:rPr>
              <a:t>Review leading indicators (adoption, quality, sentiment) weekly and lagging indicators (ROI, business outcomes) monthly. Use the Executive Summary page to open steering meetings.</a:t>
            </a:r>
          </a:p>
        </p:txBody>
      </p:sp>
      <p:sp>
        <p:nvSpPr>
          <p:cNvPr id="13" name="TextBox 12"/>
          <p:cNvSpPr txBox="1"/>
          <p:nvPr/>
        </p:nvSpPr>
        <p:spPr>
          <a:xfrm>
            <a:off x="640080" y="5733288"/>
            <a:ext cx="10972800" cy="365760"/>
          </a:xfrm>
          <a:prstGeom prst="rect">
            <a:avLst/>
          </a:prstGeom>
          <a:noFill/>
        </p:spPr>
        <p:txBody>
          <a:bodyPr wrap="square" lIns="25400" tIns="12700" rIns="25400" bIns="12700" anchor="t">
            <a:spAutoFit/>
          </a:bodyPr>
          <a:lstStyle/>
          <a:p>
            <a:pPr algn="l"/>
            <a:r>
              <a:rPr sz="1300" b="1" i="0">
                <a:solidFill>
                  <a:srgbClr val="0563C1"/>
                </a:solidFill>
                <a:latin typeface="Segoe UI"/>
              </a:rPr>
              <a:t>Q:  </a:t>
            </a:r>
            <a:r>
              <a:rPr sz="1300" b="1" i="0">
                <a:solidFill>
                  <a:srgbClr val="262626"/>
                </a:solidFill>
                <a:latin typeface="Segoe UI"/>
              </a:rPr>
              <a:t>What should I do when a metric looks bad?</a:t>
            </a:r>
          </a:p>
        </p:txBody>
      </p:sp>
      <p:sp>
        <p:nvSpPr>
          <p:cNvPr id="14" name="TextBox 13"/>
          <p:cNvSpPr txBox="1"/>
          <p:nvPr/>
        </p:nvSpPr>
        <p:spPr>
          <a:xfrm>
            <a:off x="640080" y="6117336"/>
            <a:ext cx="10972800" cy="640080"/>
          </a:xfrm>
          <a:prstGeom prst="rect">
            <a:avLst/>
          </a:prstGeom>
          <a:noFill/>
        </p:spPr>
        <p:txBody>
          <a:bodyPr wrap="square" lIns="25400" tIns="12700" rIns="25400" bIns="12700" anchor="t">
            <a:spAutoFit/>
          </a:bodyPr>
          <a:lstStyle/>
          <a:p>
            <a:pPr algn="l">
              <a:lnSpc>
                <a:spcPct val="105000"/>
              </a:lnSpc>
            </a:pPr>
            <a:r>
              <a:rPr sz="1200" b="1" i="0">
                <a:solidFill>
                  <a:srgbClr val="6FAC46"/>
                </a:solidFill>
                <a:latin typeface="Segoe UI"/>
              </a:rPr>
              <a:t>A:  </a:t>
            </a:r>
            <a:r>
              <a:rPr sz="1200" b="0" i="0">
                <a:solidFill>
                  <a:srgbClr val="262626"/>
                </a:solidFill>
                <a:latin typeface="Segoe UI"/>
              </a:rPr>
              <a:t>Every detailed page ends with recommendations. Persistent problems flow into the Fix-It Queue page, which turns weak metrics into a prioritized content backlog with owners.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640080"/>
          </a:xfrm>
          <a:prstGeom prst="rect">
            <a:avLst/>
          </a:prstGeom>
          <a:noFill/>
        </p:spPr>
        <p:txBody>
          <a:bodyPr wrap="square" lIns="25400" tIns="12700" rIns="25400" bIns="12700" anchor="t">
            <a:spAutoFit/>
          </a:bodyPr>
          <a:lstStyle/>
          <a:p>
            <a:pPr algn="l"/>
            <a:r>
              <a:rPr sz="3200" b="1" i="0">
                <a:solidFill>
                  <a:srgbClr val="262626"/>
                </a:solidFill>
                <a:latin typeface="Segoe UI"/>
              </a:rPr>
              <a:t>Glossary</a:t>
            </a:r>
          </a:p>
        </p:txBody>
      </p:sp>
      <p:sp>
        <p:nvSpPr>
          <p:cNvPr id="4" name="Rectangle 3"/>
          <p:cNvSpPr/>
          <p:nvPr/>
        </p:nvSpPr>
        <p:spPr>
          <a:xfrm>
            <a:off x="585216" y="1060704"/>
            <a:ext cx="2011680" cy="54864"/>
          </a:xfrm>
          <a:prstGeom prst="rect">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Total Conversations:  </a:t>
            </a:r>
            <a:r>
              <a:rPr sz="1100" b="0" i="0">
                <a:solidFill>
                  <a:srgbClr val="262626"/>
                </a:solidFill>
                <a:latin typeface="Segoe UI"/>
              </a:rPr>
              <a:t>Legacy measure — do not use for reporting. It counts ALL agent visits, including initializations with no user interaction. The correct metric for conversation-level reporting is "Conversations" (see below).</a:t>
            </a:r>
          </a:p>
        </p:txBody>
      </p:sp>
      <p:sp>
        <p:nvSpPr>
          <p:cNvPr id="6" name="TextBox 5"/>
          <p:cNvSpPr txBox="1"/>
          <p:nvPr/>
        </p:nvSpPr>
        <p:spPr>
          <a:xfrm>
            <a:off x="640080" y="2139696"/>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Total Users:  </a:t>
            </a:r>
            <a:r>
              <a:rPr sz="1100" b="0" i="0">
                <a:solidFill>
                  <a:srgbClr val="262626"/>
                </a:solidFill>
                <a:latin typeface="Segoe UI"/>
              </a:rPr>
              <a:t>Number of unique people who engaged the agent.</a:t>
            </a:r>
          </a:p>
        </p:txBody>
      </p:sp>
      <p:sp>
        <p:nvSpPr>
          <p:cNvPr id="7" name="TextBox 6"/>
          <p:cNvSpPr txBox="1"/>
          <p:nvPr/>
        </p:nvSpPr>
        <p:spPr>
          <a:xfrm>
            <a:off x="640080" y="2862072"/>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Sessions per User:  </a:t>
            </a:r>
            <a:r>
              <a:rPr sz="1100" b="0" i="0">
                <a:solidFill>
                  <a:srgbClr val="262626"/>
                </a:solidFill>
                <a:latin typeface="Segoe UI"/>
              </a:rPr>
              <a:t>Average conversations per user; a basic stickiness measure.</a:t>
            </a:r>
          </a:p>
        </p:txBody>
      </p:sp>
      <p:sp>
        <p:nvSpPr>
          <p:cNvPr id="8" name="TextBox 7"/>
          <p:cNvSpPr txBox="1"/>
          <p:nvPr/>
        </p:nvSpPr>
        <p:spPr>
          <a:xfrm>
            <a:off x="640080" y="3584448"/>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Repeat Usage Rate:  </a:t>
            </a:r>
            <a:r>
              <a:rPr sz="1100" b="0" i="0">
                <a:solidFill>
                  <a:srgbClr val="262626"/>
                </a:solidFill>
                <a:latin typeface="Segoe UI"/>
              </a:rPr>
              <a:t>Share of users who returned for more than one conversation.</a:t>
            </a:r>
          </a:p>
        </p:txBody>
      </p:sp>
      <p:sp>
        <p:nvSpPr>
          <p:cNvPr id="9" name="TextBox 8"/>
          <p:cNvSpPr txBox="1"/>
          <p:nvPr/>
        </p:nvSpPr>
        <p:spPr>
          <a:xfrm>
            <a:off x="640080" y="4306824"/>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DAU / WAU / MAU:  </a:t>
            </a:r>
            <a:r>
              <a:rPr sz="1100" b="0" i="0">
                <a:solidFill>
                  <a:srgbClr val="262626"/>
                </a:solidFill>
                <a:latin typeface="Segoe UI"/>
              </a:rPr>
              <a:t>Average Daily / Weekly / Monthly Active Users.</a:t>
            </a:r>
          </a:p>
        </p:txBody>
      </p:sp>
      <p:sp>
        <p:nvSpPr>
          <p:cNvPr id="10" name="TextBox 9"/>
          <p:cNvSpPr txBox="1"/>
          <p:nvPr/>
        </p:nvSpPr>
        <p:spPr>
          <a:xfrm>
            <a:off x="640080" y="5029200"/>
            <a:ext cx="5394960" cy="685800"/>
          </a:xfrm>
          <a:prstGeom prst="rect">
            <a:avLst/>
          </a:prstGeom>
          <a:noFill/>
        </p:spPr>
        <p:txBody>
          <a:bodyPr wrap="square" lIns="25400" tIns="12700" rIns="25400" bIns="12700" anchor="t">
            <a:spAutoFit/>
          </a:bodyPr>
          <a:lstStyle/>
          <a:p>
            <a:pPr algn="l">
              <a:lnSpc>
                <a:spcPct val="102000"/>
              </a:lnSpc>
            </a:pPr>
            <a:r>
              <a:rPr lang="en-US" sz="1150" b="1" i="0">
                <a:solidFill>
                  <a:srgbClr val="463668"/>
                </a:solidFill>
                <a:latin typeface="Segoe UI"/>
              </a:rPr>
              <a:t>Resolution Rate:  Share of conversations the agent resolved with no human help. The headline effectiveness metric.</a:t>
            </a:r>
            <a:endParaRPr sz="1100" b="0" i="0">
              <a:solidFill>
                <a:srgbClr val="262626"/>
              </a:solidFill>
              <a:latin typeface="Segoe UI"/>
            </a:endParaRPr>
          </a:p>
        </p:txBody>
      </p:sp>
      <p:sp>
        <p:nvSpPr>
          <p:cNvPr id="11" name="TextBox 10"/>
          <p:cNvSpPr txBox="1"/>
          <p:nvPr/>
        </p:nvSpPr>
        <p:spPr>
          <a:xfrm>
            <a:off x="640080" y="5751576"/>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Engaged Rate:  </a:t>
            </a:r>
            <a:r>
              <a:rPr sz="1100" b="0" i="0">
                <a:solidFill>
                  <a:srgbClr val="262626"/>
                </a:solidFill>
                <a:latin typeface="Segoe UI"/>
              </a:rPr>
              <a:t>Share of conversations where the user actively interacted vs. abandoning.</a:t>
            </a:r>
          </a:p>
        </p:txBody>
      </p:sp>
      <p:sp>
        <p:nvSpPr>
          <p:cNvPr id="12" name="TextBox 11"/>
          <p:cNvSpPr txBox="1"/>
          <p:nvPr/>
        </p:nvSpPr>
        <p:spPr>
          <a:xfrm>
            <a:off x="6355080" y="1417320"/>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Abandonment Rate:  </a:t>
            </a:r>
            <a:r>
              <a:rPr sz="1100" b="0" i="0">
                <a:solidFill>
                  <a:srgbClr val="262626"/>
                </a:solidFill>
                <a:latin typeface="Segoe UI"/>
              </a:rPr>
              <a:t>Share of conversations the user left before reaching a resolution.</a:t>
            </a:r>
          </a:p>
        </p:txBody>
      </p:sp>
      <p:sp>
        <p:nvSpPr>
          <p:cNvPr id="13" name="TextBox 12"/>
          <p:cNvSpPr txBox="1"/>
          <p:nvPr/>
        </p:nvSpPr>
        <p:spPr>
          <a:xfrm>
            <a:off x="6355080" y="2139696"/>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Zero-Result Rate:  </a:t>
            </a:r>
            <a:r>
              <a:rPr sz="1100" b="0" i="0">
                <a:solidFill>
                  <a:srgbClr val="262626"/>
                </a:solidFill>
                <a:latin typeface="Segoe UI"/>
              </a:rPr>
              <a:t>Share of conversations where the agent returned no usable answer.</a:t>
            </a:r>
          </a:p>
        </p:txBody>
      </p:sp>
      <p:sp>
        <p:nvSpPr>
          <p:cNvPr id="14" name="TextBox 13"/>
          <p:cNvSpPr txBox="1"/>
          <p:nvPr/>
        </p:nvSpPr>
        <p:spPr>
          <a:xfrm>
            <a:off x="6355080" y="2862072"/>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Turns to Resolve:  </a:t>
            </a:r>
            <a:r>
              <a:rPr sz="1100" b="0" i="0">
                <a:solidFill>
                  <a:srgbClr val="262626"/>
                </a:solidFill>
                <a:latin typeface="Segoe UI"/>
              </a:rPr>
              <a:t>Average number of back-and-forth exchanges per conversation.</a:t>
            </a:r>
          </a:p>
        </p:txBody>
      </p:sp>
      <p:sp>
        <p:nvSpPr>
          <p:cNvPr id="15" name="TextBox 14"/>
          <p:cNvSpPr txBox="1"/>
          <p:nvPr/>
        </p:nvSpPr>
        <p:spPr>
          <a:xfrm>
            <a:off x="6355080" y="3584448"/>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Thumbs-Up Rate:  </a:t>
            </a:r>
            <a:r>
              <a:rPr sz="1100" b="0" i="0">
                <a:solidFill>
                  <a:srgbClr val="262626"/>
                </a:solidFill>
                <a:latin typeface="Segoe UI"/>
              </a:rPr>
              <a:t>Share of feedback responses that were positive.</a:t>
            </a:r>
          </a:p>
        </p:txBody>
      </p:sp>
      <p:sp>
        <p:nvSpPr>
          <p:cNvPr id="16" name="TextBox 15"/>
          <p:cNvSpPr txBox="1"/>
          <p:nvPr/>
        </p:nvSpPr>
        <p:spPr>
          <a:xfrm>
            <a:off x="6355080" y="4306824"/>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CSAT:  </a:t>
            </a:r>
            <a:r>
              <a:rPr sz="1100" b="0" i="0">
                <a:solidFill>
                  <a:srgbClr val="262626"/>
                </a:solidFill>
                <a:latin typeface="Segoe UI"/>
              </a:rPr>
              <a:t>Customer satisfaction score (1–5) from post-conversation feedback.</a:t>
            </a:r>
          </a:p>
        </p:txBody>
      </p:sp>
      <p:sp>
        <p:nvSpPr>
          <p:cNvPr id="17" name="TextBox 16"/>
          <p:cNvSpPr txBox="1"/>
          <p:nvPr/>
        </p:nvSpPr>
        <p:spPr>
          <a:xfrm>
            <a:off x="6355080" y="5029200"/>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Hours Saved / Tickets Deflected:  </a:t>
            </a:r>
            <a:r>
              <a:rPr sz="1100" b="0" i="0">
                <a:solidFill>
                  <a:srgbClr val="262626"/>
                </a:solidFill>
                <a:latin typeface="Segoe UI"/>
              </a:rPr>
              <a:t>Estimated human effort avoided, based on the assumptions on the Business Impact page.</a:t>
            </a:r>
          </a:p>
        </p:txBody>
      </p:sp>
      <p:sp>
        <p:nvSpPr>
          <p:cNvPr id="18" name="TextBox 17"/>
          <p:cNvSpPr txBox="1"/>
          <p:nvPr/>
        </p:nvSpPr>
        <p:spPr>
          <a:xfrm>
            <a:off x="6355080" y="5751576"/>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Leading vs. Lagging Indicators:  </a:t>
            </a:r>
            <a:r>
              <a:rPr sz="1100" b="0" i="0">
                <a:solidFill>
                  <a:srgbClr val="262626"/>
                </a:solidFill>
                <a:latin typeface="Segoe UI"/>
              </a:rPr>
              <a:t>Leading metrics (quality, adoption, productivity) move first and predict value; lagging metrics (operational KPIs, business outcomes) confirm realized impact.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640080"/>
          </a:xfrm>
          <a:prstGeom prst="rect">
            <a:avLst/>
          </a:prstGeom>
          <a:noFill/>
        </p:spPr>
        <p:txBody>
          <a:bodyPr wrap="square" lIns="25400" tIns="12700" rIns="25400" bIns="12700" anchor="t">
            <a:spAutoFit/>
          </a:bodyPr>
          <a:lstStyle/>
          <a:p>
            <a:pPr algn="l"/>
            <a:r>
              <a:rPr sz="3200" b="1" i="0">
                <a:solidFill>
                  <a:srgbClr val="262626"/>
                </a:solidFill>
                <a:latin typeface="Segoe UI"/>
              </a:rPr>
              <a:t>Glossary (continued)</a:t>
            </a:r>
          </a:p>
        </p:txBody>
      </p:sp>
      <p:sp>
        <p:nvSpPr>
          <p:cNvPr id="4" name="Rectangle 3"/>
          <p:cNvSpPr/>
          <p:nvPr/>
        </p:nvSpPr>
        <p:spPr>
          <a:xfrm>
            <a:off x="585216" y="1060704"/>
            <a:ext cx="2011680" cy="54864"/>
          </a:xfrm>
          <a:prstGeom prst="rect">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Agent Visit:  </a:t>
            </a:r>
            <a:r>
              <a:rPr sz="1100" b="0" i="0">
                <a:solidFill>
                  <a:srgbClr val="262626"/>
                </a:solidFill>
                <a:latin typeface="Segoe UI"/>
              </a:rPr>
              <a:t>One session record in the transcript export, whether or not a user interacted.</a:t>
            </a:r>
          </a:p>
        </p:txBody>
      </p:sp>
      <p:sp>
        <p:nvSpPr>
          <p:cNvPr id="6" name="TextBox 5"/>
          <p:cNvSpPr txBox="1"/>
          <p:nvPr/>
        </p:nvSpPr>
        <p:spPr>
          <a:xfrm>
            <a:off x="640080" y="2139696"/>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Conversation:  </a:t>
            </a:r>
            <a:r>
              <a:rPr sz="1100" b="0" i="0">
                <a:solidFill>
                  <a:srgbClr val="262626"/>
                </a:solidFill>
                <a:latin typeface="Segoe UI"/>
              </a:rPr>
              <a:t>A visit with genuine user engagement. The basis for all rates, topics and ROI.</a:t>
            </a:r>
          </a:p>
        </p:txBody>
      </p:sp>
      <p:sp>
        <p:nvSpPr>
          <p:cNvPr id="7" name="TextBox 6"/>
          <p:cNvSpPr txBox="1"/>
          <p:nvPr/>
        </p:nvSpPr>
        <p:spPr>
          <a:xfrm>
            <a:off x="640080" y="2862072"/>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Agent Error:  </a:t>
            </a:r>
            <a:r>
              <a:rPr sz="1100" b="0" i="0">
                <a:solidFill>
                  <a:srgbClr val="262626"/>
                </a:solidFill>
                <a:latin typeface="Segoe UI"/>
              </a:rPr>
              <a:t>A visit where the platform failed before a real exchange.</a:t>
            </a:r>
          </a:p>
        </p:txBody>
      </p:sp>
      <p:sp>
        <p:nvSpPr>
          <p:cNvPr id="8" name="TextBox 7"/>
          <p:cNvSpPr txBox="1"/>
          <p:nvPr/>
        </p:nvSpPr>
        <p:spPr>
          <a:xfrm>
            <a:off x="640080" y="3584448"/>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Visits, no interaction:  </a:t>
            </a:r>
            <a:r>
              <a:rPr sz="1100" b="0" i="0">
                <a:solidFill>
                  <a:srgbClr val="262626"/>
                </a:solidFill>
                <a:latin typeface="Segoe UI"/>
              </a:rPr>
              <a:t>The agent initialized but no messages were exchanged.</a:t>
            </a:r>
          </a:p>
        </p:txBody>
      </p:sp>
      <p:sp>
        <p:nvSpPr>
          <p:cNvPr id="9" name="TextBox 8"/>
          <p:cNvSpPr txBox="1"/>
          <p:nvPr/>
        </p:nvSpPr>
        <p:spPr>
          <a:xfrm>
            <a:off x="640080" y="4306824"/>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Topic Coverage %:  </a:t>
            </a:r>
            <a:r>
              <a:rPr sz="1100" b="0" i="0">
                <a:solidFill>
                  <a:srgbClr val="262626"/>
                </a:solidFill>
                <a:latin typeface="Segoe UI"/>
              </a:rPr>
              <a:t>Share of conversations whose topic was classified rather than left uncategorized.</a:t>
            </a:r>
          </a:p>
        </p:txBody>
      </p:sp>
      <p:sp>
        <p:nvSpPr>
          <p:cNvPr id="10" name="TextBox 9"/>
          <p:cNvSpPr txBox="1"/>
          <p:nvPr/>
        </p:nvSpPr>
        <p:spPr>
          <a:xfrm>
            <a:off x="6355080" y="1417320"/>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Native vs Derived topic:  </a:t>
            </a:r>
            <a:r>
              <a:rPr sz="1100" b="0" i="0">
                <a:solidFill>
                  <a:srgbClr val="262626"/>
                </a:solidFill>
                <a:latin typeface="Segoe UI"/>
              </a:rPr>
              <a:t>Native means the agent reported the topic itself; Derived means the report inferred it from the user's first message. Generative agents produce mostly Derived topics.</a:t>
            </a:r>
          </a:p>
        </p:txBody>
      </p:sp>
      <p:sp>
        <p:nvSpPr>
          <p:cNvPr id="11" name="TextBox 10"/>
          <p:cNvSpPr txBox="1"/>
          <p:nvPr/>
        </p:nvSpPr>
        <p:spPr>
          <a:xfrm>
            <a:off x="6355080" y="2139696"/>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Root Cause:  </a:t>
            </a:r>
            <a:r>
              <a:rPr sz="1100" b="0" i="0">
                <a:solidFill>
                  <a:srgbClr val="262626"/>
                </a:solidFill>
                <a:latin typeface="Segoe UI"/>
              </a:rPr>
              <a:t>The plain-language reason a Fix-It Queue row was flagged.</a:t>
            </a:r>
          </a:p>
        </p:txBody>
      </p:sp>
      <p:sp>
        <p:nvSpPr>
          <p:cNvPr id="12" name="TextBox 11"/>
          <p:cNvSpPr txBox="1"/>
          <p:nvPr/>
        </p:nvSpPr>
        <p:spPr>
          <a:xfrm>
            <a:off x="6355080" y="2862072"/>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Gap Type:  </a:t>
            </a:r>
            <a:r>
              <a:rPr sz="1100" b="0" i="0">
                <a:solidFill>
                  <a:srgbClr val="262626"/>
                </a:solidFill>
                <a:latin typeface="Segoe UI"/>
              </a:rPr>
              <a:t>Content Gap (agent failed) or Authoring Gap (agent helped, no native topic).</a:t>
            </a:r>
          </a:p>
        </p:txBody>
      </p:sp>
      <p:sp>
        <p:nvSpPr>
          <p:cNvPr id="13" name="TextBox 12"/>
          <p:cNvSpPr txBox="1"/>
          <p:nvPr/>
        </p:nvSpPr>
        <p:spPr>
          <a:xfrm>
            <a:off x="6355080" y="3584448"/>
            <a:ext cx="5394960" cy="685800"/>
          </a:xfrm>
          <a:prstGeom prst="rect">
            <a:avLst/>
          </a:prstGeom>
          <a:noFill/>
        </p:spPr>
        <p:txBody>
          <a:bodyPr wrap="square" lIns="25400" tIns="12700" rIns="25400" bIns="12700" anchor="t">
            <a:spAutoFit/>
          </a:bodyPr>
          <a:lstStyle/>
          <a:p>
            <a:pPr algn="l">
              <a:lnSpc>
                <a:spcPct val="102000"/>
              </a:lnSpc>
            </a:pPr>
            <a:r>
              <a:rPr sz="1150" b="1" i="0">
                <a:solidFill>
                  <a:srgbClr val="463668"/>
                </a:solidFill>
                <a:latin typeface="Segoe UI"/>
              </a:rPr>
              <a:t>Annualized Value:  </a:t>
            </a:r>
            <a:r>
              <a:rPr sz="1100" b="0" i="0">
                <a:solidFill>
                  <a:srgbClr val="262626"/>
                </a:solidFill>
                <a:latin typeface="Segoe UI"/>
              </a:rPr>
              <a:t>The selected window's value extrapolated to 52 weeks. Directional in a short pilot.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48640" y="457200"/>
            <a:ext cx="384048" cy="384048"/>
          </a:xfrm>
          <a:prstGeom prst="rect">
            <a:avLst/>
          </a:prstGeom>
        </p:spPr>
      </p:pic>
      <p:sp>
        <p:nvSpPr>
          <p:cNvPr id="4" name="TextBox 3"/>
          <p:cNvSpPr txBox="1"/>
          <p:nvPr/>
        </p:nvSpPr>
        <p:spPr>
          <a:xfrm>
            <a:off x="548640" y="1051560"/>
            <a:ext cx="7315200" cy="640080"/>
          </a:xfrm>
          <a:prstGeom prst="rect">
            <a:avLst/>
          </a:prstGeom>
          <a:noFill/>
        </p:spPr>
        <p:txBody>
          <a:bodyPr wrap="square">
            <a:spAutoFit/>
          </a:bodyPr>
          <a:lstStyle/>
          <a:p>
            <a:pPr algn="l"/>
            <a:r>
              <a:rPr sz="2250" b="1" i="0">
                <a:solidFill>
                  <a:srgbClr val="463668"/>
                </a:solidFill>
                <a:latin typeface="Segoe UI"/>
              </a:rPr>
              <a:t>What "good" looks like — read every metric against a band</a:t>
            </a:r>
          </a:p>
        </p:txBody>
      </p:sp>
      <p:sp>
        <p:nvSpPr>
          <p:cNvPr id="5" name="Rectangle 4"/>
          <p:cNvSpPr/>
          <p:nvPr/>
        </p:nvSpPr>
        <p:spPr>
          <a:xfrm>
            <a:off x="585216" y="1764792"/>
            <a:ext cx="2377440" cy="5486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057400"/>
            <a:ext cx="11064240" cy="42062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48640" y="2307400"/>
          <a:ext cx="10664240" cy="3706240"/>
        </p:xfrm>
        <a:graphic>
          <a:graphicData uri="http://schemas.openxmlformats.org/drawingml/2006/table">
            <a:tbl>
              <a:tblPr firstRow="1" bandRow="1">
                <a:tableStyleId>{5C22544A-7EE6-4342-B048-85BDC9FD1C3A}</a:tableStyleId>
              </a:tblPr>
              <a:tblGrid>
                <a:gridCol w="2666060">
                  <a:extLst>
                    <a:ext uri="{9D8B030D-6E8A-4147-A177-3AD203B41FA5}">
                      <a16:colId xmlns:a16="http://schemas.microsoft.com/office/drawing/2014/main" val="20000"/>
                    </a:ext>
                  </a:extLst>
                </a:gridCol>
                <a:gridCol w="2666060">
                  <a:extLst>
                    <a:ext uri="{9D8B030D-6E8A-4147-A177-3AD203B41FA5}">
                      <a16:colId xmlns:a16="http://schemas.microsoft.com/office/drawing/2014/main" val="20001"/>
                    </a:ext>
                  </a:extLst>
                </a:gridCol>
                <a:gridCol w="2666060">
                  <a:extLst>
                    <a:ext uri="{9D8B030D-6E8A-4147-A177-3AD203B41FA5}">
                      <a16:colId xmlns:a16="http://schemas.microsoft.com/office/drawing/2014/main" val="20002"/>
                    </a:ext>
                  </a:extLst>
                </a:gridCol>
                <a:gridCol w="2666060">
                  <a:extLst>
                    <a:ext uri="{9D8B030D-6E8A-4147-A177-3AD203B41FA5}">
                      <a16:colId xmlns:a16="http://schemas.microsoft.com/office/drawing/2014/main" val="20003"/>
                    </a:ext>
                  </a:extLst>
                </a:gridCol>
              </a:tblGrid>
              <a:tr h="617706">
                <a:tc>
                  <a:txBody>
                    <a:bodyPr/>
                    <a:lstStyle/>
                    <a:p>
                      <a:r>
                        <a:rPr sz="1600"/>
                        <a:t>Metric</a:t>
                      </a:r>
                    </a:p>
                  </a:txBody>
                  <a:tcPr/>
                </a:tc>
                <a:tc>
                  <a:txBody>
                    <a:bodyPr/>
                    <a:lstStyle/>
                    <a:p>
                      <a:r>
                        <a:rPr sz="1600"/>
                        <a:t>Watch</a:t>
                      </a:r>
                    </a:p>
                  </a:txBody>
                  <a:tcPr/>
                </a:tc>
                <a:tc>
                  <a:txBody>
                    <a:bodyPr/>
                    <a:lstStyle/>
                    <a:p>
                      <a:r>
                        <a:rPr sz="1600"/>
                        <a:t>Healthy</a:t>
                      </a:r>
                    </a:p>
                  </a:txBody>
                  <a:tcPr/>
                </a:tc>
                <a:tc>
                  <a:txBody>
                    <a:bodyPr/>
                    <a:lstStyle/>
                    <a:p>
                      <a:r>
                        <a:rPr sz="1600"/>
                        <a:t>Interpretation if below</a:t>
                      </a:r>
                    </a:p>
                  </a:txBody>
                  <a:tcPr/>
                </a:tc>
                <a:extLst>
                  <a:ext uri="{0D108BD9-81ED-4DB2-BD59-A6C34878D82A}">
                    <a16:rowId xmlns:a16="http://schemas.microsoft.com/office/drawing/2014/main" val="10000"/>
                  </a:ext>
                </a:extLst>
              </a:tr>
              <a:tr h="617706">
                <a:tc>
                  <a:txBody>
                    <a:bodyPr/>
                    <a:lstStyle/>
                    <a:p>
                      <a:r>
                        <a:rPr sz="1600"/>
                        <a:t>Resolution Rate</a:t>
                      </a:r>
                    </a:p>
                  </a:txBody>
                  <a:tcPr/>
                </a:tc>
                <a:tc>
                  <a:txBody>
                    <a:bodyPr/>
                    <a:lstStyle/>
                    <a:p>
                      <a:r>
                        <a:rPr sz="1600"/>
                        <a:t>&lt; 60%</a:t>
                      </a:r>
                    </a:p>
                  </a:txBody>
                  <a:tcPr/>
                </a:tc>
                <a:tc>
                  <a:txBody>
                    <a:bodyPr/>
                    <a:lstStyle/>
                    <a:p>
                      <a:r>
                        <a:rPr sz="1600"/>
                        <a:t>70%+</a:t>
                      </a:r>
                    </a:p>
                  </a:txBody>
                  <a:tcPr/>
                </a:tc>
                <a:tc>
                  <a:txBody>
                    <a:bodyPr/>
                    <a:lstStyle/>
                    <a:p>
                      <a:r>
                        <a:rPr sz="1600"/>
                        <a:t>Content or knowledge gaps; work the Fix-It Queue</a:t>
                      </a:r>
                    </a:p>
                  </a:txBody>
                  <a:tcPr/>
                </a:tc>
                <a:extLst>
                  <a:ext uri="{0D108BD9-81ED-4DB2-BD59-A6C34878D82A}">
                    <a16:rowId xmlns:a16="http://schemas.microsoft.com/office/drawing/2014/main" val="10001"/>
                  </a:ext>
                </a:extLst>
              </a:tr>
              <a:tr h="617706">
                <a:tc>
                  <a:txBody>
                    <a:bodyPr/>
                    <a:lstStyle/>
                    <a:p>
                      <a:r>
                        <a:rPr sz="1600"/>
                        <a:t>Repeat Usage Rate</a:t>
                      </a:r>
                    </a:p>
                  </a:txBody>
                  <a:tcPr/>
                </a:tc>
                <a:tc>
                  <a:txBody>
                    <a:bodyPr/>
                    <a:lstStyle/>
                    <a:p>
                      <a:r>
                        <a:rPr sz="1600"/>
                        <a:t>&lt; 30%</a:t>
                      </a:r>
                    </a:p>
                  </a:txBody>
                  <a:tcPr/>
                </a:tc>
                <a:tc>
                  <a:txBody>
                    <a:bodyPr/>
                    <a:lstStyle/>
                    <a:p>
                      <a:r>
                        <a:rPr sz="1600"/>
                        <a:t>40%+</a:t>
                      </a:r>
                    </a:p>
                  </a:txBody>
                  <a:tcPr/>
                </a:tc>
                <a:tc>
                  <a:txBody>
                    <a:bodyPr/>
                    <a:lstStyle/>
                    <a:p>
                      <a:r>
                        <a:rPr sz="1600"/>
                        <a:t>Trust or relevance problem; fix before scaling licenses</a:t>
                      </a:r>
                    </a:p>
                  </a:txBody>
                  <a:tcPr/>
                </a:tc>
                <a:extLst>
                  <a:ext uri="{0D108BD9-81ED-4DB2-BD59-A6C34878D82A}">
                    <a16:rowId xmlns:a16="http://schemas.microsoft.com/office/drawing/2014/main" val="10002"/>
                  </a:ext>
                </a:extLst>
              </a:tr>
              <a:tr h="617706">
                <a:tc>
                  <a:txBody>
                    <a:bodyPr/>
                    <a:lstStyle/>
                    <a:p>
                      <a:r>
                        <a:rPr sz="1600"/>
                        <a:t>Abandonment Rate</a:t>
                      </a:r>
                    </a:p>
                  </a:txBody>
                  <a:tcPr/>
                </a:tc>
                <a:tc>
                  <a:txBody>
                    <a:bodyPr/>
                    <a:lstStyle/>
                    <a:p>
                      <a:r>
                        <a:rPr sz="1600"/>
                        <a:t>&gt; 20%</a:t>
                      </a:r>
                    </a:p>
                  </a:txBody>
                  <a:tcPr/>
                </a:tc>
                <a:tc>
                  <a:txBody>
                    <a:bodyPr/>
                    <a:lstStyle/>
                    <a:p>
                      <a:r>
                        <a:rPr sz="1600"/>
                        <a:t>&lt; 15%</a:t>
                      </a:r>
                    </a:p>
                  </a:txBody>
                  <a:tcPr/>
                </a:tc>
                <a:tc>
                  <a:txBody>
                    <a:bodyPr/>
                    <a:lstStyle/>
                    <a:p>
                      <a:r>
                        <a:rPr sz="1600"/>
                        <a:t>Users hitting friction; check Time to Knowledge</a:t>
                      </a:r>
                    </a:p>
                  </a:txBody>
                  <a:tcPr/>
                </a:tc>
                <a:extLst>
                  <a:ext uri="{0D108BD9-81ED-4DB2-BD59-A6C34878D82A}">
                    <a16:rowId xmlns:a16="http://schemas.microsoft.com/office/drawing/2014/main" val="10003"/>
                  </a:ext>
                </a:extLst>
              </a:tr>
              <a:tr h="617706">
                <a:tc>
                  <a:txBody>
                    <a:bodyPr/>
                    <a:lstStyle/>
                    <a:p>
                      <a:r>
                        <a:rPr sz="1600"/>
                        <a:t>Topic Coverage %</a:t>
                      </a:r>
                    </a:p>
                  </a:txBody>
                  <a:tcPr/>
                </a:tc>
                <a:tc>
                  <a:txBody>
                    <a:bodyPr/>
                    <a:lstStyle/>
                    <a:p>
                      <a:r>
                        <a:rPr sz="1600"/>
                        <a:t>&lt; 70%</a:t>
                      </a:r>
                    </a:p>
                  </a:txBody>
                  <a:tcPr/>
                </a:tc>
                <a:tc>
                  <a:txBody>
                    <a:bodyPr/>
                    <a:lstStyle/>
                    <a:p>
                      <a:r>
                        <a:rPr sz="1600"/>
                        <a:t>85%+</a:t>
                      </a:r>
                    </a:p>
                  </a:txBody>
                  <a:tcPr/>
                </a:tc>
                <a:tc>
                  <a:txBody>
                    <a:bodyPr/>
                    <a:lstStyle/>
                    <a:p>
                      <a:r>
                        <a:rPr sz="1600"/>
                        <a:t>Many questions unclassified; extend the topic taxonomy</a:t>
                      </a:r>
                    </a:p>
                  </a:txBody>
                  <a:tcPr/>
                </a:tc>
                <a:extLst>
                  <a:ext uri="{0D108BD9-81ED-4DB2-BD59-A6C34878D82A}">
                    <a16:rowId xmlns:a16="http://schemas.microsoft.com/office/drawing/2014/main" val="10004"/>
                  </a:ext>
                </a:extLst>
              </a:tr>
              <a:tr h="617710">
                <a:tc>
                  <a:txBody>
                    <a:bodyPr/>
                    <a:lstStyle/>
                    <a:p>
                      <a:r>
                        <a:rPr sz="1600"/>
                        <a:t>Agent Error Rate</a:t>
                      </a:r>
                    </a:p>
                  </a:txBody>
                  <a:tcPr/>
                </a:tc>
                <a:tc>
                  <a:txBody>
                    <a:bodyPr/>
                    <a:lstStyle/>
                    <a:p>
                      <a:r>
                        <a:rPr sz="1600"/>
                        <a:t>&gt; 10%</a:t>
                      </a:r>
                    </a:p>
                  </a:txBody>
                  <a:tcPr/>
                </a:tc>
                <a:tc>
                  <a:txBody>
                    <a:bodyPr/>
                    <a:lstStyle/>
                    <a:p>
                      <a:r>
                        <a:rPr sz="1600"/>
                        <a:t>&lt; 5%</a:t>
                      </a:r>
                    </a:p>
                  </a:txBody>
                  <a:tcPr/>
                </a:tc>
                <a:tc>
                  <a:txBody>
                    <a:bodyPr/>
                    <a:lstStyle/>
                    <a:p>
                      <a:r>
                        <a:rPr sz="1600"/>
                        <a:t>Platform reliability issue — escalate to the agent owner</a:t>
                      </a:r>
                    </a:p>
                  </a:txBody>
                  <a:tcPr/>
                </a:tc>
                <a:extLst>
                  <a:ext uri="{0D108BD9-81ED-4DB2-BD59-A6C34878D82A}">
                    <a16:rowId xmlns:a16="http://schemas.microsoft.com/office/drawing/2014/main" val="10005"/>
                  </a:ext>
                </a:extLst>
              </a:tr>
            </a:tbl>
          </a:graphicData>
        </a:graphic>
      </p:graphicFrame>
      <p:sp>
        <p:nvSpPr>
          <p:cNvPr id="8" name="TextBox 7"/>
          <p:cNvSpPr txBox="1"/>
          <p:nvPr/>
        </p:nvSpPr>
        <p:spPr>
          <a:xfrm>
            <a:off x="548640" y="6343640"/>
            <a:ext cx="11064240" cy="414360"/>
          </a:xfrm>
          <a:prstGeom prst="rect">
            <a:avLst/>
          </a:prstGeom>
          <a:noFill/>
        </p:spPr>
        <p:txBody>
          <a:bodyPr wrap="square">
            <a:spAutoFit/>
          </a:bodyPr>
          <a:lstStyle/>
          <a:p>
            <a:r>
              <a:rPr sz="950" b="0" i="1">
                <a:solidFill>
                  <a:srgbClr val="767171"/>
                </a:solidFill>
                <a:latin typeface="Segoe UI"/>
              </a:rPr>
              <a:t>Bands are orientation, not policy. Set your own 30/60/90-day targets and hold the same definition each period.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48640" y="457200"/>
            <a:ext cx="384048" cy="384048"/>
          </a:xfrm>
          <a:prstGeom prst="rect">
            <a:avLst/>
          </a:prstGeom>
        </p:spPr>
      </p:pic>
      <p:sp>
        <p:nvSpPr>
          <p:cNvPr id="4" name="TextBox 3"/>
          <p:cNvSpPr txBox="1"/>
          <p:nvPr/>
        </p:nvSpPr>
        <p:spPr>
          <a:xfrm>
            <a:off x="548640" y="1051560"/>
            <a:ext cx="7315200" cy="640080"/>
          </a:xfrm>
          <a:prstGeom prst="rect">
            <a:avLst/>
          </a:prstGeom>
          <a:noFill/>
        </p:spPr>
        <p:txBody>
          <a:bodyPr wrap="square">
            <a:spAutoFit/>
          </a:bodyPr>
          <a:lstStyle/>
          <a:p>
            <a:pPr algn="l"/>
            <a:r>
              <a:rPr sz="3400" b="1" i="0">
                <a:solidFill>
                  <a:srgbClr val="463668"/>
                </a:solidFill>
                <a:latin typeface="Segoe UI"/>
              </a:rPr>
              <a:t>Your first 30 days with this report</a:t>
            </a:r>
          </a:p>
        </p:txBody>
      </p:sp>
      <p:sp>
        <p:nvSpPr>
          <p:cNvPr id="5" name="Rectangle 4"/>
          <p:cNvSpPr/>
          <p:nvPr/>
        </p:nvSpPr>
        <p:spPr>
          <a:xfrm>
            <a:off x="585216" y="1764792"/>
            <a:ext cx="2377440" cy="5486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057400"/>
            <a:ext cx="11064240" cy="42062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157400"/>
            <a:ext cx="10332720" cy="300468"/>
          </a:xfrm>
          <a:prstGeom prst="rect">
            <a:avLst/>
          </a:prstGeom>
          <a:noFill/>
        </p:spPr>
        <p:txBody>
          <a:bodyPr wrap="square">
            <a:spAutoFit/>
          </a:bodyPr>
          <a:lstStyle/>
          <a:p>
            <a:r>
              <a:rPr sz="1500" b="1" i="0">
                <a:solidFill>
                  <a:srgbClr val="0563C1"/>
                </a:solidFill>
                <a:latin typeface="Segoe UI"/>
              </a:rPr>
              <a:t>Week 1 — Confirm the data.</a:t>
            </a:r>
          </a:p>
        </p:txBody>
      </p:sp>
      <p:sp>
        <p:nvSpPr>
          <p:cNvPr id="8" name="TextBox 7"/>
          <p:cNvSpPr txBox="1"/>
          <p:nvPr/>
        </p:nvSpPr>
        <p:spPr>
          <a:xfrm>
            <a:off x="914400" y="2537992"/>
            <a:ext cx="10332720" cy="570889"/>
          </a:xfrm>
          <a:prstGeom prst="rect">
            <a:avLst/>
          </a:prstGeom>
          <a:noFill/>
        </p:spPr>
        <p:txBody>
          <a:bodyPr wrap="square">
            <a:spAutoFit/>
          </a:bodyPr>
          <a:lstStyle/>
          <a:p>
            <a:r>
              <a:rPr sz="1250" b="0" i="0">
                <a:solidFill>
                  <a:srgbClr val="262626"/>
                </a:solidFill>
                <a:latin typeface="Segoe UI"/>
              </a:rPr>
              <a:t>Load your export, check the data-window caption, read the visit mix (Conversations vs Agent Errors vs no-interaction). Do not present numbers yet.</a:t>
            </a:r>
          </a:p>
        </p:txBody>
      </p:sp>
      <p:sp>
        <p:nvSpPr>
          <p:cNvPr id="9" name="TextBox 8"/>
          <p:cNvSpPr txBox="1"/>
          <p:nvPr/>
        </p:nvSpPr>
        <p:spPr>
          <a:xfrm>
            <a:off x="914400" y="3158960"/>
            <a:ext cx="10332720" cy="300468"/>
          </a:xfrm>
          <a:prstGeom prst="rect">
            <a:avLst/>
          </a:prstGeom>
          <a:noFill/>
        </p:spPr>
        <p:txBody>
          <a:bodyPr wrap="square">
            <a:spAutoFit/>
          </a:bodyPr>
          <a:lstStyle/>
          <a:p>
            <a:r>
              <a:rPr sz="1500" b="1" i="0">
                <a:solidFill>
                  <a:srgbClr val="0563C1"/>
                </a:solidFill>
                <a:latin typeface="Segoe UI"/>
              </a:rPr>
              <a:t>Week 2 — Set the assumptions.</a:t>
            </a:r>
          </a:p>
        </p:txBody>
      </p:sp>
      <p:sp>
        <p:nvSpPr>
          <p:cNvPr id="10" name="TextBox 9"/>
          <p:cNvSpPr txBox="1"/>
          <p:nvPr/>
        </p:nvSpPr>
        <p:spPr>
          <a:xfrm>
            <a:off x="914400" y="3539552"/>
            <a:ext cx="10332720" cy="570889"/>
          </a:xfrm>
          <a:prstGeom prst="rect">
            <a:avLst/>
          </a:prstGeom>
          <a:noFill/>
        </p:spPr>
        <p:txBody>
          <a:bodyPr wrap="square">
            <a:spAutoFit/>
          </a:bodyPr>
          <a:lstStyle/>
          <a:p>
            <a:r>
              <a:rPr sz="1250" b="0" i="0">
                <a:solidFill>
                  <a:srgbClr val="262626"/>
                </a:solidFill>
                <a:latin typeface="Segoe UI"/>
              </a:rPr>
              <a:t>Replace the default minutes and hourly rate using the Topic to Time Savings method, and have finance sign off once.</a:t>
            </a:r>
          </a:p>
        </p:txBody>
      </p:sp>
      <p:sp>
        <p:nvSpPr>
          <p:cNvPr id="11" name="TextBox 10"/>
          <p:cNvSpPr txBox="1"/>
          <p:nvPr/>
        </p:nvSpPr>
        <p:spPr>
          <a:xfrm>
            <a:off x="914400" y="4160520"/>
            <a:ext cx="10332720" cy="300468"/>
          </a:xfrm>
          <a:prstGeom prst="rect">
            <a:avLst/>
          </a:prstGeom>
          <a:noFill/>
        </p:spPr>
        <p:txBody>
          <a:bodyPr wrap="square">
            <a:spAutoFit/>
          </a:bodyPr>
          <a:lstStyle/>
          <a:p>
            <a:r>
              <a:rPr sz="1500" b="1" i="0">
                <a:solidFill>
                  <a:srgbClr val="0563C1"/>
                </a:solidFill>
                <a:latin typeface="Segoe UI"/>
              </a:rPr>
              <a:t>Week 3 — Work the Fix-It Queue.</a:t>
            </a:r>
          </a:p>
        </p:txBody>
      </p:sp>
      <p:sp>
        <p:nvSpPr>
          <p:cNvPr id="12" name="TextBox 11"/>
          <p:cNvSpPr txBox="1"/>
          <p:nvPr/>
        </p:nvSpPr>
        <p:spPr>
          <a:xfrm>
            <a:off x="914400" y="4541112"/>
            <a:ext cx="10332720" cy="570889"/>
          </a:xfrm>
          <a:prstGeom prst="rect">
            <a:avLst/>
          </a:prstGeom>
          <a:noFill/>
        </p:spPr>
        <p:txBody>
          <a:bodyPr wrap="square">
            <a:spAutoFit/>
          </a:bodyPr>
          <a:lstStyle/>
          <a:p>
            <a:r>
              <a:rPr sz="1250" b="0" i="0">
                <a:solidFill>
                  <a:srgbClr val="262626"/>
                </a:solidFill>
                <a:latin typeface="Segoe UI"/>
              </a:rPr>
              <a:t>Take the top three Content Gaps, assign owners, fix the content.</a:t>
            </a:r>
          </a:p>
        </p:txBody>
      </p:sp>
      <p:sp>
        <p:nvSpPr>
          <p:cNvPr id="13" name="TextBox 12"/>
          <p:cNvSpPr txBox="1"/>
          <p:nvPr/>
        </p:nvSpPr>
        <p:spPr>
          <a:xfrm>
            <a:off x="914400" y="5162080"/>
            <a:ext cx="10332720" cy="300468"/>
          </a:xfrm>
          <a:prstGeom prst="rect">
            <a:avLst/>
          </a:prstGeom>
          <a:noFill/>
        </p:spPr>
        <p:txBody>
          <a:bodyPr wrap="square">
            <a:spAutoFit/>
          </a:bodyPr>
          <a:lstStyle/>
          <a:p>
            <a:r>
              <a:rPr sz="1500" b="1" i="0">
                <a:solidFill>
                  <a:srgbClr val="0563C1"/>
                </a:solidFill>
                <a:latin typeface="Segoe UI"/>
              </a:rPr>
              <a:t>Week 4 — Present.</a:t>
            </a:r>
          </a:p>
        </p:txBody>
      </p:sp>
      <p:sp>
        <p:nvSpPr>
          <p:cNvPr id="14" name="TextBox 13"/>
          <p:cNvSpPr txBox="1"/>
          <p:nvPr/>
        </p:nvSpPr>
        <p:spPr>
          <a:xfrm>
            <a:off x="914400" y="5542672"/>
            <a:ext cx="10332720" cy="570889"/>
          </a:xfrm>
          <a:prstGeom prst="rect">
            <a:avLst/>
          </a:prstGeom>
          <a:noFill/>
        </p:spPr>
        <p:txBody>
          <a:bodyPr wrap="square">
            <a:spAutoFit/>
          </a:bodyPr>
          <a:lstStyle/>
          <a:p>
            <a:r>
              <a:rPr sz="1250" b="0" i="0">
                <a:solidFill>
                  <a:srgbClr val="262626"/>
                </a:solidFill>
                <a:latin typeface="Segoe UI"/>
              </a:rPr>
              <a:t>Open with the Executive Summary and the three numbers that matter.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743200" y="2880360"/>
            <a:ext cx="6675120" cy="10972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0" y="2880360"/>
            <a:ext cx="5486400" cy="1097280"/>
          </a:xfrm>
          <a:prstGeom prst="rect">
            <a:avLst/>
          </a:prstGeom>
          <a:noFill/>
        </p:spPr>
        <p:txBody>
          <a:bodyPr wrap="square" lIns="25400" tIns="12700" rIns="25400" bIns="12700" anchor="ctr">
            <a:spAutoFit/>
          </a:bodyPr>
          <a:lstStyle/>
          <a:p>
            <a:pPr algn="l"/>
            <a:r>
              <a:rPr sz="2400" b="1" i="0">
                <a:solidFill>
                  <a:srgbClr val="463668"/>
                </a:solidFill>
                <a:latin typeface="Segoe UI"/>
              </a:rPr>
              <a:t>Detailed Slide Interpretation</a:t>
            </a:r>
          </a:p>
        </p:txBody>
      </p:sp>
      <p:sp>
        <p:nvSpPr>
          <p:cNvPr id="5" name="TextBox 4"/>
          <p:cNvSpPr txBox="1"/>
          <p:nvPr/>
        </p:nvSpPr>
        <p:spPr>
          <a:xfrm>
            <a:off x="8549640" y="2880360"/>
            <a:ext cx="822960" cy="1097280"/>
          </a:xfrm>
          <a:prstGeom prst="rect">
            <a:avLst/>
          </a:prstGeom>
          <a:noFill/>
        </p:spPr>
        <p:txBody>
          <a:bodyPr wrap="square" lIns="25400" tIns="12700" rIns="25400" bIns="12700" anchor="ctr">
            <a:spAutoFit/>
          </a:bodyPr>
          <a:lstStyle/>
          <a:p>
            <a:pPr algn="ctr"/>
            <a:r>
              <a:rPr sz="2600" b="0" i="0">
                <a:solidFill>
                  <a:srgbClr val="262626"/>
                </a:solidFill>
                <a:latin typeface="Segoe UI"/>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66928"/>
          </a:xfrm>
          <a:prstGeom prst="rect">
            <a:avLst/>
          </a:prstGeom>
          <a:solidFill>
            <a:srgbClr val="1F3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0"/>
            <a:ext cx="8686800" cy="566928"/>
          </a:xfrm>
          <a:prstGeom prst="rect">
            <a:avLst/>
          </a:prstGeom>
          <a:noFill/>
        </p:spPr>
        <p:txBody>
          <a:bodyPr wrap="square" lIns="25400" tIns="12700" rIns="25400" bIns="12700" anchor="ctr">
            <a:spAutoFit/>
          </a:bodyPr>
          <a:lstStyle/>
          <a:p>
            <a:pPr algn="l"/>
            <a:r>
              <a:rPr sz="2000" b="1" i="0">
                <a:solidFill>
                  <a:srgbClr val="FFFFFF"/>
                </a:solidFill>
                <a:latin typeface="Segoe UI"/>
              </a:rPr>
              <a:t>Executive Summary</a:t>
            </a:r>
            <a:r>
              <a:rPr sz="1250" b="0" i="0">
                <a:solidFill>
                  <a:srgbClr val="C8D3E6"/>
                </a:solidFill>
                <a:latin typeface="Segoe UI"/>
              </a:rPr>
              <a:t>    ESS Business Value Realization</a:t>
            </a:r>
          </a:p>
        </p:txBody>
      </p:sp>
      <p:sp>
        <p:nvSpPr>
          <p:cNvPr id="5" name="Rectangle 4"/>
          <p:cNvSpPr/>
          <p:nvPr/>
        </p:nvSpPr>
        <p:spPr>
          <a:xfrm>
            <a:off x="6300216" y="813815"/>
            <a:ext cx="5641848" cy="3227061"/>
          </a:xfrm>
          <a:prstGeom prst="rect">
            <a:avLst/>
          </a:prstGeom>
          <a:solidFill>
            <a:srgbClr val="FFFFFF"/>
          </a:solidFill>
          <a:ln w="25400">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965692" y="1165245"/>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1</a:t>
            </a:r>
          </a:p>
        </p:txBody>
      </p:sp>
      <p:sp>
        <p:nvSpPr>
          <p:cNvPr id="8" name="Oval 7"/>
          <p:cNvSpPr/>
          <p:nvPr/>
        </p:nvSpPr>
        <p:spPr>
          <a:xfrm>
            <a:off x="7306056" y="1383458"/>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2</a:t>
            </a:r>
          </a:p>
        </p:txBody>
      </p:sp>
      <p:sp>
        <p:nvSpPr>
          <p:cNvPr id="9" name="Oval 8"/>
          <p:cNvSpPr/>
          <p:nvPr/>
        </p:nvSpPr>
        <p:spPr>
          <a:xfrm>
            <a:off x="10625328" y="1383458"/>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3</a:t>
            </a:r>
          </a:p>
        </p:txBody>
      </p:sp>
      <p:sp>
        <p:nvSpPr>
          <p:cNvPr id="10" name="Oval 9"/>
          <p:cNvSpPr/>
          <p:nvPr/>
        </p:nvSpPr>
        <p:spPr>
          <a:xfrm>
            <a:off x="8080552" y="3565592"/>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4</a:t>
            </a:r>
          </a:p>
        </p:txBody>
      </p:sp>
      <p:sp>
        <p:nvSpPr>
          <p:cNvPr id="11" name="Rounded Rectangle 10"/>
          <p:cNvSpPr/>
          <p:nvPr/>
        </p:nvSpPr>
        <p:spPr>
          <a:xfrm>
            <a:off x="320040" y="896112"/>
            <a:ext cx="5806440" cy="148132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987552"/>
            <a:ext cx="5349240" cy="129844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Why are indicators split into leading and lagging?</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Leading indicators (Quality, Adoption, Productivity) move first and predict value; lagging indicators (Operational KPIs, Business Outcomes) confirm the dollars-and-hours impact weeks later.</a:t>
            </a:r>
          </a:p>
          <a:p>
            <a:pPr>
              <a:lnSpc>
                <a:spcPct val="100000"/>
              </a:lnSpc>
            </a:pPr>
            <a:r>
              <a:rPr sz="850" b="1">
                <a:solidFill>
                  <a:srgbClr val="0563C1"/>
                </a:solidFill>
                <a:latin typeface="Segoe UI"/>
              </a:rPr>
              <a:t>GUIDANCE:  </a:t>
            </a:r>
            <a:r>
              <a:rPr sz="850">
                <a:solidFill>
                  <a:srgbClr val="262626"/>
                </a:solidFill>
                <a:latin typeface="Segoe UI"/>
              </a:rPr>
              <a:t>Read the page left-to-right. Early in a rollout expect the left columns to move while the right lag — don't judge ROI in week one.</a:t>
            </a:r>
          </a:p>
        </p:txBody>
      </p:sp>
      <p:sp>
        <p:nvSpPr>
          <p:cNvPr id="13" name="Oval 12"/>
          <p:cNvSpPr/>
          <p:nvPr/>
        </p:nvSpPr>
        <p:spPr>
          <a:xfrm>
            <a:off x="137160" y="71323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1</a:t>
            </a:r>
          </a:p>
        </p:txBody>
      </p:sp>
      <p:sp>
        <p:nvSpPr>
          <p:cNvPr id="14" name="Rounded Rectangle 13"/>
          <p:cNvSpPr/>
          <p:nvPr/>
        </p:nvSpPr>
        <p:spPr>
          <a:xfrm>
            <a:off x="320040" y="2487168"/>
            <a:ext cx="5806440" cy="157276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2578608"/>
            <a:ext cx="5349240" cy="138988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Are the leading indicators healthy?</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Quality, Adoption and Productivity are the earliest proof the agent works. They should trend up before you expect business outcomes.</a:t>
            </a:r>
          </a:p>
          <a:p>
            <a:pPr>
              <a:lnSpc>
                <a:spcPct val="100000"/>
              </a:lnSpc>
            </a:pPr>
            <a:r>
              <a:rPr sz="850" b="1">
                <a:solidFill>
                  <a:srgbClr val="0563C1"/>
                </a:solidFill>
                <a:latin typeface="Segoe UI"/>
              </a:rPr>
              <a:t>RECOMMENDATION:  </a:t>
            </a:r>
            <a:r>
              <a:rPr sz="850">
                <a:solidFill>
                  <a:srgbClr val="262626"/>
                </a:solidFill>
                <a:latin typeface="Segoe UI"/>
              </a:rPr>
              <a:t>Set 30/60/90-day targets for each. If adoption or quality stalls, act on Improvement Opportunities before expecting ROI to appear.</a:t>
            </a:r>
          </a:p>
        </p:txBody>
      </p:sp>
      <p:sp>
        <p:nvSpPr>
          <p:cNvPr id="16" name="Oval 15"/>
          <p:cNvSpPr/>
          <p:nvPr/>
        </p:nvSpPr>
        <p:spPr>
          <a:xfrm>
            <a:off x="137160" y="2304288"/>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2</a:t>
            </a:r>
          </a:p>
        </p:txBody>
      </p:sp>
      <p:sp>
        <p:nvSpPr>
          <p:cNvPr id="17" name="Rounded Rectangle 16"/>
          <p:cNvSpPr/>
          <p:nvPr/>
        </p:nvSpPr>
        <p:spPr>
          <a:xfrm>
            <a:off x="320040" y="4187952"/>
            <a:ext cx="580644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4279392"/>
            <a:ext cx="534924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When can I credibly claim business value?</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Operational KPIs and Business Outcomes are the CFO-grade numbers. They only stabilize once adoption is steady and volume is meaningful.</a:t>
            </a:r>
          </a:p>
          <a:p>
            <a:pPr>
              <a:lnSpc>
                <a:spcPct val="100000"/>
              </a:lnSpc>
            </a:pPr>
            <a:r>
              <a:rPr sz="850" b="1">
                <a:solidFill>
                  <a:srgbClr val="0563C1"/>
                </a:solidFill>
                <a:latin typeface="Segoe UI"/>
              </a:rPr>
              <a:t>RECOMMENDATION:  </a:t>
            </a:r>
            <a:r>
              <a:rPr sz="850">
                <a:solidFill>
                  <a:srgbClr val="262626"/>
                </a:solidFill>
                <a:latin typeface="Segoe UI"/>
              </a:rPr>
              <a:t>Report lagging value monthly, not weekly, and pair every ROI figure with the assumptions on the Business Impact page for finance to validate.</a:t>
            </a:r>
          </a:p>
        </p:txBody>
      </p:sp>
      <p:sp>
        <p:nvSpPr>
          <p:cNvPr id="19" name="Oval 18"/>
          <p:cNvSpPr/>
          <p:nvPr/>
        </p:nvSpPr>
        <p:spPr>
          <a:xfrm>
            <a:off x="13716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3</a:t>
            </a:r>
          </a:p>
        </p:txBody>
      </p:sp>
      <p:sp>
        <p:nvSpPr>
          <p:cNvPr id="20" name="Rounded Rectangle 19"/>
          <p:cNvSpPr/>
          <p:nvPr/>
        </p:nvSpPr>
        <p:spPr>
          <a:xfrm>
            <a:off x="6355080" y="4187952"/>
            <a:ext cx="553212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65976" y="4279392"/>
            <a:ext cx="507492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What belongs here vs. in Copilot Studio?</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This is the executive scorecard — the single view for leadership. Operational troubleshooting and content fixes live in Copilot Studio, not on this page.</a:t>
            </a:r>
          </a:p>
          <a:p>
            <a:pPr>
              <a:lnSpc>
                <a:spcPct val="100000"/>
              </a:lnSpc>
            </a:pPr>
            <a:r>
              <a:rPr sz="850" b="1">
                <a:solidFill>
                  <a:srgbClr val="0563C1"/>
                </a:solidFill>
                <a:latin typeface="Segoe UI"/>
              </a:rPr>
              <a:t>GUIDANCE:  </a:t>
            </a:r>
            <a:r>
              <a:rPr sz="850">
                <a:solidFill>
                  <a:srgbClr val="262626"/>
                </a:solidFill>
                <a:latin typeface="Segoe UI"/>
              </a:rPr>
              <a:t>Open every steering meeting with this page; do the actual fix work between meetings in Improvement Opportunities and Copilot Studio.</a:t>
            </a:r>
          </a:p>
        </p:txBody>
      </p:sp>
      <p:sp>
        <p:nvSpPr>
          <p:cNvPr id="22" name="Oval 21"/>
          <p:cNvSpPr/>
          <p:nvPr/>
        </p:nvSpPr>
        <p:spPr>
          <a:xfrm>
            <a:off x="617220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4</a:t>
            </a:r>
          </a:p>
        </p:txBody>
      </p:sp>
      <p:pic>
        <p:nvPicPr>
          <p:cNvPr id="24" name="Picture 23">
            <a:extLst>
              <a:ext uri="{FF2B5EF4-FFF2-40B4-BE49-F238E27FC236}">
                <a16:creationId xmlns:a16="http://schemas.microsoft.com/office/drawing/2014/main" id="{77B00595-B719-B830-5666-F60B17CC304B}"/>
              </a:ext>
            </a:extLst>
          </p:cNvPr>
          <p:cNvPicPr>
            <a:picLocks noChangeAspect="1"/>
          </p:cNvPicPr>
          <p:nvPr/>
        </p:nvPicPr>
        <p:blipFill>
          <a:blip r:embed="rId2"/>
          <a:stretch>
            <a:fillRect/>
          </a:stretch>
        </p:blipFill>
        <p:spPr>
          <a:xfrm>
            <a:off x="6355080" y="868680"/>
            <a:ext cx="5532120" cy="31563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66928"/>
          </a:xfrm>
          <a:prstGeom prst="rect">
            <a:avLst/>
          </a:prstGeom>
          <a:solidFill>
            <a:srgbClr val="1F3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0"/>
            <a:ext cx="8686800" cy="566928"/>
          </a:xfrm>
          <a:prstGeom prst="rect">
            <a:avLst/>
          </a:prstGeom>
          <a:noFill/>
        </p:spPr>
        <p:txBody>
          <a:bodyPr wrap="square" lIns="25400" tIns="12700" rIns="25400" bIns="12700" anchor="ctr">
            <a:spAutoFit/>
          </a:bodyPr>
          <a:lstStyle/>
          <a:p>
            <a:pPr algn="l"/>
            <a:r>
              <a:rPr sz="2000" b="1" i="0">
                <a:solidFill>
                  <a:srgbClr val="FFFFFF"/>
                </a:solidFill>
                <a:latin typeface="Segoe UI"/>
              </a:rPr>
              <a:t>Organization Adoption</a:t>
            </a:r>
            <a:r>
              <a:rPr sz="1250" b="0" i="0">
                <a:solidFill>
                  <a:srgbClr val="C8D3E6"/>
                </a:solidFill>
                <a:latin typeface="Segoe UI"/>
              </a:rPr>
              <a:t>    Develop an agent-first experience</a:t>
            </a:r>
          </a:p>
        </p:txBody>
      </p:sp>
      <p:sp>
        <p:nvSpPr>
          <p:cNvPr id="5" name="Rectangle 4"/>
          <p:cNvSpPr/>
          <p:nvPr/>
        </p:nvSpPr>
        <p:spPr>
          <a:xfrm>
            <a:off x="6300216" y="813815"/>
            <a:ext cx="5641848" cy="3245276"/>
          </a:xfrm>
          <a:prstGeom prst="rect">
            <a:avLst/>
          </a:prstGeom>
          <a:solidFill>
            <a:srgbClr val="FFFFFF"/>
          </a:solidFill>
          <a:ln w="25400">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993352" y="1324663"/>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1</a:t>
            </a:r>
          </a:p>
        </p:txBody>
      </p:sp>
      <p:sp>
        <p:nvSpPr>
          <p:cNvPr id="8" name="Oval 7"/>
          <p:cNvSpPr/>
          <p:nvPr/>
        </p:nvSpPr>
        <p:spPr>
          <a:xfrm>
            <a:off x="7527340" y="2343717"/>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2</a:t>
            </a:r>
          </a:p>
        </p:txBody>
      </p:sp>
      <p:sp>
        <p:nvSpPr>
          <p:cNvPr id="9" name="Oval 8"/>
          <p:cNvSpPr/>
          <p:nvPr/>
        </p:nvSpPr>
        <p:spPr>
          <a:xfrm>
            <a:off x="10348722" y="2281006"/>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3</a:t>
            </a:r>
          </a:p>
        </p:txBody>
      </p:sp>
      <p:sp>
        <p:nvSpPr>
          <p:cNvPr id="10" name="Oval 9"/>
          <p:cNvSpPr/>
          <p:nvPr/>
        </p:nvSpPr>
        <p:spPr>
          <a:xfrm>
            <a:off x="10348722" y="3221670"/>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4</a:t>
            </a:r>
          </a:p>
        </p:txBody>
      </p:sp>
      <p:sp>
        <p:nvSpPr>
          <p:cNvPr id="11" name="Rounded Rectangle 10"/>
          <p:cNvSpPr/>
          <p:nvPr/>
        </p:nvSpPr>
        <p:spPr>
          <a:xfrm>
            <a:off x="320040" y="896112"/>
            <a:ext cx="5806440" cy="148132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987552"/>
            <a:ext cx="5349240" cy="129844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Is the agent gaining real, repeat users — not one-time curiosity?</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A healthy-looking user and conversation count is not proof of adoption by itself — Repeat Usage Rate and Sessions per User are what prove the agent earned a second visit.</a:t>
            </a:r>
          </a:p>
          <a:p>
            <a:pPr>
              <a:lnSpc>
                <a:spcPct val="100000"/>
              </a:lnSpc>
            </a:pPr>
            <a:r>
              <a:rPr sz="850" b="1">
                <a:solidFill>
                  <a:srgbClr val="0563C1"/>
                </a:solidFill>
                <a:latin typeface="Segoe UI"/>
              </a:rPr>
              <a:t>RECOMMENDATION:  </a:t>
            </a:r>
            <a:r>
              <a:rPr sz="850">
                <a:solidFill>
                  <a:srgbClr val="262626"/>
                </a:solidFill>
                <a:latin typeface="Segoe UI"/>
              </a:rPr>
              <a:t>Treat repeat usage as your north-star adoption metric. Below ~30% signals a trust or relevance problem — fix it before scaling licenses.</a:t>
            </a:r>
          </a:p>
        </p:txBody>
      </p:sp>
      <p:sp>
        <p:nvSpPr>
          <p:cNvPr id="13" name="Oval 12"/>
          <p:cNvSpPr/>
          <p:nvPr/>
        </p:nvSpPr>
        <p:spPr>
          <a:xfrm>
            <a:off x="137160" y="71323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1</a:t>
            </a:r>
          </a:p>
        </p:txBody>
      </p:sp>
      <p:sp>
        <p:nvSpPr>
          <p:cNvPr id="14" name="Rounded Rectangle 13"/>
          <p:cNvSpPr/>
          <p:nvPr/>
        </p:nvSpPr>
        <p:spPr>
          <a:xfrm>
            <a:off x="320040" y="2487168"/>
            <a:ext cx="5806440" cy="157276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2578608"/>
            <a:ext cx="5349240" cy="138988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Is adoption growing, plateauing, or decaying?</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The weekly trend shows the shape of adoption. A rise-then-plateau is normal after launch; a sustained decline means novelty wore off.</a:t>
            </a:r>
          </a:p>
          <a:p>
            <a:pPr>
              <a:lnSpc>
                <a:spcPct val="100000"/>
              </a:lnSpc>
            </a:pPr>
            <a:r>
              <a:rPr sz="850" b="1">
                <a:solidFill>
                  <a:srgbClr val="0563C1"/>
                </a:solidFill>
                <a:latin typeface="Segoe UI"/>
              </a:rPr>
              <a:t>GUIDANCE:  </a:t>
            </a:r>
            <a:r>
              <a:rPr sz="850">
                <a:solidFill>
                  <a:srgbClr val="262626"/>
                </a:solidFill>
                <a:latin typeface="Segoe UI"/>
              </a:rPr>
              <a:t>Watch the gap between conversations and users. Conversations growing faster than users means your base is getting more value per person.</a:t>
            </a:r>
          </a:p>
        </p:txBody>
      </p:sp>
      <p:sp>
        <p:nvSpPr>
          <p:cNvPr id="16" name="Oval 15"/>
          <p:cNvSpPr/>
          <p:nvPr/>
        </p:nvSpPr>
        <p:spPr>
          <a:xfrm>
            <a:off x="137160" y="2304288"/>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2</a:t>
            </a:r>
          </a:p>
        </p:txBody>
      </p:sp>
      <p:sp>
        <p:nvSpPr>
          <p:cNvPr id="17" name="Rounded Rectangle 16"/>
          <p:cNvSpPr/>
          <p:nvPr/>
        </p:nvSpPr>
        <p:spPr>
          <a:xfrm>
            <a:off x="320040" y="4187952"/>
            <a:ext cx="580644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4279392"/>
            <a:ext cx="534924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Which departments have adopted — and which haven't?</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Users by Organization exposes strength and whitespace. A near-empty department is usually an enablement gap, not disinterest.</a:t>
            </a:r>
          </a:p>
          <a:p>
            <a:pPr>
              <a:lnSpc>
                <a:spcPct val="100000"/>
              </a:lnSpc>
            </a:pPr>
            <a:r>
              <a:rPr sz="850" b="1">
                <a:solidFill>
                  <a:srgbClr val="0563C1"/>
                </a:solidFill>
                <a:latin typeface="Segoe UI"/>
              </a:rPr>
              <a:t>RECOMMENDATION:  </a:t>
            </a:r>
            <a:r>
              <a:rPr sz="850">
                <a:solidFill>
                  <a:srgbClr val="262626"/>
                </a:solidFill>
                <a:latin typeface="Segoe UI"/>
              </a:rPr>
              <a:t>Target bottom-quartile departments with a champion, a use-case demo and a nudge campaign. Adoption spreads fastest team-by-team.</a:t>
            </a:r>
          </a:p>
        </p:txBody>
      </p:sp>
      <p:sp>
        <p:nvSpPr>
          <p:cNvPr id="19" name="Oval 18"/>
          <p:cNvSpPr/>
          <p:nvPr/>
        </p:nvSpPr>
        <p:spPr>
          <a:xfrm>
            <a:off x="13716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3</a:t>
            </a:r>
          </a:p>
        </p:txBody>
      </p:sp>
      <p:sp>
        <p:nvSpPr>
          <p:cNvPr id="20" name="Rounded Rectangle 19"/>
          <p:cNvSpPr/>
          <p:nvPr/>
        </p:nvSpPr>
        <p:spPr>
          <a:xfrm>
            <a:off x="6355080" y="4187952"/>
            <a:ext cx="553212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65976" y="4279392"/>
            <a:ext cx="507492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Is usage global or concentrated?</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Users by Country reveals geographic reach and any language or timezone barriers. Balanced bars suggest the agent generalizes well.</a:t>
            </a:r>
          </a:p>
          <a:p>
            <a:pPr>
              <a:lnSpc>
                <a:spcPct val="100000"/>
              </a:lnSpc>
            </a:pPr>
            <a:r>
              <a:rPr sz="850" b="1">
                <a:solidFill>
                  <a:srgbClr val="0563C1"/>
                </a:solidFill>
                <a:latin typeface="Segoe UI"/>
              </a:rPr>
              <a:t>GUIDANCE:  </a:t>
            </a:r>
            <a:r>
              <a:rPr sz="850">
                <a:solidFill>
                  <a:srgbClr val="262626"/>
                </a:solidFill>
                <a:latin typeface="Segoe UI"/>
              </a:rPr>
              <a:t>If one region lags disproportionately, check language coverage and localized content before assuming there is simply low demand.</a:t>
            </a:r>
          </a:p>
        </p:txBody>
      </p:sp>
      <p:sp>
        <p:nvSpPr>
          <p:cNvPr id="22" name="Oval 21"/>
          <p:cNvSpPr/>
          <p:nvPr/>
        </p:nvSpPr>
        <p:spPr>
          <a:xfrm>
            <a:off x="617220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4</a:t>
            </a:r>
          </a:p>
        </p:txBody>
      </p:sp>
      <p:pic>
        <p:nvPicPr>
          <p:cNvPr id="25" name="Picture 24">
            <a:extLst>
              <a:ext uri="{FF2B5EF4-FFF2-40B4-BE49-F238E27FC236}">
                <a16:creationId xmlns:a16="http://schemas.microsoft.com/office/drawing/2014/main" id="{C57BFBCA-A5FE-8B37-29FA-6608B8FAFDA6}"/>
              </a:ext>
            </a:extLst>
          </p:cNvPr>
          <p:cNvPicPr>
            <a:picLocks noChangeAspect="1"/>
          </p:cNvPicPr>
          <p:nvPr/>
        </p:nvPicPr>
        <p:blipFill>
          <a:blip r:embed="rId2"/>
          <a:stretch>
            <a:fillRect/>
          </a:stretch>
        </p:blipFill>
        <p:spPr>
          <a:xfrm>
            <a:off x="6355080" y="868680"/>
            <a:ext cx="5532120" cy="31563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66928"/>
          </a:xfrm>
          <a:prstGeom prst="rect">
            <a:avLst/>
          </a:prstGeom>
          <a:solidFill>
            <a:srgbClr val="1F3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0"/>
            <a:ext cx="8686800" cy="566928"/>
          </a:xfrm>
          <a:prstGeom prst="rect">
            <a:avLst/>
          </a:prstGeom>
          <a:noFill/>
        </p:spPr>
        <p:txBody>
          <a:bodyPr wrap="square" lIns="25400" tIns="12700" rIns="25400" bIns="12700" anchor="ctr">
            <a:spAutoFit/>
          </a:bodyPr>
          <a:lstStyle/>
          <a:p>
            <a:pPr algn="l"/>
            <a:r>
              <a:rPr sz="2000" b="1" i="0">
                <a:solidFill>
                  <a:srgbClr val="FFFFFF"/>
                </a:solidFill>
                <a:latin typeface="Segoe UI"/>
              </a:rPr>
              <a:t>Time to Knowledge</a:t>
            </a:r>
            <a:r>
              <a:rPr sz="1250" b="0" i="0">
                <a:solidFill>
                  <a:srgbClr val="C8D3E6"/>
                </a:solidFill>
                <a:latin typeface="Segoe UI"/>
              </a:rPr>
              <a:t>    How fast users reach an answer</a:t>
            </a:r>
          </a:p>
        </p:txBody>
      </p:sp>
      <p:sp>
        <p:nvSpPr>
          <p:cNvPr id="5" name="Rectangle 4"/>
          <p:cNvSpPr/>
          <p:nvPr/>
        </p:nvSpPr>
        <p:spPr>
          <a:xfrm>
            <a:off x="6300216" y="813815"/>
            <a:ext cx="5641848" cy="3233748"/>
          </a:xfrm>
          <a:prstGeom prst="rect">
            <a:avLst/>
          </a:prstGeom>
          <a:solidFill>
            <a:srgbClr val="FFFFFF"/>
          </a:solidFill>
          <a:ln w="25400">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16698" y="1322416"/>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1</a:t>
            </a:r>
          </a:p>
        </p:txBody>
      </p:sp>
      <p:sp>
        <p:nvSpPr>
          <p:cNvPr id="8" name="Oval 7"/>
          <p:cNvSpPr/>
          <p:nvPr/>
        </p:nvSpPr>
        <p:spPr>
          <a:xfrm>
            <a:off x="10072115" y="1322416"/>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2</a:t>
            </a:r>
          </a:p>
        </p:txBody>
      </p:sp>
      <p:sp>
        <p:nvSpPr>
          <p:cNvPr id="9" name="Oval 8"/>
          <p:cNvSpPr/>
          <p:nvPr/>
        </p:nvSpPr>
        <p:spPr>
          <a:xfrm>
            <a:off x="7859268" y="2587644"/>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3</a:t>
            </a:r>
          </a:p>
        </p:txBody>
      </p:sp>
      <p:sp>
        <p:nvSpPr>
          <p:cNvPr id="10" name="Oval 9"/>
          <p:cNvSpPr/>
          <p:nvPr/>
        </p:nvSpPr>
        <p:spPr>
          <a:xfrm>
            <a:off x="10514685" y="2431443"/>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4</a:t>
            </a:r>
          </a:p>
        </p:txBody>
      </p:sp>
      <p:sp>
        <p:nvSpPr>
          <p:cNvPr id="11" name="Rounded Rectangle 10"/>
          <p:cNvSpPr/>
          <p:nvPr/>
        </p:nvSpPr>
        <p:spPr>
          <a:xfrm>
            <a:off x="320040" y="896112"/>
            <a:ext cx="5806440" cy="148132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987552"/>
            <a:ext cx="5349240" cy="129844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How quickly does the agent get people to an answer?</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Avg Response Time (13.4s), Duration (57s) and low turns (1.6) mean users get what they need fast — the core promise of self-service.</a:t>
            </a:r>
          </a:p>
          <a:p>
            <a:pPr>
              <a:lnSpc>
                <a:spcPct val="100000"/>
              </a:lnSpc>
            </a:pPr>
            <a:r>
              <a:rPr sz="850" b="1">
                <a:solidFill>
                  <a:srgbClr val="0563C1"/>
                </a:solidFill>
                <a:latin typeface="Segoe UI"/>
              </a:rPr>
              <a:t>RECOMMENDATION:  </a:t>
            </a:r>
            <a:r>
              <a:rPr sz="850">
                <a:solidFill>
                  <a:srgbClr val="262626"/>
                </a:solidFill>
                <a:latin typeface="Segoe UI"/>
              </a:rPr>
              <a:t>Benchmark against your old channel. The consultant story is 'X minutes → under a minute,' and that delta justifies the investment.</a:t>
            </a:r>
          </a:p>
        </p:txBody>
      </p:sp>
      <p:sp>
        <p:nvSpPr>
          <p:cNvPr id="13" name="Oval 12"/>
          <p:cNvSpPr/>
          <p:nvPr/>
        </p:nvSpPr>
        <p:spPr>
          <a:xfrm>
            <a:off x="137160" y="71323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1</a:t>
            </a:r>
          </a:p>
        </p:txBody>
      </p:sp>
      <p:sp>
        <p:nvSpPr>
          <p:cNvPr id="14" name="Rounded Rectangle 13"/>
          <p:cNvSpPr/>
          <p:nvPr/>
        </p:nvSpPr>
        <p:spPr>
          <a:xfrm>
            <a:off x="320040" y="2487168"/>
            <a:ext cx="5806440" cy="157276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2578608"/>
            <a:ext cx="5349240" cy="138988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Where are users giving up?</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Abandonment (17.7%), Unengaged (20.4%) and Zero-Result (3.7%) are your friction signals — users who hit a wall and left without an answer.</a:t>
            </a:r>
          </a:p>
          <a:p>
            <a:pPr>
              <a:lnSpc>
                <a:spcPct val="100000"/>
              </a:lnSpc>
            </a:pPr>
            <a:r>
              <a:rPr sz="850" b="1">
                <a:solidFill>
                  <a:srgbClr val="0563C1"/>
                </a:solidFill>
                <a:latin typeface="Segoe UI"/>
              </a:rPr>
              <a:t>RECOMMENDATION:  </a:t>
            </a:r>
            <a:r>
              <a:rPr sz="850">
                <a:solidFill>
                  <a:srgbClr val="262626"/>
                </a:solidFill>
                <a:latin typeface="Segoe UI"/>
              </a:rPr>
              <a:t>Set ceilings (e.g. abandonment &lt;15%, zero-result &lt;5%). Anything above feeds straight into the Improvement Opportunities backlog.</a:t>
            </a:r>
          </a:p>
        </p:txBody>
      </p:sp>
      <p:sp>
        <p:nvSpPr>
          <p:cNvPr id="16" name="Oval 15"/>
          <p:cNvSpPr/>
          <p:nvPr/>
        </p:nvSpPr>
        <p:spPr>
          <a:xfrm>
            <a:off x="137160" y="2304288"/>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2</a:t>
            </a:r>
          </a:p>
        </p:txBody>
      </p:sp>
      <p:sp>
        <p:nvSpPr>
          <p:cNvPr id="17" name="Rounded Rectangle 16"/>
          <p:cNvSpPr/>
          <p:nvPr/>
        </p:nvSpPr>
        <p:spPr>
          <a:xfrm>
            <a:off x="320040" y="4187952"/>
            <a:ext cx="580644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4279392"/>
            <a:ext cx="534924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Which topics cost the most effort?</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Time &amp; Effort by Primary Topic ranks topics by duration and turns. High turns plus long duration means complex or poorly-supported content.</a:t>
            </a:r>
          </a:p>
          <a:p>
            <a:pPr>
              <a:lnSpc>
                <a:spcPct val="100000"/>
              </a:lnSpc>
            </a:pPr>
            <a:r>
              <a:rPr sz="850" b="1">
                <a:solidFill>
                  <a:srgbClr val="0563C1"/>
                </a:solidFill>
                <a:latin typeface="Segoe UI"/>
              </a:rPr>
              <a:t>GUIDANCE:  </a:t>
            </a:r>
            <a:r>
              <a:rPr sz="850">
                <a:solidFill>
                  <a:srgbClr val="262626"/>
                </a:solidFill>
                <a:latin typeface="Segoe UI"/>
              </a:rPr>
              <a:t>Sort by effort and fix the top three topics first. Small content improvements there move the whole-page averages.</a:t>
            </a:r>
          </a:p>
        </p:txBody>
      </p:sp>
      <p:sp>
        <p:nvSpPr>
          <p:cNvPr id="19" name="Oval 18"/>
          <p:cNvSpPr/>
          <p:nvPr/>
        </p:nvSpPr>
        <p:spPr>
          <a:xfrm>
            <a:off x="13716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3</a:t>
            </a:r>
          </a:p>
        </p:txBody>
      </p:sp>
      <p:sp>
        <p:nvSpPr>
          <p:cNvPr id="20" name="Rounded Rectangle 19"/>
          <p:cNvSpPr/>
          <p:nvPr/>
        </p:nvSpPr>
        <p:spPr>
          <a:xfrm>
            <a:off x="6355080" y="4187952"/>
            <a:ext cx="553212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65976" y="4279392"/>
            <a:ext cx="507492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Does faster always mean better?</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Metrics by Session Outcome split speed by result. Fast-but-failed conversations are a red flag — the agent ended quickly because it couldn't help.</a:t>
            </a:r>
          </a:p>
          <a:p>
            <a:pPr>
              <a:lnSpc>
                <a:spcPct val="100000"/>
              </a:lnSpc>
            </a:pPr>
            <a:r>
              <a:rPr sz="850" b="1">
                <a:solidFill>
                  <a:srgbClr val="0563C1"/>
                </a:solidFill>
                <a:latin typeface="Segoe UI"/>
              </a:rPr>
              <a:t>RECOMMENDATION:  </a:t>
            </a:r>
            <a:r>
              <a:rPr sz="850">
                <a:solidFill>
                  <a:srgbClr val="262626"/>
                </a:solidFill>
                <a:latin typeface="Segoe UI"/>
              </a:rPr>
              <a:t>Always read speed together with outcome. Optimize for fast and resolved, never speed alone.</a:t>
            </a:r>
          </a:p>
        </p:txBody>
      </p:sp>
      <p:sp>
        <p:nvSpPr>
          <p:cNvPr id="22" name="Oval 21"/>
          <p:cNvSpPr/>
          <p:nvPr/>
        </p:nvSpPr>
        <p:spPr>
          <a:xfrm>
            <a:off x="617220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4</a:t>
            </a:r>
          </a:p>
        </p:txBody>
      </p:sp>
      <p:pic>
        <p:nvPicPr>
          <p:cNvPr id="26" name="Picture 25">
            <a:extLst>
              <a:ext uri="{FF2B5EF4-FFF2-40B4-BE49-F238E27FC236}">
                <a16:creationId xmlns:a16="http://schemas.microsoft.com/office/drawing/2014/main" id="{F9726212-0A53-24B4-5D15-EFB9FF42BC0A}"/>
              </a:ext>
            </a:extLst>
          </p:cNvPr>
          <p:cNvPicPr>
            <a:picLocks noChangeAspect="1"/>
          </p:cNvPicPr>
          <p:nvPr/>
        </p:nvPicPr>
        <p:blipFill>
          <a:blip r:embed="rId2"/>
          <a:stretch>
            <a:fillRect/>
          </a:stretch>
        </p:blipFill>
        <p:spPr>
          <a:xfrm>
            <a:off x="6355080" y="868680"/>
            <a:ext cx="5532120" cy="315634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66928"/>
          </a:xfrm>
          <a:prstGeom prst="rect">
            <a:avLst/>
          </a:prstGeom>
          <a:solidFill>
            <a:srgbClr val="1F3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0"/>
            <a:ext cx="8686800" cy="566928"/>
          </a:xfrm>
          <a:prstGeom prst="rect">
            <a:avLst/>
          </a:prstGeom>
          <a:noFill/>
        </p:spPr>
        <p:txBody>
          <a:bodyPr wrap="square" lIns="25400" tIns="12700" rIns="25400" bIns="12700" anchor="ctr">
            <a:spAutoFit/>
          </a:bodyPr>
          <a:lstStyle/>
          <a:p>
            <a:pPr algn="l"/>
            <a:r>
              <a:rPr sz="2000" b="1" i="0">
                <a:solidFill>
                  <a:srgbClr val="FFFFFF"/>
                </a:solidFill>
                <a:latin typeface="Segoe UI"/>
              </a:rPr>
              <a:t>Conversation Outcomes</a:t>
            </a:r>
            <a:r>
              <a:rPr sz="1250" b="0" i="0">
                <a:solidFill>
                  <a:srgbClr val="C8D3E6"/>
                </a:solidFill>
                <a:latin typeface="Segoe UI"/>
              </a:rPr>
              <a:t>    What actually happens in a conversation</a:t>
            </a:r>
          </a:p>
        </p:txBody>
      </p:sp>
      <p:sp>
        <p:nvSpPr>
          <p:cNvPr id="5" name="Rectangle 4"/>
          <p:cNvSpPr/>
          <p:nvPr/>
        </p:nvSpPr>
        <p:spPr>
          <a:xfrm>
            <a:off x="6300216" y="813815"/>
            <a:ext cx="5641848" cy="3289868"/>
          </a:xfrm>
          <a:prstGeom prst="rect">
            <a:avLst/>
          </a:prstGeom>
          <a:solidFill>
            <a:srgbClr val="FFFFFF"/>
          </a:solidFill>
          <a:ln w="25400">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961473" y="1333359"/>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1</a:t>
            </a:r>
          </a:p>
        </p:txBody>
      </p:sp>
      <p:sp>
        <p:nvSpPr>
          <p:cNvPr id="8" name="Oval 7"/>
          <p:cNvSpPr/>
          <p:nvPr/>
        </p:nvSpPr>
        <p:spPr>
          <a:xfrm>
            <a:off x="10514685" y="2176096"/>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2</a:t>
            </a:r>
          </a:p>
        </p:txBody>
      </p:sp>
      <p:sp>
        <p:nvSpPr>
          <p:cNvPr id="9" name="Oval 8"/>
          <p:cNvSpPr/>
          <p:nvPr/>
        </p:nvSpPr>
        <p:spPr>
          <a:xfrm>
            <a:off x="7416698" y="2303302"/>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3</a:t>
            </a:r>
          </a:p>
        </p:txBody>
      </p:sp>
      <p:sp>
        <p:nvSpPr>
          <p:cNvPr id="10" name="Oval 9"/>
          <p:cNvSpPr/>
          <p:nvPr/>
        </p:nvSpPr>
        <p:spPr>
          <a:xfrm>
            <a:off x="9242298" y="3320947"/>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4</a:t>
            </a:r>
          </a:p>
        </p:txBody>
      </p:sp>
      <p:sp>
        <p:nvSpPr>
          <p:cNvPr id="11" name="Rounded Rectangle 10"/>
          <p:cNvSpPr/>
          <p:nvPr/>
        </p:nvSpPr>
        <p:spPr>
          <a:xfrm>
            <a:off x="320040" y="896112"/>
            <a:ext cx="5806440" cy="148132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987552"/>
            <a:ext cx="5349240" cy="129844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How often does the agent fully resolve the request?</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Resolution Rate is now the headline effectiveness number — the share of real conversations resolved without a human. When resolution sits in the high 50s or low 60s, that converts directly to cost savings; Engaged Rate shows how many conversations had genuine back-and-forth.</a:t>
            </a:r>
          </a:p>
          <a:p>
            <a:pPr>
              <a:lnSpc>
                <a:spcPct val="100000"/>
              </a:lnSpc>
            </a:pPr>
            <a:r>
              <a:rPr sz="850" b="1">
                <a:solidFill>
                  <a:srgbClr val="0563C1"/>
                </a:solidFill>
                <a:latin typeface="Segoe UI"/>
              </a:rPr>
              <a:t>RECOMMENDATION:  </a:t>
            </a:r>
            <a:r>
              <a:rPr sz="850">
                <a:solidFill>
                  <a:srgbClr val="262626"/>
                </a:solidFill>
                <a:latin typeface="Segoe UI"/>
              </a:rPr>
              <a:t>Anchor your ROI story to Resolution Rate. A few points of improvement is usually the biggest single lever on the Business Impact page.</a:t>
            </a:r>
          </a:p>
        </p:txBody>
      </p:sp>
      <p:sp>
        <p:nvSpPr>
          <p:cNvPr id="13" name="Oval 12"/>
          <p:cNvSpPr/>
          <p:nvPr/>
        </p:nvSpPr>
        <p:spPr>
          <a:xfrm>
            <a:off x="137160" y="71323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1</a:t>
            </a:r>
          </a:p>
        </p:txBody>
      </p:sp>
      <p:sp>
        <p:nvSpPr>
          <p:cNvPr id="14" name="Rounded Rectangle 13"/>
          <p:cNvSpPr/>
          <p:nvPr/>
        </p:nvSpPr>
        <p:spPr>
          <a:xfrm>
            <a:off x="320040" y="2487168"/>
            <a:ext cx="5806440" cy="157276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2578608"/>
            <a:ext cx="5349240" cy="138988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What is the mix of outcomes?</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Agent Session Outcomes shows resolved vs. escalated vs. unresolved. A large escalated slice means the agent is triaging, not solving.</a:t>
            </a:r>
          </a:p>
          <a:p>
            <a:pPr>
              <a:lnSpc>
                <a:spcPct val="100000"/>
              </a:lnSpc>
            </a:pPr>
            <a:r>
              <a:rPr sz="850" b="1">
                <a:solidFill>
                  <a:srgbClr val="0563C1"/>
                </a:solidFill>
                <a:latin typeface="Segoe UI"/>
              </a:rPr>
              <a:t>GUIDANCE:  </a:t>
            </a:r>
            <a:r>
              <a:rPr sz="850">
                <a:solidFill>
                  <a:srgbClr val="262626"/>
                </a:solidFill>
                <a:latin typeface="Segoe UI"/>
              </a:rPr>
              <a:t>Track the resolved slice week over week. Shifts in the donut are your earliest warning that content or model quality changed.</a:t>
            </a:r>
          </a:p>
        </p:txBody>
      </p:sp>
      <p:sp>
        <p:nvSpPr>
          <p:cNvPr id="16" name="Oval 15"/>
          <p:cNvSpPr/>
          <p:nvPr/>
        </p:nvSpPr>
        <p:spPr>
          <a:xfrm>
            <a:off x="137160" y="2304288"/>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2</a:t>
            </a:r>
          </a:p>
        </p:txBody>
      </p:sp>
      <p:sp>
        <p:nvSpPr>
          <p:cNvPr id="17" name="Rounded Rectangle 16"/>
          <p:cNvSpPr/>
          <p:nvPr/>
        </p:nvSpPr>
        <p:spPr>
          <a:xfrm>
            <a:off x="320040" y="4187952"/>
            <a:ext cx="580644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4279392"/>
            <a:ext cx="534924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Is quality holding as volume grows?</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Conversations by Week &amp; Outcome shows whether success holds as usage scales. Rising volume with rising failures means scaling a problem.</a:t>
            </a:r>
          </a:p>
          <a:p>
            <a:pPr>
              <a:lnSpc>
                <a:spcPct val="100000"/>
              </a:lnSpc>
            </a:pPr>
            <a:r>
              <a:rPr sz="850" b="1">
                <a:solidFill>
                  <a:srgbClr val="0563C1"/>
                </a:solidFill>
                <a:latin typeface="Segoe UI"/>
              </a:rPr>
              <a:t>RECOMMENDATION:  </a:t>
            </a:r>
            <a:r>
              <a:rPr sz="850">
                <a:solidFill>
                  <a:srgbClr val="262626"/>
                </a:solidFill>
                <a:latin typeface="Segoe UI"/>
              </a:rPr>
              <a:t>If failures climb with volume, pause expansion and fix content before onboarding more users.</a:t>
            </a:r>
          </a:p>
        </p:txBody>
      </p:sp>
      <p:sp>
        <p:nvSpPr>
          <p:cNvPr id="19" name="Oval 18"/>
          <p:cNvSpPr/>
          <p:nvPr/>
        </p:nvSpPr>
        <p:spPr>
          <a:xfrm>
            <a:off x="13716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3</a:t>
            </a:r>
          </a:p>
        </p:txBody>
      </p:sp>
      <p:sp>
        <p:nvSpPr>
          <p:cNvPr id="20" name="Rounded Rectangle 19"/>
          <p:cNvSpPr/>
          <p:nvPr/>
        </p:nvSpPr>
        <p:spPr>
          <a:xfrm>
            <a:off x="6355080" y="4187952"/>
            <a:ext cx="553212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65976" y="4279392"/>
            <a:ext cx="507492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Which topics deflect well, and which are hardest?</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The Topic Outcomes table plus the most-popular, top-deflected and hardest lists tell you exactly where the agent wins and struggles.</a:t>
            </a:r>
          </a:p>
          <a:p>
            <a:pPr>
              <a:lnSpc>
                <a:spcPct val="100000"/>
              </a:lnSpc>
            </a:pPr>
            <a:r>
              <a:rPr sz="850" b="1">
                <a:solidFill>
                  <a:srgbClr val="0563C1"/>
                </a:solidFill>
                <a:latin typeface="Segoe UI"/>
              </a:rPr>
              <a:t>RECOMMENDATION:  </a:t>
            </a:r>
            <a:r>
              <a:rPr sz="850">
                <a:solidFill>
                  <a:srgbClr val="262626"/>
                </a:solidFill>
                <a:latin typeface="Segoe UI"/>
              </a:rPr>
              <a:t>Promote top-deflected topics in comms to drive volume to proven wins; route the hardest topics into the backlog with named owners.</a:t>
            </a:r>
          </a:p>
        </p:txBody>
      </p:sp>
      <p:sp>
        <p:nvSpPr>
          <p:cNvPr id="22" name="Oval 21"/>
          <p:cNvSpPr/>
          <p:nvPr/>
        </p:nvSpPr>
        <p:spPr>
          <a:xfrm>
            <a:off x="617220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4</a:t>
            </a:r>
          </a:p>
        </p:txBody>
      </p:sp>
      <p:pic>
        <p:nvPicPr>
          <p:cNvPr id="27" name="Picture 26">
            <a:extLst>
              <a:ext uri="{FF2B5EF4-FFF2-40B4-BE49-F238E27FC236}">
                <a16:creationId xmlns:a16="http://schemas.microsoft.com/office/drawing/2014/main" id="{A3ADF4FD-21BC-E4B8-AB87-C56FF7FCEDEA}"/>
              </a:ext>
            </a:extLst>
          </p:cNvPr>
          <p:cNvPicPr>
            <a:picLocks noChangeAspect="1"/>
          </p:cNvPicPr>
          <p:nvPr/>
        </p:nvPicPr>
        <p:blipFill>
          <a:blip r:embed="rId2"/>
          <a:stretch>
            <a:fillRect/>
          </a:stretch>
        </p:blipFill>
        <p:spPr>
          <a:xfrm>
            <a:off x="6355080" y="868680"/>
            <a:ext cx="5532120" cy="315634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66928"/>
          </a:xfrm>
          <a:prstGeom prst="rect">
            <a:avLst/>
          </a:prstGeom>
          <a:solidFill>
            <a:srgbClr val="1F3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0"/>
            <a:ext cx="8686800" cy="566928"/>
          </a:xfrm>
          <a:prstGeom prst="rect">
            <a:avLst/>
          </a:prstGeom>
          <a:noFill/>
        </p:spPr>
        <p:txBody>
          <a:bodyPr wrap="square" lIns="25400" tIns="12700" rIns="25400" bIns="12700" anchor="ctr">
            <a:spAutoFit/>
          </a:bodyPr>
          <a:lstStyle/>
          <a:p>
            <a:pPr algn="l"/>
            <a:r>
              <a:rPr sz="2000" b="1" i="0">
                <a:solidFill>
                  <a:srgbClr val="FFFFFF"/>
                </a:solidFill>
                <a:latin typeface="Segoe UI"/>
              </a:rPr>
              <a:t>Agent Feedback</a:t>
            </a:r>
            <a:r>
              <a:rPr sz="1250" b="0" i="0">
                <a:solidFill>
                  <a:srgbClr val="C8D3E6"/>
                </a:solidFill>
                <a:latin typeface="Segoe UI"/>
              </a:rPr>
              <a:t>    Do users trust the answers?</a:t>
            </a:r>
          </a:p>
        </p:txBody>
      </p:sp>
      <p:sp>
        <p:nvSpPr>
          <p:cNvPr id="5" name="Rectangle 4"/>
          <p:cNvSpPr/>
          <p:nvPr/>
        </p:nvSpPr>
        <p:spPr>
          <a:xfrm>
            <a:off x="6300216" y="813815"/>
            <a:ext cx="5641848" cy="3259222"/>
          </a:xfrm>
          <a:prstGeom prst="rect">
            <a:avLst/>
          </a:prstGeom>
          <a:solidFill>
            <a:srgbClr val="FFFFFF"/>
          </a:solidFill>
          <a:ln w="25400">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06056" y="1327383"/>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1</a:t>
            </a:r>
          </a:p>
        </p:txBody>
      </p:sp>
      <p:sp>
        <p:nvSpPr>
          <p:cNvPr id="8" name="Oval 7"/>
          <p:cNvSpPr/>
          <p:nvPr/>
        </p:nvSpPr>
        <p:spPr>
          <a:xfrm>
            <a:off x="8689086" y="2445454"/>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2</a:t>
            </a:r>
          </a:p>
        </p:txBody>
      </p:sp>
      <p:sp>
        <p:nvSpPr>
          <p:cNvPr id="9" name="Oval 8"/>
          <p:cNvSpPr/>
          <p:nvPr/>
        </p:nvSpPr>
        <p:spPr>
          <a:xfrm>
            <a:off x="10348722" y="2130504"/>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3</a:t>
            </a:r>
          </a:p>
        </p:txBody>
      </p:sp>
      <p:sp>
        <p:nvSpPr>
          <p:cNvPr id="10" name="Oval 9"/>
          <p:cNvSpPr/>
          <p:nvPr/>
        </p:nvSpPr>
        <p:spPr>
          <a:xfrm>
            <a:off x="10348722" y="3295817"/>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4</a:t>
            </a:r>
          </a:p>
        </p:txBody>
      </p:sp>
      <p:sp>
        <p:nvSpPr>
          <p:cNvPr id="11" name="Rounded Rectangle 10"/>
          <p:cNvSpPr/>
          <p:nvPr/>
        </p:nvSpPr>
        <p:spPr>
          <a:xfrm>
            <a:off x="320040" y="896112"/>
            <a:ext cx="5806440" cy="148132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987552"/>
            <a:ext cx="5349240" cy="129844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Do users actually trust the answers?</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Satisfaction shows "Not yet captured" until a feedback export is connected — at that point Thumbs-Up Rate and CSAT populate as your sentiment signals. Positive Feedback is tracked as its own KPI in the meantime, so you always have a trust signal even before a full feedback pipeline is wired up.</a:t>
            </a:r>
          </a:p>
          <a:p>
            <a:pPr>
              <a:lnSpc>
                <a:spcPct val="100000"/>
              </a:lnSpc>
            </a:pPr>
            <a:r>
              <a:rPr sz="850" b="1">
                <a:solidFill>
                  <a:srgbClr val="0563C1"/>
                </a:solidFill>
                <a:latin typeface="Segoe UI"/>
              </a:rPr>
              <a:t>RECOMMENDATION:  </a:t>
            </a:r>
            <a:r>
              <a:rPr sz="850">
                <a:solidFill>
                  <a:srgbClr val="262626"/>
                </a:solidFill>
                <a:latin typeface="Segoe UI"/>
              </a:rPr>
              <a:t>Watch response coverage as well as score once feedback is connected. A great score from a tiny sample isn't proof; prompt for feedback to make the number trustworthy.</a:t>
            </a:r>
          </a:p>
        </p:txBody>
      </p:sp>
      <p:sp>
        <p:nvSpPr>
          <p:cNvPr id="13" name="Oval 12"/>
          <p:cNvSpPr/>
          <p:nvPr/>
        </p:nvSpPr>
        <p:spPr>
          <a:xfrm>
            <a:off x="137160" y="71323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1</a:t>
            </a:r>
          </a:p>
        </p:txBody>
      </p:sp>
      <p:sp>
        <p:nvSpPr>
          <p:cNvPr id="14" name="Rounded Rectangle 13"/>
          <p:cNvSpPr/>
          <p:nvPr/>
        </p:nvSpPr>
        <p:spPr>
          <a:xfrm>
            <a:off x="320040" y="2487168"/>
            <a:ext cx="5806440" cy="157276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2578608"/>
            <a:ext cx="5349240" cy="138988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Is satisfaction improving as you iterate?</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The Weekly Feedback &amp; Satisfaction trend ties sentiment to your release cadence. It should climb after each content or prompt improvement.</a:t>
            </a:r>
          </a:p>
          <a:p>
            <a:pPr>
              <a:lnSpc>
                <a:spcPct val="100000"/>
              </a:lnSpc>
            </a:pPr>
            <a:r>
              <a:rPr sz="850" b="1">
                <a:solidFill>
                  <a:srgbClr val="0563C1"/>
                </a:solidFill>
                <a:latin typeface="Segoe UI"/>
              </a:rPr>
              <a:t>GUIDANCE:  </a:t>
            </a:r>
            <a:r>
              <a:rPr sz="850">
                <a:solidFill>
                  <a:srgbClr val="262626"/>
                </a:solidFill>
                <a:latin typeface="Segoe UI"/>
              </a:rPr>
              <a:t>Annotate this trend with your change log. A dip after a change is a fast, cheap signal to roll back or fix.</a:t>
            </a:r>
          </a:p>
        </p:txBody>
      </p:sp>
      <p:sp>
        <p:nvSpPr>
          <p:cNvPr id="16" name="Oval 15"/>
          <p:cNvSpPr/>
          <p:nvPr/>
        </p:nvSpPr>
        <p:spPr>
          <a:xfrm>
            <a:off x="137160" y="2304288"/>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2</a:t>
            </a:r>
          </a:p>
        </p:txBody>
      </p:sp>
      <p:sp>
        <p:nvSpPr>
          <p:cNvPr id="17" name="Rounded Rectangle 16"/>
          <p:cNvSpPr/>
          <p:nvPr/>
        </p:nvSpPr>
        <p:spPr>
          <a:xfrm>
            <a:off x="320040" y="4187952"/>
            <a:ext cx="580644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4279392"/>
            <a:ext cx="534924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Which topics delight, and which frustrate?</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Thumbs-Up % by Top Topic pinpoints low sentiment even where volume is high. A popular topic with low thumbs-up is a high-impact fix.</a:t>
            </a:r>
          </a:p>
          <a:p>
            <a:pPr>
              <a:lnSpc>
                <a:spcPct val="100000"/>
              </a:lnSpc>
            </a:pPr>
            <a:r>
              <a:rPr sz="850" b="1">
                <a:solidFill>
                  <a:srgbClr val="0563C1"/>
                </a:solidFill>
                <a:latin typeface="Segoe UI"/>
              </a:rPr>
              <a:t>RECOMMENDATION:  </a:t>
            </a:r>
            <a:r>
              <a:rPr sz="850">
                <a:solidFill>
                  <a:srgbClr val="262626"/>
                </a:solidFill>
                <a:latin typeface="Segoe UI"/>
              </a:rPr>
              <a:t>Cross-reference low-sentiment topics with the hardest topics on Conversation Outcomes — overlaps are your top-priority content work.</a:t>
            </a:r>
          </a:p>
        </p:txBody>
      </p:sp>
      <p:sp>
        <p:nvSpPr>
          <p:cNvPr id="19" name="Oval 18"/>
          <p:cNvSpPr/>
          <p:nvPr/>
        </p:nvSpPr>
        <p:spPr>
          <a:xfrm>
            <a:off x="13716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3</a:t>
            </a:r>
          </a:p>
        </p:txBody>
      </p:sp>
      <p:sp>
        <p:nvSpPr>
          <p:cNvPr id="20" name="Rounded Rectangle 19"/>
          <p:cNvSpPr/>
          <p:nvPr/>
        </p:nvSpPr>
        <p:spPr>
          <a:xfrm>
            <a:off x="6355080" y="4187952"/>
            <a:ext cx="553212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65976" y="4279392"/>
            <a:ext cx="507492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What are users telling you in their own words?</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Verbatim Feedback Comments are the qualitative gold — they explain the 'why' behind the scores that numbers alone can't.</a:t>
            </a:r>
          </a:p>
          <a:p>
            <a:pPr>
              <a:lnSpc>
                <a:spcPct val="100000"/>
              </a:lnSpc>
            </a:pPr>
            <a:r>
              <a:rPr sz="850" b="1">
                <a:solidFill>
                  <a:srgbClr val="0563C1"/>
                </a:solidFill>
                <a:latin typeface="Segoe UI"/>
              </a:rPr>
              <a:t>GUIDANCE:  </a:t>
            </a:r>
            <a:r>
              <a:rPr sz="850">
                <a:solidFill>
                  <a:srgbClr val="262626"/>
                </a:solidFill>
                <a:latin typeface="Segoe UI"/>
              </a:rPr>
              <a:t>Read the negatives weekly and theme them. Recurring phrases (wrong answer, couldn't find, too slow) map directly to specific fixes.</a:t>
            </a:r>
          </a:p>
        </p:txBody>
      </p:sp>
      <p:sp>
        <p:nvSpPr>
          <p:cNvPr id="22" name="Oval 21"/>
          <p:cNvSpPr/>
          <p:nvPr/>
        </p:nvSpPr>
        <p:spPr>
          <a:xfrm>
            <a:off x="617220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4</a:t>
            </a:r>
          </a:p>
        </p:txBody>
      </p:sp>
      <p:pic>
        <p:nvPicPr>
          <p:cNvPr id="28" name="Picture 27">
            <a:extLst>
              <a:ext uri="{FF2B5EF4-FFF2-40B4-BE49-F238E27FC236}">
                <a16:creationId xmlns:a16="http://schemas.microsoft.com/office/drawing/2014/main" id="{B55453F4-31F6-6CB4-537F-161EF321215B}"/>
              </a:ext>
            </a:extLst>
          </p:cNvPr>
          <p:cNvPicPr>
            <a:picLocks noChangeAspect="1"/>
          </p:cNvPicPr>
          <p:nvPr/>
        </p:nvPicPr>
        <p:blipFill>
          <a:blip r:embed="rId2"/>
          <a:stretch>
            <a:fillRect/>
          </a:stretch>
        </p:blipFill>
        <p:spPr>
          <a:xfrm>
            <a:off x="6355080" y="868680"/>
            <a:ext cx="5532120" cy="315634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66928"/>
          </a:xfrm>
          <a:prstGeom prst="rect">
            <a:avLst/>
          </a:prstGeom>
          <a:solidFill>
            <a:srgbClr val="1F3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0"/>
            <a:ext cx="8686800" cy="566928"/>
          </a:xfrm>
          <a:prstGeom prst="rect">
            <a:avLst/>
          </a:prstGeom>
          <a:noFill/>
        </p:spPr>
        <p:txBody>
          <a:bodyPr wrap="square" lIns="25400" tIns="12700" rIns="25400" bIns="12700" anchor="ctr">
            <a:spAutoFit/>
          </a:bodyPr>
          <a:lstStyle/>
          <a:p>
            <a:pPr algn="l"/>
            <a:r>
              <a:rPr sz="2000" b="1" i="0">
                <a:solidFill>
                  <a:srgbClr val="FFFFFF"/>
                </a:solidFill>
                <a:latin typeface="Segoe UI"/>
              </a:rPr>
              <a:t>Business Impact</a:t>
            </a:r>
            <a:r>
              <a:rPr sz="1250" b="0" i="0">
                <a:solidFill>
                  <a:srgbClr val="C8D3E6"/>
                </a:solidFill>
                <a:latin typeface="Segoe UI"/>
              </a:rPr>
              <a:t>    What the agent is worth</a:t>
            </a:r>
          </a:p>
        </p:txBody>
      </p:sp>
      <p:sp>
        <p:nvSpPr>
          <p:cNvPr id="5" name="Rectangle 4"/>
          <p:cNvSpPr/>
          <p:nvPr/>
        </p:nvSpPr>
        <p:spPr>
          <a:xfrm>
            <a:off x="6300216" y="813815"/>
            <a:ext cx="5641848" cy="3254560"/>
          </a:xfrm>
          <a:prstGeom prst="rect">
            <a:avLst/>
          </a:prstGeom>
          <a:solidFill>
            <a:srgbClr val="FFFFFF"/>
          </a:solidFill>
          <a:ln w="25400">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89086" y="1326474"/>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1</a:t>
            </a:r>
          </a:p>
        </p:txBody>
      </p:sp>
      <p:sp>
        <p:nvSpPr>
          <p:cNvPr id="8" name="Oval 7"/>
          <p:cNvSpPr/>
          <p:nvPr/>
        </p:nvSpPr>
        <p:spPr>
          <a:xfrm>
            <a:off x="7195413" y="2442889"/>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2</a:t>
            </a:r>
          </a:p>
        </p:txBody>
      </p:sp>
      <p:sp>
        <p:nvSpPr>
          <p:cNvPr id="9" name="Oval 8"/>
          <p:cNvSpPr/>
          <p:nvPr/>
        </p:nvSpPr>
        <p:spPr>
          <a:xfrm>
            <a:off x="9242298" y="2442889"/>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3</a:t>
            </a:r>
          </a:p>
        </p:txBody>
      </p:sp>
      <p:sp>
        <p:nvSpPr>
          <p:cNvPr id="10" name="Oval 9"/>
          <p:cNvSpPr/>
          <p:nvPr/>
        </p:nvSpPr>
        <p:spPr>
          <a:xfrm>
            <a:off x="10735970" y="2600131"/>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4</a:t>
            </a:r>
          </a:p>
        </p:txBody>
      </p:sp>
      <p:sp>
        <p:nvSpPr>
          <p:cNvPr id="11" name="Rounded Rectangle 10"/>
          <p:cNvSpPr/>
          <p:nvPr/>
        </p:nvSpPr>
        <p:spPr>
          <a:xfrm>
            <a:off x="320040" y="896112"/>
            <a:ext cx="5806440" cy="148132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987552"/>
            <a:ext cx="5349240" cy="129844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What is the agent worth in hours and dollars?</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Tickets Deflected (453), Hours Saved (75.5) and Cost translate usage into business value — the numbers leadership remembers.</a:t>
            </a:r>
          </a:p>
          <a:p>
            <a:pPr>
              <a:lnSpc>
                <a:spcPct val="100000"/>
              </a:lnSpc>
            </a:pPr>
            <a:r>
              <a:rPr sz="850" b="1">
                <a:solidFill>
                  <a:srgbClr val="0563C1"/>
                </a:solidFill>
                <a:latin typeface="Segoe UI"/>
              </a:rPr>
              <a:t>RECOMMENDATION:  </a:t>
            </a:r>
            <a:r>
              <a:rPr sz="850">
                <a:solidFill>
                  <a:srgbClr val="262626"/>
                </a:solidFill>
                <a:latin typeface="Segoe UI"/>
              </a:rPr>
              <a:t>Report net value (hours-saved value minus credit cost), not gross. That's the honest figure that survives finance scrutiny.</a:t>
            </a:r>
          </a:p>
        </p:txBody>
      </p:sp>
      <p:sp>
        <p:nvSpPr>
          <p:cNvPr id="13" name="Oval 12"/>
          <p:cNvSpPr/>
          <p:nvPr/>
        </p:nvSpPr>
        <p:spPr>
          <a:xfrm>
            <a:off x="137160" y="71323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1</a:t>
            </a:r>
          </a:p>
        </p:txBody>
      </p:sp>
      <p:sp>
        <p:nvSpPr>
          <p:cNvPr id="14" name="Rounded Rectangle 13"/>
          <p:cNvSpPr/>
          <p:nvPr/>
        </p:nvSpPr>
        <p:spPr>
          <a:xfrm>
            <a:off x="320040" y="2487168"/>
            <a:ext cx="5806440" cy="157276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2578608"/>
            <a:ext cx="5349240" cy="138988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Are the ROI assumptions defensible?</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Every value figure depends on the assumptions shown — Median Hourly Rate ($50) and Minutes per Ticket (15). Change them and ROI changes proportionally.</a:t>
            </a:r>
          </a:p>
          <a:p>
            <a:pPr>
              <a:lnSpc>
                <a:spcPct val="100000"/>
              </a:lnSpc>
            </a:pPr>
            <a:r>
              <a:rPr sz="850" b="1">
                <a:solidFill>
                  <a:srgbClr val="0563C1"/>
                </a:solidFill>
                <a:latin typeface="Segoe UI"/>
              </a:rPr>
              <a:t>RECOMMENDATION:  </a:t>
            </a:r>
            <a:r>
              <a:rPr sz="850">
                <a:solidFill>
                  <a:srgbClr val="262626"/>
                </a:solidFill>
                <a:latin typeface="Segoe UI"/>
              </a:rPr>
              <a:t>Replace the demo assumptions with your organization's agreed numbers before sharing externally, and get finance to sign off once. See the companion deck Topic to Time Savings for how to source these minutes from your own ITSM and HR records, and how to document the sign-off.</a:t>
            </a:r>
          </a:p>
        </p:txBody>
      </p:sp>
      <p:sp>
        <p:nvSpPr>
          <p:cNvPr id="16" name="Oval 15"/>
          <p:cNvSpPr/>
          <p:nvPr/>
        </p:nvSpPr>
        <p:spPr>
          <a:xfrm>
            <a:off x="137160" y="2304288"/>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2</a:t>
            </a:r>
          </a:p>
        </p:txBody>
      </p:sp>
      <p:sp>
        <p:nvSpPr>
          <p:cNvPr id="17" name="Rounded Rectangle 16"/>
          <p:cNvSpPr/>
          <p:nvPr/>
        </p:nvSpPr>
        <p:spPr>
          <a:xfrm>
            <a:off x="320040" y="4187952"/>
            <a:ext cx="580644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4279392"/>
            <a:ext cx="534924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Where is value concentrated?</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The Estimated Agent Impact Summary breaks value down so you can see which topics or agents drive the savings.</a:t>
            </a:r>
          </a:p>
          <a:p>
            <a:pPr>
              <a:lnSpc>
                <a:spcPct val="100000"/>
              </a:lnSpc>
            </a:pPr>
            <a:r>
              <a:rPr sz="850" b="1">
                <a:solidFill>
                  <a:srgbClr val="0563C1"/>
                </a:solidFill>
                <a:latin typeface="Segoe UI"/>
              </a:rPr>
              <a:t>GUIDANCE:  </a:t>
            </a:r>
            <a:r>
              <a:rPr sz="850">
                <a:solidFill>
                  <a:srgbClr val="262626"/>
                </a:solidFill>
                <a:latin typeface="Segoe UI"/>
              </a:rPr>
              <a:t>Double down on the high-value areas and question the low-value, high-cost ones — not every use case earns its credits.</a:t>
            </a:r>
          </a:p>
        </p:txBody>
      </p:sp>
      <p:sp>
        <p:nvSpPr>
          <p:cNvPr id="19" name="Oval 18"/>
          <p:cNvSpPr/>
          <p:nvPr/>
        </p:nvSpPr>
        <p:spPr>
          <a:xfrm>
            <a:off x="13716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3</a:t>
            </a:r>
          </a:p>
        </p:txBody>
      </p:sp>
      <p:sp>
        <p:nvSpPr>
          <p:cNvPr id="20" name="Rounded Rectangle 19"/>
          <p:cNvSpPr/>
          <p:nvPr/>
        </p:nvSpPr>
        <p:spPr>
          <a:xfrm>
            <a:off x="6355080" y="4187952"/>
            <a:ext cx="553212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65976" y="4279392"/>
            <a:ext cx="507492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Is spend proportional to value?</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The Credit Consumption Leaderboard shows where credits go. High consumption is fine if it maps to high deflection; high spend with low deflection is waste.</a:t>
            </a:r>
          </a:p>
          <a:p>
            <a:pPr>
              <a:lnSpc>
                <a:spcPct val="100000"/>
              </a:lnSpc>
            </a:pPr>
            <a:r>
              <a:rPr sz="850" b="1">
                <a:solidFill>
                  <a:srgbClr val="0563C1"/>
                </a:solidFill>
                <a:latin typeface="Segoe UI"/>
              </a:rPr>
              <a:t>RECOMMENDATION:  </a:t>
            </a:r>
            <a:r>
              <a:rPr sz="850">
                <a:solidFill>
                  <a:srgbClr val="262626"/>
                </a:solidFill>
                <a:latin typeface="Segoe UI"/>
              </a:rPr>
              <a:t>Review top consumers monthly against their deflection and rebalance any agent that burns credits without returning value.</a:t>
            </a:r>
          </a:p>
        </p:txBody>
      </p:sp>
      <p:sp>
        <p:nvSpPr>
          <p:cNvPr id="22" name="Oval 21"/>
          <p:cNvSpPr/>
          <p:nvPr/>
        </p:nvSpPr>
        <p:spPr>
          <a:xfrm>
            <a:off x="617220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4</a:t>
            </a:r>
          </a:p>
        </p:txBody>
      </p:sp>
      <p:pic>
        <p:nvPicPr>
          <p:cNvPr id="29" name="Picture 28">
            <a:extLst>
              <a:ext uri="{FF2B5EF4-FFF2-40B4-BE49-F238E27FC236}">
                <a16:creationId xmlns:a16="http://schemas.microsoft.com/office/drawing/2014/main" id="{33DA6524-8977-898D-E144-2089B9B3B0A5}"/>
              </a:ext>
            </a:extLst>
          </p:cNvPr>
          <p:cNvPicPr>
            <a:picLocks noChangeAspect="1"/>
          </p:cNvPicPr>
          <p:nvPr/>
        </p:nvPicPr>
        <p:blipFill>
          <a:blip r:embed="rId2"/>
          <a:stretch>
            <a:fillRect/>
          </a:stretch>
        </p:blipFill>
        <p:spPr>
          <a:xfrm>
            <a:off x="6355080" y="868680"/>
            <a:ext cx="5532120" cy="315634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66928"/>
          </a:xfrm>
          <a:prstGeom prst="rect">
            <a:avLst/>
          </a:prstGeom>
          <a:solidFill>
            <a:srgbClr val="1F3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0"/>
            <a:ext cx="8686800" cy="566928"/>
          </a:xfrm>
          <a:prstGeom prst="rect">
            <a:avLst/>
          </a:prstGeom>
          <a:noFill/>
        </p:spPr>
        <p:txBody>
          <a:bodyPr wrap="square" lIns="25400" tIns="12700" rIns="25400" bIns="12700" anchor="ctr">
            <a:spAutoFit/>
          </a:bodyPr>
          <a:lstStyle/>
          <a:p>
            <a:pPr algn="l"/>
            <a:r>
              <a:rPr sz="2000" b="1" i="0">
                <a:solidFill>
                  <a:srgbClr val="FFFFFF"/>
                </a:solidFill>
                <a:latin typeface="Segoe UI"/>
              </a:rPr>
              <a:t>Conversation Details</a:t>
            </a:r>
            <a:r>
              <a:rPr sz="1250" b="0" i="0">
                <a:solidFill>
                  <a:srgbClr val="C8D3E6"/>
                </a:solidFill>
                <a:latin typeface="Segoe UI"/>
              </a:rPr>
              <a:t>    The evidence behind the metrics</a:t>
            </a:r>
          </a:p>
        </p:txBody>
      </p:sp>
      <p:sp>
        <p:nvSpPr>
          <p:cNvPr id="5" name="Rectangle 4"/>
          <p:cNvSpPr/>
          <p:nvPr/>
        </p:nvSpPr>
        <p:spPr>
          <a:xfrm>
            <a:off x="6300216" y="813815"/>
            <a:ext cx="5641848" cy="3247592"/>
          </a:xfrm>
          <a:prstGeom prst="rect">
            <a:avLst/>
          </a:prstGeom>
          <a:solidFill>
            <a:srgbClr val="FFFFFF"/>
          </a:solidFill>
          <a:ln w="25400">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135873" y="1325115"/>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1</a:t>
            </a:r>
          </a:p>
        </p:txBody>
      </p:sp>
      <p:sp>
        <p:nvSpPr>
          <p:cNvPr id="8" name="Oval 7"/>
          <p:cNvSpPr/>
          <p:nvPr/>
        </p:nvSpPr>
        <p:spPr>
          <a:xfrm>
            <a:off x="7306056" y="2439057"/>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2</a:t>
            </a:r>
          </a:p>
        </p:txBody>
      </p:sp>
      <p:sp>
        <p:nvSpPr>
          <p:cNvPr id="9" name="Oval 8"/>
          <p:cNvSpPr/>
          <p:nvPr/>
        </p:nvSpPr>
        <p:spPr>
          <a:xfrm>
            <a:off x="9242298" y="2439057"/>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3</a:t>
            </a:r>
          </a:p>
        </p:txBody>
      </p:sp>
      <p:sp>
        <p:nvSpPr>
          <p:cNvPr id="10" name="Oval 9"/>
          <p:cNvSpPr/>
          <p:nvPr/>
        </p:nvSpPr>
        <p:spPr>
          <a:xfrm>
            <a:off x="10791291" y="2595950"/>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4</a:t>
            </a:r>
          </a:p>
        </p:txBody>
      </p:sp>
      <p:sp>
        <p:nvSpPr>
          <p:cNvPr id="11" name="Rounded Rectangle 10"/>
          <p:cNvSpPr/>
          <p:nvPr/>
        </p:nvSpPr>
        <p:spPr>
          <a:xfrm>
            <a:off x="320040" y="896112"/>
            <a:ext cx="5806440" cy="148132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987552"/>
            <a:ext cx="5349240" cy="129844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How broad is the demand on the agent?</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56 Primary Topics with 1.3 topics per conversation means users arrive with focused, single-intent questions across a wide subject range.</a:t>
            </a:r>
          </a:p>
          <a:p>
            <a:pPr>
              <a:lnSpc>
                <a:spcPct val="100000"/>
              </a:lnSpc>
            </a:pPr>
            <a:r>
              <a:rPr sz="850" b="1">
                <a:solidFill>
                  <a:srgbClr val="0563C1"/>
                </a:solidFill>
                <a:latin typeface="Segoe UI"/>
              </a:rPr>
              <a:t>GUIDANCE:  </a:t>
            </a:r>
            <a:r>
              <a:rPr sz="850">
                <a:solidFill>
                  <a:srgbClr val="262626"/>
                </a:solidFill>
                <a:latin typeface="Segoe UI"/>
              </a:rPr>
              <a:t>A wide topic spread means broad relevance; a narrow one means a point solution. Know which you have when planning content.</a:t>
            </a:r>
          </a:p>
        </p:txBody>
      </p:sp>
      <p:sp>
        <p:nvSpPr>
          <p:cNvPr id="13" name="Oval 12"/>
          <p:cNvSpPr/>
          <p:nvPr/>
        </p:nvSpPr>
        <p:spPr>
          <a:xfrm>
            <a:off x="137160" y="71323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1</a:t>
            </a:r>
          </a:p>
        </p:txBody>
      </p:sp>
      <p:sp>
        <p:nvSpPr>
          <p:cNvPr id="14" name="Rounded Rectangle 13"/>
          <p:cNvSpPr/>
          <p:nvPr/>
        </p:nvSpPr>
        <p:spPr>
          <a:xfrm>
            <a:off x="320040" y="2487168"/>
            <a:ext cx="5806440" cy="157276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2578608"/>
            <a:ext cx="5349240" cy="138988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Which subjects actually drive volume?</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The Topics table is your interactive entry point — click a topic to filter the whole page. The top rows are where content investment pays off most.</a:t>
            </a:r>
          </a:p>
          <a:p>
            <a:pPr>
              <a:lnSpc>
                <a:spcPct val="100000"/>
              </a:lnSpc>
            </a:pPr>
            <a:r>
              <a:rPr sz="850" b="1">
                <a:solidFill>
                  <a:srgbClr val="0563C1"/>
                </a:solidFill>
                <a:latin typeface="Segoe UI"/>
              </a:rPr>
              <a:t>RECOMMENDATION:  </a:t>
            </a:r>
            <a:r>
              <a:rPr sz="850">
                <a:solidFill>
                  <a:srgbClr val="262626"/>
                </a:solidFill>
                <a:latin typeface="Segoe UI"/>
              </a:rPr>
              <a:t>Run a topic-by-topic content review starting at the top of the volume list; that's where a single fix touches the most users.</a:t>
            </a:r>
          </a:p>
        </p:txBody>
      </p:sp>
      <p:sp>
        <p:nvSpPr>
          <p:cNvPr id="16" name="Oval 15"/>
          <p:cNvSpPr/>
          <p:nvPr/>
        </p:nvSpPr>
        <p:spPr>
          <a:xfrm>
            <a:off x="137160" y="2304288"/>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2</a:t>
            </a:r>
          </a:p>
        </p:txBody>
      </p:sp>
      <p:sp>
        <p:nvSpPr>
          <p:cNvPr id="17" name="Rounded Rectangle 16"/>
          <p:cNvSpPr/>
          <p:nvPr/>
        </p:nvSpPr>
        <p:spPr>
          <a:xfrm>
            <a:off x="320040" y="4187952"/>
            <a:ext cx="580644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4279392"/>
            <a:ext cx="534924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Can I see what really happened in a conversation?</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The Conversation Detail table is the transcript-level evidence behind every aggregate metric — where you validate that 'resolved' truly resolved.</a:t>
            </a:r>
          </a:p>
          <a:p>
            <a:pPr>
              <a:lnSpc>
                <a:spcPct val="100000"/>
              </a:lnSpc>
            </a:pPr>
            <a:r>
              <a:rPr sz="850" b="1">
                <a:solidFill>
                  <a:srgbClr val="0563C1"/>
                </a:solidFill>
                <a:latin typeface="Segoe UI"/>
              </a:rPr>
              <a:t>GUIDANCE:  </a:t>
            </a:r>
            <a:r>
              <a:rPr sz="850">
                <a:solidFill>
                  <a:srgbClr val="262626"/>
                </a:solidFill>
                <a:latin typeface="Segoe UI"/>
              </a:rPr>
              <a:t>When a metric looks too good or too bad, drill here first. Real transcripts settle debates that dashboards start.</a:t>
            </a:r>
          </a:p>
        </p:txBody>
      </p:sp>
      <p:sp>
        <p:nvSpPr>
          <p:cNvPr id="19" name="Oval 18"/>
          <p:cNvSpPr/>
          <p:nvPr/>
        </p:nvSpPr>
        <p:spPr>
          <a:xfrm>
            <a:off x="13716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3</a:t>
            </a:r>
          </a:p>
        </p:txBody>
      </p:sp>
      <p:sp>
        <p:nvSpPr>
          <p:cNvPr id="20" name="Rounded Rectangle 19"/>
          <p:cNvSpPr/>
          <p:nvPr/>
        </p:nvSpPr>
        <p:spPr>
          <a:xfrm>
            <a:off x="6355080" y="4187952"/>
            <a:ext cx="553212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65976" y="4279392"/>
            <a:ext cx="507492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What language do users actually use?</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Common Words in the first user message reveals real user vocabulary — the phrasing your content and prompts must match.</a:t>
            </a:r>
          </a:p>
          <a:p>
            <a:pPr>
              <a:lnSpc>
                <a:spcPct val="100000"/>
              </a:lnSpc>
            </a:pPr>
            <a:r>
              <a:rPr sz="850" b="1">
                <a:solidFill>
                  <a:srgbClr val="0563C1"/>
                </a:solidFill>
                <a:latin typeface="Segoe UI"/>
              </a:rPr>
              <a:t>RECOMMENDATION:  </a:t>
            </a:r>
            <a:r>
              <a:rPr sz="850">
                <a:solidFill>
                  <a:srgbClr val="262626"/>
                </a:solidFill>
                <a:latin typeface="Segoe UI"/>
              </a:rPr>
              <a:t>Align article titles, synonyms and trigger phrases to this language. Matching user words is the cheapest way to cut zero-result rates.</a:t>
            </a:r>
          </a:p>
        </p:txBody>
      </p:sp>
      <p:sp>
        <p:nvSpPr>
          <p:cNvPr id="22" name="Oval 21"/>
          <p:cNvSpPr/>
          <p:nvPr/>
        </p:nvSpPr>
        <p:spPr>
          <a:xfrm>
            <a:off x="617220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4</a:t>
            </a:r>
          </a:p>
        </p:txBody>
      </p:sp>
      <p:pic>
        <p:nvPicPr>
          <p:cNvPr id="30" name="Picture 29">
            <a:extLst>
              <a:ext uri="{FF2B5EF4-FFF2-40B4-BE49-F238E27FC236}">
                <a16:creationId xmlns:a16="http://schemas.microsoft.com/office/drawing/2014/main" id="{5BAC4F1F-E009-FBBB-A327-2A4B8C2A33FD}"/>
              </a:ext>
            </a:extLst>
          </p:cNvPr>
          <p:cNvPicPr>
            <a:picLocks noChangeAspect="1"/>
          </p:cNvPicPr>
          <p:nvPr/>
        </p:nvPicPr>
        <p:blipFill>
          <a:blip r:embed="rId2"/>
          <a:stretch>
            <a:fillRect/>
          </a:stretch>
        </p:blipFill>
        <p:spPr>
          <a:xfrm>
            <a:off x="6355080" y="868680"/>
            <a:ext cx="5532120" cy="315634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66928"/>
          </a:xfrm>
          <a:prstGeom prst="rect">
            <a:avLst/>
          </a:prstGeom>
          <a:solidFill>
            <a:srgbClr val="1F38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0"/>
            <a:ext cx="8686800" cy="566928"/>
          </a:xfrm>
          <a:prstGeom prst="rect">
            <a:avLst/>
          </a:prstGeom>
          <a:noFill/>
        </p:spPr>
        <p:txBody>
          <a:bodyPr wrap="square" lIns="25400" tIns="12700" rIns="25400" bIns="12700" anchor="ctr">
            <a:spAutoFit/>
          </a:bodyPr>
          <a:lstStyle/>
          <a:p>
            <a:pPr algn="l"/>
            <a:r>
              <a:rPr sz="2000" b="1" i="0">
                <a:solidFill>
                  <a:srgbClr val="FFFFFF"/>
                </a:solidFill>
                <a:latin typeface="Segoe UI"/>
              </a:rPr>
              <a:t>Fix-It Queue</a:t>
            </a:r>
            <a:r>
              <a:rPr sz="1250" b="0" i="0">
                <a:solidFill>
                  <a:srgbClr val="C8D3E6"/>
                </a:solidFill>
                <a:latin typeface="Segoe UI"/>
              </a:rPr>
              <a:t>    What to improve next</a:t>
            </a:r>
          </a:p>
        </p:txBody>
      </p:sp>
      <p:sp>
        <p:nvSpPr>
          <p:cNvPr id="5" name="Rectangle 4"/>
          <p:cNvSpPr/>
          <p:nvPr/>
        </p:nvSpPr>
        <p:spPr>
          <a:xfrm>
            <a:off x="6300216" y="813815"/>
            <a:ext cx="5641848" cy="3272450"/>
          </a:xfrm>
          <a:prstGeom prst="rect">
            <a:avLst/>
          </a:prstGeom>
          <a:solidFill>
            <a:srgbClr val="FFFFFF"/>
          </a:solidFill>
          <a:ln w="25400">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859268" y="1345776"/>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1</a:t>
            </a:r>
          </a:p>
        </p:txBody>
      </p:sp>
      <p:sp>
        <p:nvSpPr>
          <p:cNvPr id="8" name="Oval 7"/>
          <p:cNvSpPr/>
          <p:nvPr/>
        </p:nvSpPr>
        <p:spPr>
          <a:xfrm>
            <a:off x="7859268" y="2452729"/>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2</a:t>
            </a:r>
          </a:p>
        </p:txBody>
      </p:sp>
      <p:sp>
        <p:nvSpPr>
          <p:cNvPr id="9" name="Oval 8"/>
          <p:cNvSpPr/>
          <p:nvPr/>
        </p:nvSpPr>
        <p:spPr>
          <a:xfrm>
            <a:off x="10182758" y="2136457"/>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3</a:t>
            </a:r>
          </a:p>
        </p:txBody>
      </p:sp>
      <p:sp>
        <p:nvSpPr>
          <p:cNvPr id="10" name="Oval 9"/>
          <p:cNvSpPr/>
          <p:nvPr/>
        </p:nvSpPr>
        <p:spPr>
          <a:xfrm>
            <a:off x="9242298" y="3401546"/>
            <a:ext cx="310896" cy="310896"/>
          </a:xfrm>
          <a:prstGeom prst="ellipse">
            <a:avLst/>
          </a:prstGeom>
          <a:solidFill>
            <a:srgbClr val="FFC00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3863"/>
                </a:solidFill>
                <a:latin typeface="Segoe UI"/>
              </a:rPr>
              <a:t>4</a:t>
            </a:r>
          </a:p>
        </p:txBody>
      </p:sp>
      <p:sp>
        <p:nvSpPr>
          <p:cNvPr id="11" name="Rounded Rectangle 10"/>
          <p:cNvSpPr/>
          <p:nvPr/>
        </p:nvSpPr>
        <p:spPr>
          <a:xfrm>
            <a:off x="320040" y="896112"/>
            <a:ext cx="5806440" cy="148132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987552"/>
            <a:ext cx="5349240" cy="129844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Where is the agent failing users right now?</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Open Content Gaps, Unresolved Rate and Content Gap Conversations quantify the backlog of real failures the agent has not yet resolved — the gap between what users ask and what the agent can answer.</a:t>
            </a:r>
          </a:p>
          <a:p>
            <a:pPr>
              <a:lnSpc>
                <a:spcPct val="100000"/>
              </a:lnSpc>
            </a:pPr>
            <a:r>
              <a:rPr sz="850" b="1">
                <a:solidFill>
                  <a:srgbClr val="0563C1"/>
                </a:solidFill>
                <a:latin typeface="Segoe UI"/>
              </a:rPr>
              <a:t>RECOMMENDATION:  </a:t>
            </a:r>
            <a:r>
              <a:rPr sz="850">
                <a:solidFill>
                  <a:srgbClr val="262626"/>
                </a:solidFill>
                <a:latin typeface="Segoe UI"/>
              </a:rPr>
              <a:t>Treat this backlog as the agenda for your content team. Each Content Gap you close is a direct gain to Resolution Rate and satisfaction.</a:t>
            </a:r>
          </a:p>
        </p:txBody>
      </p:sp>
      <p:sp>
        <p:nvSpPr>
          <p:cNvPr id="13" name="Oval 12"/>
          <p:cNvSpPr/>
          <p:nvPr/>
        </p:nvSpPr>
        <p:spPr>
          <a:xfrm>
            <a:off x="137160" y="71323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1</a:t>
            </a:r>
          </a:p>
        </p:txBody>
      </p:sp>
      <p:sp>
        <p:nvSpPr>
          <p:cNvPr id="14" name="Rounded Rectangle 13"/>
          <p:cNvSpPr/>
          <p:nvPr/>
        </p:nvSpPr>
        <p:spPr>
          <a:xfrm>
            <a:off x="320040" y="2487168"/>
            <a:ext cx="5806440" cy="1572768"/>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2578608"/>
            <a:ext cx="5349240" cy="1389888"/>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Which topics need content work first?</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Content Gap vs Authoring Gap is the key distinction — not every flagged row is a failure. A Content Gap means the agent genuinely failed (no answer path, unhelpful rating, or escalation); an Authoring Gap means the agent resolved the question generatively but no native topic exists yet — the employee was already helped, and this is optional cleanup, not real work.</a:t>
            </a:r>
          </a:p>
          <a:p>
            <a:pPr>
              <a:lnSpc>
                <a:spcPct val="100000"/>
              </a:lnSpc>
            </a:pPr>
            <a:r>
              <a:rPr sz="850" b="1">
                <a:solidFill>
                  <a:srgbClr val="0563C1"/>
                </a:solidFill>
                <a:latin typeface="Segoe UI"/>
              </a:rPr>
              <a:t>GUIDANCE:  </a:t>
            </a:r>
            <a:r>
              <a:rPr sz="850">
                <a:solidFill>
                  <a:srgbClr val="262626"/>
                </a:solidFill>
                <a:latin typeface="Segoe UI"/>
              </a:rPr>
              <a:t>Default the Gap Type filter to Content Gap so genuine failures come first. Rank those by Priority and assign the top rows to owners this sprint.</a:t>
            </a:r>
          </a:p>
        </p:txBody>
      </p:sp>
      <p:sp>
        <p:nvSpPr>
          <p:cNvPr id="16" name="Oval 15"/>
          <p:cNvSpPr/>
          <p:nvPr/>
        </p:nvSpPr>
        <p:spPr>
          <a:xfrm>
            <a:off x="137160" y="2304288"/>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2</a:t>
            </a:r>
          </a:p>
        </p:txBody>
      </p:sp>
      <p:sp>
        <p:nvSpPr>
          <p:cNvPr id="17" name="Rounded Rectangle 16"/>
          <p:cNvSpPr/>
          <p:nvPr/>
        </p:nvSpPr>
        <p:spPr>
          <a:xfrm>
            <a:off x="320040" y="4187952"/>
            <a:ext cx="580644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4279392"/>
            <a:ext cx="534924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What does each row in the queue actually mean?</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Root Cause explains WHY a row was flagged, in plain language. Recommended Action says what to do about it. Priority ranks rows by frequency and severity, so the top of the table is always the highest-leverage fix.</a:t>
            </a:r>
          </a:p>
          <a:p>
            <a:pPr>
              <a:lnSpc>
                <a:spcPct val="100000"/>
              </a:lnSpc>
            </a:pPr>
            <a:r>
              <a:rPr sz="850" b="1">
                <a:solidFill>
                  <a:srgbClr val="0563C1"/>
                </a:solidFill>
                <a:latin typeface="Segoe UI"/>
              </a:rPr>
              <a:t>GUIDANCE:  </a:t>
            </a:r>
            <a:r>
              <a:rPr sz="850">
                <a:solidFill>
                  <a:srgbClr val="262626"/>
                </a:solidFill>
                <a:latin typeface="Segoe UI"/>
              </a:rPr>
              <a:t>Work the queue top to bottom. It's the dashboard telling you where one fix buys the most value.</a:t>
            </a:r>
          </a:p>
        </p:txBody>
      </p:sp>
      <p:sp>
        <p:nvSpPr>
          <p:cNvPr id="19" name="Oval 18"/>
          <p:cNvSpPr/>
          <p:nvPr/>
        </p:nvSpPr>
        <p:spPr>
          <a:xfrm>
            <a:off x="13716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3</a:t>
            </a:r>
          </a:p>
        </p:txBody>
      </p:sp>
      <p:sp>
        <p:nvSpPr>
          <p:cNvPr id="20" name="Rounded Rectangle 19"/>
          <p:cNvSpPr/>
          <p:nvPr/>
        </p:nvSpPr>
        <p:spPr>
          <a:xfrm>
            <a:off x="6355080" y="4187952"/>
            <a:ext cx="5532120" cy="2377440"/>
          </a:xfrm>
          <a:prstGeom prst="roundRect">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65976" y="4279392"/>
            <a:ext cx="5074920" cy="2194560"/>
          </a:xfrm>
          <a:prstGeom prst="rect">
            <a:avLst/>
          </a:prstGeom>
          <a:noFill/>
        </p:spPr>
        <p:txBody>
          <a:bodyPr wrap="square" lIns="25400" tIns="12700" rIns="25400" bIns="12700">
            <a:spAutoFit/>
          </a:bodyPr>
          <a:lstStyle/>
          <a:p>
            <a:pPr>
              <a:lnSpc>
                <a:spcPct val="100000"/>
              </a:lnSpc>
              <a:spcAft>
                <a:spcPts val="300"/>
              </a:spcAft>
            </a:pPr>
            <a:r>
              <a:rPr sz="1100" b="1">
                <a:solidFill>
                  <a:srgbClr val="1F3863"/>
                </a:solidFill>
                <a:latin typeface="Segoe UI"/>
              </a:rPr>
              <a:t>What are we missing entirely?</a:t>
            </a:r>
          </a:p>
          <a:p>
            <a:pPr>
              <a:lnSpc>
                <a:spcPct val="100000"/>
              </a:lnSpc>
              <a:spcAft>
                <a:spcPts val="300"/>
              </a:spcAft>
            </a:pPr>
            <a:r>
              <a:rPr sz="850" b="1">
                <a:solidFill>
                  <a:srgbClr val="6FAC46"/>
                </a:solidFill>
                <a:latin typeface="Segoe UI"/>
              </a:rPr>
              <a:t>INTERPRETATION:  </a:t>
            </a:r>
            <a:r>
              <a:rPr sz="850">
                <a:solidFill>
                  <a:srgbClr val="262626"/>
                </a:solidFill>
                <a:latin typeface="Segoe UI"/>
              </a:rPr>
              <a:t>The 'No Topic Detected' table lists real questions the agent couldn't even categorize — pure whitespace, each with a recommended action.</a:t>
            </a:r>
          </a:p>
          <a:p>
            <a:pPr>
              <a:lnSpc>
                <a:spcPct val="100000"/>
              </a:lnSpc>
            </a:pPr>
            <a:r>
              <a:rPr sz="850" b="1">
                <a:solidFill>
                  <a:srgbClr val="0563C1"/>
                </a:solidFill>
                <a:latin typeface="Segoe UI"/>
              </a:rPr>
              <a:t>RECOMMENDATION:  </a:t>
            </a:r>
            <a:r>
              <a:rPr sz="850">
                <a:solidFill>
                  <a:srgbClr val="262626"/>
                </a:solidFill>
                <a:latin typeface="Segoe UI"/>
              </a:rPr>
              <a:t>Work this table row by row. These are net-new content or routing opportunities that expand what the agent can do, not just how well.</a:t>
            </a:r>
          </a:p>
        </p:txBody>
      </p:sp>
      <p:sp>
        <p:nvSpPr>
          <p:cNvPr id="22" name="Oval 21"/>
          <p:cNvSpPr/>
          <p:nvPr/>
        </p:nvSpPr>
        <p:spPr>
          <a:xfrm>
            <a:off x="6172200" y="4005072"/>
            <a:ext cx="402336" cy="402336"/>
          </a:xfrm>
          <a:prstGeom prst="ellipse">
            <a:avLst/>
          </a:prstGeom>
          <a:solidFill>
            <a:srgbClr val="6FAC4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Segoe UI"/>
              </a:rPr>
              <a:t>4</a:t>
            </a:r>
          </a:p>
        </p:txBody>
      </p:sp>
      <p:pic>
        <p:nvPicPr>
          <p:cNvPr id="31" name="Picture 30">
            <a:extLst>
              <a:ext uri="{FF2B5EF4-FFF2-40B4-BE49-F238E27FC236}">
                <a16:creationId xmlns:a16="http://schemas.microsoft.com/office/drawing/2014/main" id="{4C683727-25EB-43B3-5E58-EE9AE33A5584}"/>
              </a:ext>
            </a:extLst>
          </p:cNvPr>
          <p:cNvPicPr>
            <a:picLocks noChangeAspect="1"/>
          </p:cNvPicPr>
          <p:nvPr/>
        </p:nvPicPr>
        <p:blipFill>
          <a:blip r:embed="rId2"/>
          <a:stretch>
            <a:fillRect/>
          </a:stretch>
        </p:blipFill>
        <p:spPr>
          <a:xfrm>
            <a:off x="6355080" y="868680"/>
            <a:ext cx="5532120" cy="315634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TotalTime>
  <Words>3985</Words>
  <Application>Microsoft Office PowerPoint</Application>
  <PresentationFormat>Widescreen</PresentationFormat>
  <Paragraphs>282</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Microsoft ESS Insights</dc:creator>
  <cp:keywords/>
  <dc:description/>
  <cp:lastModifiedBy>Microsoft ESS Insights</cp:lastModifiedBy>
  <cp:revision>7</cp:revision>
  <dcterms:created xsi:type="dcterms:W3CDTF">2013-01-27T09:14:16Z</dcterms:created>
  <dcterms:modified xsi:type="dcterms:W3CDTF">2026-08-19T03:17:49Z</dcterms:modified>
  <cp:category/>
</cp:coreProperties>
</file>